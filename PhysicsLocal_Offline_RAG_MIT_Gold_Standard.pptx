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a5db0901d664408" /><Relationship Type="http://schemas.openxmlformats.org/officeDocument/2006/relationships/extended-properties" Target="/docProps/app.xml" Id="R152f6cfb9527474b" /><Relationship Type="http://schemas.openxmlformats.org/officeDocument/2006/relationships/officeDocument" Target="/ppt/presentation.xml" Id="Rf830f16d631f4093" /></Relationships>
</file>

<file path=ppt/presentation.xml><?xml version="1.0" encoding="utf-8"?>
<p:presentation xmlns:p="http://schemas.openxmlformats.org/presentationml/2006/main">
  <p:sldMasterIdLst>
    <p:sldMasterId xmlns:r="http://schemas.openxmlformats.org/officeDocument/2006/relationships" id="2147483648" r:id="Rbcbdf500325c4f4c"/>
  </p:sldMasterIdLst>
  <p:notesMasterIdLst>
    <p:notesMasterId xmlns:r="http://schemas.openxmlformats.org/officeDocument/2006/relationships" r:id="Rf283865326244506"/>
  </p:notesMasterIdLst>
  <p:sldIdLst>
    <p:sldId xmlns:r="http://schemas.openxmlformats.org/officeDocument/2006/relationships" id="256" r:id="R7f3b93a8d344474c"/>
    <p:sldId xmlns:r="http://schemas.openxmlformats.org/officeDocument/2006/relationships" id="257" r:id="Rda6d05a909794fc1"/>
    <p:sldId xmlns:r="http://schemas.openxmlformats.org/officeDocument/2006/relationships" id="258" r:id="R6fb8c3b9740d4eb5"/>
    <p:sldId xmlns:r="http://schemas.openxmlformats.org/officeDocument/2006/relationships" id="259" r:id="R026adf0f8b5749a8"/>
    <p:sldId xmlns:r="http://schemas.openxmlformats.org/officeDocument/2006/relationships" id="260" r:id="Rb3c07fe751704e02"/>
    <p:sldId xmlns:r="http://schemas.openxmlformats.org/officeDocument/2006/relationships" id="261" r:id="R2a53a350eb2e4a9d"/>
    <p:sldId xmlns:r="http://schemas.openxmlformats.org/officeDocument/2006/relationships" id="262" r:id="R512a6ef7ed2e4ab0"/>
    <p:sldId xmlns:r="http://schemas.openxmlformats.org/officeDocument/2006/relationships" id="263" r:id="Rfb51bdb61e184925"/>
    <p:sldId xmlns:r="http://schemas.openxmlformats.org/officeDocument/2006/relationships" id="264" r:id="Rf2b920bfa60348c9"/>
    <p:sldId xmlns:r="http://schemas.openxmlformats.org/officeDocument/2006/relationships" id="265" r:id="Re0d667e15589451e"/>
    <p:sldId xmlns:r="http://schemas.openxmlformats.org/officeDocument/2006/relationships" id="266" r:id="Ra6db677b1e434cdd"/>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d6df9f99f7c4b07" /><Relationship Type="http://schemas.openxmlformats.org/officeDocument/2006/relationships/slideMaster" Target="/ppt/slideMasters/slideMaster1.xml" Id="Rbcbdf500325c4f4c" /><Relationship Type="http://schemas.openxmlformats.org/officeDocument/2006/relationships/notesMaster" Target="/ppt/notesMasters/notesMaster1.xml" Id="Rf283865326244506" /><Relationship Type="http://schemas.openxmlformats.org/officeDocument/2006/relationships/presProps" Target="/ppt/presProps.xml" Id="Ref70deef60be4ce2" /><Relationship Type="http://schemas.openxmlformats.org/officeDocument/2006/relationships/tableStyles" Target="/ppt/tableStyles.xml" Id="R0cc18df2bac548a2" /><Relationship Type="http://schemas.openxmlformats.org/officeDocument/2006/relationships/slide" Target="/ppt/slides/slide1.xml" Id="R7f3b93a8d344474c" /><Relationship Type="http://schemas.openxmlformats.org/officeDocument/2006/relationships/slide" Target="/ppt/slides/slide2.xml" Id="Rda6d05a909794fc1" /><Relationship Type="http://schemas.openxmlformats.org/officeDocument/2006/relationships/slide" Target="/ppt/slides/slide3.xml" Id="R6fb8c3b9740d4eb5" /><Relationship Type="http://schemas.openxmlformats.org/officeDocument/2006/relationships/slide" Target="/ppt/slides/slide4.xml" Id="R026adf0f8b5749a8" /><Relationship Type="http://schemas.openxmlformats.org/officeDocument/2006/relationships/slide" Target="/ppt/slides/slide5.xml" Id="Rb3c07fe751704e02" /><Relationship Type="http://schemas.openxmlformats.org/officeDocument/2006/relationships/slide" Target="/ppt/slides/slide6.xml" Id="R2a53a350eb2e4a9d" /><Relationship Type="http://schemas.openxmlformats.org/officeDocument/2006/relationships/slide" Target="/ppt/slides/slide7.xml" Id="R512a6ef7ed2e4ab0" /><Relationship Type="http://schemas.openxmlformats.org/officeDocument/2006/relationships/slide" Target="/ppt/slides/slide8.xml" Id="Rfb51bdb61e184925" /><Relationship Type="http://schemas.openxmlformats.org/officeDocument/2006/relationships/slide" Target="/ppt/slides/slide9.xml" Id="Rf2b920bfa60348c9" /><Relationship Type="http://schemas.openxmlformats.org/officeDocument/2006/relationships/slide" Target="/ppt/slides/slide10.xml" Id="Re0d667e15589451e" /><Relationship Type="http://schemas.openxmlformats.org/officeDocument/2006/relationships/slide" Target="/ppt/slides/slide11.xml" Id="Ra6db677b1e434cd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3e7f6ff66fd498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12d2364851f4203" /><Relationship Type="http://schemas.openxmlformats.org/officeDocument/2006/relationships/notesMaster" Target="/ppt/notesMasters/notesMaster1.xml" Id="R479fbd9c8e1a423d" /></Relationships>
</file>

<file path=ppt/notesSlides/_rels/notesSlide2.xml.rels>&#65279;<?xml version="1.0" encoding="utf-8"?><Relationships xmlns="http://schemas.openxmlformats.org/package/2006/relationships"><Relationship Type="http://schemas.openxmlformats.org/officeDocument/2006/relationships/slide" Target="/ppt/slides/slide2.xml" Id="Rd55d8304ffeb46df" /><Relationship Type="http://schemas.openxmlformats.org/officeDocument/2006/relationships/notesMaster" Target="/ppt/notesMasters/notesMaster1.xml" Id="Reff9375ccc924a6b" /></Relationships>
</file>

<file path=ppt/notesSlides/_rels/notesSlide3.xml.rels>&#65279;<?xml version="1.0" encoding="utf-8"?><Relationships xmlns="http://schemas.openxmlformats.org/package/2006/relationships"><Relationship Type="http://schemas.openxmlformats.org/officeDocument/2006/relationships/slide" Target="/ppt/slides/slide3.xml" Id="R53f97b9aabd845b8" /><Relationship Type="http://schemas.openxmlformats.org/officeDocument/2006/relationships/notesMaster" Target="/ppt/notesMasters/notesMaster1.xml" Id="Rae617d2223234d63" /></Relationships>
</file>

<file path=ppt/notesSlides/_rels/notesSlide4.xml.rels>&#65279;<?xml version="1.0" encoding="utf-8"?><Relationships xmlns="http://schemas.openxmlformats.org/package/2006/relationships"><Relationship Type="http://schemas.openxmlformats.org/officeDocument/2006/relationships/slide" Target="/ppt/slides/slide4.xml" Id="R2239de633eaa4685" /><Relationship Type="http://schemas.openxmlformats.org/officeDocument/2006/relationships/notesMaster" Target="/ppt/notesMasters/notesMaster1.xml" Id="R26957047e34f47c2" /></Relationships>
</file>

<file path=ppt/notesSlides/_rels/notesSlide5.xml.rels>&#65279;<?xml version="1.0" encoding="utf-8"?><Relationships xmlns="http://schemas.openxmlformats.org/package/2006/relationships"><Relationship Type="http://schemas.openxmlformats.org/officeDocument/2006/relationships/slide" Target="/ppt/slides/slide5.xml" Id="Rbcb7b063448c4968" /><Relationship Type="http://schemas.openxmlformats.org/officeDocument/2006/relationships/notesMaster" Target="/ppt/notesMasters/notesMaster1.xml" Id="R69331743948744ed" /></Relationships>
</file>

<file path=ppt/notesSlides/_rels/notesSlide6.xml.rels>&#65279;<?xml version="1.0" encoding="utf-8"?><Relationships xmlns="http://schemas.openxmlformats.org/package/2006/relationships"><Relationship Type="http://schemas.openxmlformats.org/officeDocument/2006/relationships/slide" Target="/ppt/slides/slide6.xml" Id="R91f6f3953d0a430c" /><Relationship Type="http://schemas.openxmlformats.org/officeDocument/2006/relationships/notesMaster" Target="/ppt/notesMasters/notesMaster1.xml" Id="R64ca02a7741e4781" /></Relationships>
</file>

<file path=ppt/notesSlides/_rels/notesSlide7.xml.rels>&#65279;<?xml version="1.0" encoding="utf-8"?><Relationships xmlns="http://schemas.openxmlformats.org/package/2006/relationships"><Relationship Type="http://schemas.openxmlformats.org/officeDocument/2006/relationships/slide" Target="/ppt/slides/slide7.xml" Id="R930444d3d7e8487d" /><Relationship Type="http://schemas.openxmlformats.org/officeDocument/2006/relationships/notesMaster" Target="/ppt/notesMasters/notesMaster1.xml" Id="R94d9f4941cc64435" /></Relationships>
</file>

<file path=ppt/notesSlides/_rels/notesSlide8.xml.rels>&#65279;<?xml version="1.0" encoding="utf-8"?><Relationships xmlns="http://schemas.openxmlformats.org/package/2006/relationships"><Relationship Type="http://schemas.openxmlformats.org/officeDocument/2006/relationships/slide" Target="/ppt/slides/slide8.xml" Id="R89dcf09309184403" /><Relationship Type="http://schemas.openxmlformats.org/officeDocument/2006/relationships/notesMaster" Target="/ppt/notesMasters/notesMaster1.xml" Id="Rfa4ae8189dc545c5" /></Relationships>
</file>

<file path=ppt/notesSlides/_rels/notesSlide9.xml.rels>&#65279;<?xml version="1.0" encoding="utf-8"?><Relationships xmlns="http://schemas.openxmlformats.org/package/2006/relationships"><Relationship Type="http://schemas.openxmlformats.org/officeDocument/2006/relationships/slide" Target="/ppt/slides/slide9.xml" Id="Rdebe615653504f0c" /><Relationship Type="http://schemas.openxmlformats.org/officeDocument/2006/relationships/notesMaster" Target="/ppt/notesMasters/notesMaster1.xml" Id="R0d7fc0ac4b7d4e7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9e1141720324ba0" /><Relationship Type="http://schemas.openxmlformats.org/officeDocument/2006/relationships/notesMaster" Target="/ppt/notesMasters/notesMaster1.xml" Id="R0a4f8a0ad695467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e7aee9fbb484e3d" /><Relationship Type="http://schemas.openxmlformats.org/officeDocument/2006/relationships/notesMaster" Target="/ppt/notesMasters/notesMaster1.xml" Id="R98c8cc714c9e40e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PhysicsLocal is a proposal for a small offline mechanics revision assistant. The source collection is a selected subset of four MIT OpenCourseWare course-note chapters, not a general web index.</a:t>
            </a:r>
          </a:p>
          <a:p xmlns:a="http://schemas.openxmlformats.org/drawingml/2006/main">
            <a:r>
              <a:t>Source attribution: Peter Dourmashkin, Classical Mechanics: MIT 8.01 Course Notes. https://ocw.mit.edu/courses/8-01sc-classical-mechanics-fall-2016/pages/online-textbook/</a:t>
            </a:r>
          </a:p>
          <a:p xmlns:a="http://schemas.openxmlformats.org/drawingml/2006/main">
            <a:r>
              <a:t>The core workflow retains MiniLM semantic retrieval and Flan-T5-small generation.</a:t>
            </a:r>
          </a:p>
          <a:p xmlns:a="http://schemas.openxmlformats.org/drawingml/2006/main">
            <a:r>
              <a:t>Cover illustration is AI-generated conceptual artwork from the original presentation. It does not depict an existing product. The project is independent and has no MIT endorsement.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Aim: help a student obtain a concise answer to a short factual or conceptual mechanics question, then verify it against the actual local passage. The group will compare retrieval size and sentence-based evidence selection under a fixed corpus and token budget.</a:t>
            </a:r>
          </a:p>
          <a:p xmlns:a="http://schemas.openxmlformats.org/drawingml/2006/main">
            <a:r>
              <a:t>The reference set checks whether answers are physically correct and whether supplied evidence supports them. Unsupported cases evaluate the prompted not-found response. Source reputation supports the choice of reading material, while answer-level correctness still requires evaluation. No claim of perfect reliability follows from source choice.</a:t>
            </a:r>
          </a:p>
          <a:p xmlns:a="http://schemas.openxmlformats.org/drawingml/2006/main">
            <a:r>
              <a:t>Models remain frozen and all inference runs locally after setup. Model sources: https://huggingface.co/sentence-transformers/all-MiniLM-L6-v2 and https://huggingface.co/google/flan-t5-small.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sources: https://ocw.mit.edu/courses/8-01sc-classical-mechanics-fall-2016/pages/online-textbook/ and https://ocw.mit.edu/courses/8-01sc-classical-mechanics-fall-2016/pages/syllabus/. The syllabus identifies Peter Dourmashkin as author of the course notes. The index provides downloadable chapter PDFs and states that the notes received corrections in 2022.</a:t>
            </a:r>
          </a:p>
          <a:p xmlns:a="http://schemas.openxmlformats.org/drawingml/2006/main">
            <a:r>
              <a:t>Use these files: mit8_01scs22_chapter4.pdf, chapter6.pdf, chapter7.pdf and chapter13.pdf. Their physical lengths are 27, 19, 10 and 41 PDF pages respectively, but the dataset uses only selected concept sections. The supplied gold-set JSON records exact URLs, included sections and SHA-256 hashes for the downloaded files. This is a curated document corpus, not an existing labeled QA benchmark.</a:t>
            </a:r>
          </a:p>
          <a:p xmlns:a="http://schemas.openxmlformats.org/drawingml/2006/main">
            <a:r>
              <a:t>Included sections: 4.2-4.5; 6.1-6.4; 7.1-7.4; 13.2, 13.4, 13.6-13.8. Retain conceptual prose and simple equations. Exclude epigraphs, song lyrics, diagrams, derivations, worked examples, exercise solutions and unrelated sections. Review PDF reading order, mathematical signs and units.</a:t>
            </a:r>
          </a:p>
          <a:p xmlns:a="http://schemas.openxmlformats.org/drawingml/2006/main">
            <a:r>
              <a:t>Reuse context: https://ocw.mit.edu/pages/privacy-and-terms-of-use/ and https://creativecommons.org/licenses/by-nc-sa/4.0/. Retain author attribution and applicable noncommercial/share-alike terms in corpus documentation and evidence views. MIT does not endorse this project.</a:t>
            </a:r>
          </a:p>
          <a:p xmlns:a="http://schemas.openxmlformats.org/drawingml/2006/main">
            <a:r>
              <a:t>The original project list named a Wikipedia slice. The source changes here at the user’s explicit request; the offline RAG and ablation goals remain the same.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the four MIT chapter PDFs linked in the source manifest, and https://huggingface.co/sentence-transformers/all-MiniLM-L6-v2.</a:t>
            </a:r>
          </a:p>
          <a:p xmlns:a="http://schemas.openxmlformats.org/drawingml/2006/main">
            <a:r>
              <a:t>The source supplies PDF text rather than pre-existing id/title/text columns. The group creates section_title, chapter, pdf_page, source_url, passage_text, character offsets and stable chunk_id fields. Passages should start at about 80 Flan tokenizer tokens with 16-token overlap, adjusted at sentence boundaries. Count titles and metadata inside the final generator budget. Validate MiniLM input lengths with its own tokenizer to avoid silent 256-wordpiece truncation.</a:t>
            </a:r>
          </a:p>
          <a:p xmlns:a="http://schemas.openxmlformats.org/drawingml/2006/main">
            <a:r>
              <a:t>MiniLM creates 384-dimensional vectors for questions and passages. Normalize both before cosine ranking. Similarity measures relevance and is not a truth or confidence score.</a:t>
            </a:r>
          </a:p>
          <a:p xmlns:a="http://schemas.openxmlformats.org/drawingml/2006/main">
            <a:r>
              <a:t>Gold records contain expected answers, accepted short-answer aliases, required key points, evidence page/section, split and answerability. Do not add these labels or question-answer strings to the searchable source corpus. Map gold source spans to actual chunk IDs after indexing so hit rate counts real supporting text rather than any chunk on the same page.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model and algorithm choices remain small: pretrained all-MiniLM-L6-v2 for dense retrieval, normalized NumPy matrix search for exact top-k ranking, and pretrained google/flan-t5-small for answer generation. https://huggingface.co/sentence-transformers/all-MiniLM-L6-v2 https://huggingface.co/google/flan-t5-small</a:t>
            </a:r>
          </a:p>
          <a:p xmlns:a="http://schemas.openxmlformats.org/drawingml/2006/main">
            <a:r>
              <a:t>A query vector and each passage vector are L2-normalized. Compute their dot products and select the highest scores. Include section titles with passage text. Cache document vectors once. No separate vector database or extra verification model is required.</a:t>
            </a:r>
          </a:p>
          <a:p xmlns:a="http://schemas.openxmlformats.org/drawingml/2006/main">
            <a:r>
              <a:t>Use deterministic greedy decoding with a chosen input cap of 512 tokens and maximum 48 new answer tokens. The input cap is an experimental budget rather than an asserted architectural model limit. Both neural models remain pretrained and frozen.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RAG retrieves local passage evidence, includes it in the generator prompt and displays the text used next to the answer. Use a prompt such as: Answer using only the supplied notes. If the evidence does not answer the question, say "Not found in the local notes." Keep the answer short.</a:t>
            </a:r>
          </a:p>
          <a:p xmlns:a="http://schemas.openxmlformats.org/drawingml/2006/main">
            <a:r>
              <a:t>Show actual section/chapter/page labels deterministically from stored metadata. Display the source text that reached the model, including any truncation. The original PDF URL may be stored as an attribution link, while offline verification uses the saved document.</a:t>
            </a:r>
          </a:p>
          <a:p xmlns:a="http://schemas.openxmlformats.org/drawingml/2006/main">
            <a:r>
              <a:t>Offline loading: https://huggingface.co/docs/transformers/installation#offline-mode . Cache the weights, tokenizers, dependencies and all source files during setup. Use local paths and local_files_only=True with HF_HUB_OFFLINE=1, then demonstrate with the network disabled. A prompt requests abstention but cannot guarantee it; the unsupported gold cases measure the behavior.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Fusion A concatenates full top-k passages. Fusion B selects the most query-relevant original sentence from each of the same top-k passages using MiniLM cosine similarity, then generates once from those source-labeled sentences. This is the project’s explicit lightweight definition of generate-from-evidence.</a:t>
            </a:r>
          </a:p>
          <a:p xmlns:a="http://schemas.openxmlformats.org/drawingml/2006/main">
            <a:r>
              <a:t>Both methods use the same retriever, model weights, deterministic decoding, k values 1/3/5, 512-token per-call input cap and 48-token final output cap. Both make one generation call. Record actual token counts because sentence selection may reduce the prompt length. Preserve sentence-to-source mapping. A selected sentence may lose a condition or reference needed for a physics answer, so the gold required key points and support rubric test this tradeoff.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actual starter gold set accompanies the presentation: PhysicsLocal_Gold_Set_40Q.json. It contains 32 source-checked answerable questions and 8 unsupported ones. Development split: 8 answerable plus 2 unsupported. Test split: 24 answerable plus 6 unsupported. The questions and reference answers are newly authored from the MIT notes, not a benchmark published by MIT.</a:t>
            </a:r>
          </a:p>
          <a:p xmlns:a="http://schemas.openxmlformats.org/drawingml/2006/main">
            <a:r>
              <a:t>Each record has an ID, question, reference answer, accepted aliases where appropriate, required key points, evidence document/section/PDF page, answerability and split. Source checks were completed during preparation. Independent group approval and final mapping to indexed chunks remain to be completed before reporting model scores. Never claim these fields already contain human sign-off or final chunk IDs.</a:t>
            </a:r>
          </a:p>
          <a:p xmlns:a="http://schemas.openxmlformats.org/drawingml/2006/main">
            <a:r>
              <a:t>Both group members should review key points against the cited pages, settle disagreements and accept equivalent terminology/units. Keep development/test questions about the same fact family together. Freeze source files, test labels and prompts after development. Gold labels stay outside prompts and the retrieval index.</a:t>
            </a:r>
          </a:p>
          <a:p xmlns:a="http://schemas.openxmlformats.org/drawingml/2006/main">
            <a:r>
              <a:t>Example evidence: PL-003 uses https://ocw.mit.edu/courses/8-01sc-classical-mechanics-fall-2016/mit8_01scs22_chapter4.pdf#page=4 ; PL-023 uses https://ocw.mit.edu/courses/8-01sc-classical-mechanics-fall-2016/mit8_01scs22_chapter7.pdf#page=9 . Unsupported PL-039 refers to lab measurements absent from the defined corpus.</a:t>
            </a:r>
          </a:p>
          <a:p xmlns:a="http://schemas.openxmlformats.org/drawingml/2006/main">
            <a:r>
              <a:t>Numbers refer to physical 1-based PDF pages. They can differ from printed page labels. A PDF-page match alone is insufficient for a retrieval hit: the retrieved chunk must actually contain the supporting span.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seven conditions on the same test set: one no-retrieval Flan-T5-small baseline and the six combinations of k=1/3/5 with the two fusion strategies. Freeze models, source corpus, chunking, decoding, input cap and output cap. Use only the ten development questions for prompt or packing choices.</a:t>
            </a:r>
          </a:p>
          <a:p xmlns:a="http://schemas.openxmlformats.org/drawingml/2006/main">
            <a:r>
              <a:t>Evidence Hit@k = answerable test questions with at least one complete labeled supporting span in the retrieved top k / 24. It differs from multi-evidence recall, since it only asks whether at least one sufficient span appears. Gold source spans must first be mapped to indexed chunk IDs. Also note whether a correct retrieved span survived prompt packing.</a:t>
            </a:r>
          </a:p>
          <a:p xmlns:a="http://schemas.openxmlformats.org/drawingml/2006/main">
            <a:r>
              <a:t>Primary answer accuracy = answers containing all required physics key points, correct signs/units and no material contradictory or extra factual claims / 24 answerable tests. Abstention on an answerable question is incorrect. Blind the system labels during human review, accepting semantic paraphrases.</a:t>
            </a:r>
          </a:p>
          <a:p xmlns:a="http://schemas.openxmlformats.org/drawingml/2006/main">
            <a:r>
              <a:t>Secondary token F1: precision = overlapping tokens / predicted tokens; recall = overlapping tokens / gold tokens; F1 = 2PR/(P+R), with zero for no overlap. Take the best score over accepted references and average across all 24 answerable tests. Normalize case and equivalent unit notation consistently. Word overlap can penalize a correct paraphrase or reward a superficially similar wrong answer, so it never replaces physics accuracy.</a:t>
            </a:r>
          </a:p>
          <a:p xmlns:a="http://schemas.openxmlformats.org/drawingml/2006/main">
            <a:r>
              <a:t>Exact Match applies only to the three closed-answer test questions PL-006, PL-016 and PL-032, using accepted unit/zero aliases. Report its denominator of three. It is optional and should not determine the ranking of open explanatory answers.</a:t>
            </a:r>
          </a:p>
          <a:p xmlns:a="http://schemas.openxmlformats.org/drawingml/2006/main">
            <a:r>
              <a:t>The distinction between answerable and unanswerable cases and use of EM/F1 follow common QA evaluation practice: https://rajpurkar.github.io/SQuAD-explorer/ . This project does not use SQuAD as its knowledge dataset. No metric results have been measured.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Metrics separate factual correctness from source support. Supported-answer rate = non-abstained RAG test answers for which every factual claim is supported by the displayed source text / all non-abstained RAG test answers. Judge this manually with a fixed yes/no rubric. A true statement supplied from model memory can still be unsupported by the retrieved text. If a method answers nothing, report N/A, not 100 percent. For the no-retrieval baseline, evidence support is N/A.</a:t>
            </a:r>
          </a:p>
          <a:p xmlns:a="http://schemas.openxmlformats.org/drawingml/2006/main">
            <a:r>
              <a:t>False-answer rate = non-abstained responses to the six unsupported test questions / 6. Report both numerator and denominator because the sample is small. Correct-abstention count is the complement. Answer coverage = non-abstained outputs on the 24 answerable test questions / 24. Coverage exposes indiscriminate refusal and should accompany support scores.</a:t>
            </a:r>
          </a:p>
          <a:p xmlns:a="http://schemas.openxmlformats.org/drawingml/2006/main">
            <a:r>
              <a:t>Median latency measures warmed end-to-end embedding, retrieval, evidence selection and generation across the same 30 test questions. Use the same named CPU/RAM/software setup, excluding one-time model load and indexing. Record peak process memory and actual prompt-token counts. Do not invent benchmark scores or imply statistical generalization from this small set.</a:t>
            </a:r>
          </a:p>
          <a:p xmlns:a="http://schemas.openxmlformats.org/drawingml/2006/main">
            <a:r>
              <a:t>Separate retrieval, generation and faithfulness dimensions are discussed in Es et al., Ragas: Automated Evaluation of Retrieval Augmented Generation, https://arxiv.org/abs/2309.15217 . This small project uses manual evidence review rather than adding the Ragas framework or an external LLM judge.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deliverable remains a small local prototype with two pretrained frozen models, simple NumPy retrieval and a basic localhost interface. The revised source is MIT OCW mechanics notes. The supplied 40-question JSON is a source-checked starter verification set with pending group approval and chunk mapping, not a completed experiment.</a:t>
            </a:r>
          </a:p>
          <a:p xmlns:a="http://schemas.openxmlformats.org/drawingml/2006/main">
            <a:r>
              <a:t>Expected project hand-in: source manifest with author/license attribution, prepared passages and chunk metadata, indexing/query scripts, an evidence-displaying demo, the frozen approved QA set, seven-setting results and a short failure analysis. Keep accuracy, support, abstention and efficiency columns separate. All performance values remain to be measured.</a:t>
            </a:r>
          </a:p>
          <a:p xmlns:a="http://schemas.openxmlformats.org/drawingml/2006/main">
            <a:r>
              <a:t>Suggested work split: one member leads source cleaning, evidence labels and evaluation; another leads retrieval, generation and UI. Both review the gold references and model outputs. The four stages are work packages, not a promised calendar deadline.</a:t>
            </a:r>
          </a:p>
          <a:p xmlns:a="http://schemas.openxmlformats.org/drawingml/2006/main">
            <a:r>
              <a:t>Primary sources: https://ocw.mit.edu/courses/8-01sc-classical-mechanics-fall-2016/pages/online-textbook/ ; https://ocw.mit.edu/courses/8-01sc-classical-mechanics-fall-2016/pages/syllabus/ ; https://huggingface.co/sentence-transformers/all-MiniLM-L6-v2 ; https://huggingface.co/google/flan-t5-small ; https://rajpurkar.github.io/SQuAD-explorer/ ; https://arxiv.org/abs/2309.15217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4880fda2adc464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e473e07dc7a475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bdc9a8eb8a645d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b9cddc1f57e463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df0c9750602480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6cdd77a2406423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24C3258-BEB2-4F39-AD8D-B30B8D8E071F}"/>
              </a:ext>
            </a:extLst>
          </p:cNvPr>
          <p:cNvSpPr>
            <a:spLocks xmlns:a="http://schemas.openxmlformats.org/drawingml/2006/main" noGrp="1"/>
          </p:cNvSpPr>
          <p:nvPr>
            <p:ph type="title" idx="0"/>
          </p:nvPr>
        </p:nvSpPr>
        <p:spPr>
          <a:xfrm xmlns:a="http://schemas.openxmlformats.org/drawingml/2006/main">
            <a:off x="1524000" y="3238500"/>
            <a:ext cx="12192000" cy="1238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000" b="1">
                <a:solidFill>
                  <a:schemeClr val="tx1"/>
                </a:solidFill>
                <a:latin typeface="+mj-lt"/>
                <a:ea typeface="+mj-lt"/>
                <a:cs typeface="+mj-lt"/>
              </a:defRPr>
            </a:defPPr>
            <a:lvl1pPr marL="0" indent="0" algn="ctr">
              <a:lnSpc>
                <a:spcPct val="110000"/>
              </a:lnSpc>
              <a:spcBef>
                <a:spcPts val="0"/>
              </a:spcBef>
              <a:spcAft>
                <a:spcPts val="0"/>
              </a:spcAft>
              <a:buNone/>
              <a:defRPr sz="6000" b="1">
                <a:solidFill>
                  <a:schemeClr val="tx1"/>
                </a:solidFill>
                <a:latin typeface="+mj-lt"/>
                <a:ea typeface="+mj-lt"/>
                <a:cs typeface="+mj-lt"/>
              </a:defRPr>
            </a:lvl1pPr>
            <a:lvl2pPr marL="0" indent="0" algn="ctr">
              <a:lnSpc>
                <a:spcPct val="110000"/>
              </a:lnSpc>
              <a:spcBef>
                <a:spcPts val="0"/>
              </a:spcBef>
              <a:spcAft>
                <a:spcPts val="0"/>
              </a:spcAft>
              <a:buNone/>
              <a:defRPr sz="6000" b="1">
                <a:solidFill>
                  <a:schemeClr val="tx1"/>
                </a:solidFill>
                <a:latin typeface="+mj-lt"/>
                <a:ea typeface="+mj-lt"/>
                <a:cs typeface="+mj-lt"/>
              </a:defRPr>
            </a:lvl2pPr>
            <a:lvl3pPr marL="0" indent="0" algn="ctr">
              <a:lnSpc>
                <a:spcPct val="110000"/>
              </a:lnSpc>
              <a:spcBef>
                <a:spcPts val="0"/>
              </a:spcBef>
              <a:spcAft>
                <a:spcPts val="0"/>
              </a:spcAft>
              <a:buNone/>
              <a:defRPr sz="6000" b="1">
                <a:solidFill>
                  <a:schemeClr val="tx1"/>
                </a:solidFill>
                <a:latin typeface="+mj-lt"/>
                <a:ea typeface="+mj-lt"/>
                <a:cs typeface="+mj-lt"/>
              </a:defRPr>
            </a:lvl3pPr>
            <a:lvl4pPr marL="0" indent="0" algn="ctr">
              <a:lnSpc>
                <a:spcPct val="110000"/>
              </a:lnSpc>
              <a:spcBef>
                <a:spcPts val="0"/>
              </a:spcBef>
              <a:spcAft>
                <a:spcPts val="0"/>
              </a:spcAft>
              <a:buNone/>
              <a:defRPr sz="6000" b="1">
                <a:solidFill>
                  <a:schemeClr val="tx1"/>
                </a:solidFill>
                <a:latin typeface="+mj-lt"/>
                <a:ea typeface="+mj-lt"/>
                <a:cs typeface="+mj-lt"/>
              </a:defRPr>
            </a:lvl4pPr>
            <a:lvl5pPr marL="0" indent="0" algn="ctr">
              <a:lnSpc>
                <a:spcPct val="110000"/>
              </a:lnSpc>
              <a:spcBef>
                <a:spcPts val="0"/>
              </a:spcBef>
              <a:spcAft>
                <a:spcPts val="0"/>
              </a:spcAft>
              <a:buNone/>
              <a:defRPr sz="6000" b="1">
                <a:solidFill>
                  <a:schemeClr val="tx1"/>
                </a:solidFill>
                <a:latin typeface="+mj-lt"/>
                <a:ea typeface="+mj-lt"/>
                <a:cs typeface="+mj-lt"/>
              </a:defRPr>
            </a:lvl5pPr>
            <a:lvl6pPr marL="0" indent="0" algn="ctr">
              <a:lnSpc>
                <a:spcPct val="110000"/>
              </a:lnSpc>
              <a:spcBef>
                <a:spcPts val="0"/>
              </a:spcBef>
              <a:spcAft>
                <a:spcPts val="0"/>
              </a:spcAft>
              <a:buNone/>
              <a:defRPr sz="6000" b="1">
                <a:solidFill>
                  <a:schemeClr val="tx1"/>
                </a:solidFill>
                <a:latin typeface="+mj-lt"/>
                <a:ea typeface="+mj-lt"/>
                <a:cs typeface="+mj-lt"/>
              </a:defRPr>
            </a:lvl6pPr>
            <a:lvl7pPr marL="0" indent="0" algn="ctr">
              <a:lnSpc>
                <a:spcPct val="110000"/>
              </a:lnSpc>
              <a:spcBef>
                <a:spcPts val="0"/>
              </a:spcBef>
              <a:spcAft>
                <a:spcPts val="0"/>
              </a:spcAft>
              <a:buNone/>
              <a:defRPr sz="6000" b="1">
                <a:solidFill>
                  <a:schemeClr val="tx1"/>
                </a:solidFill>
                <a:latin typeface="+mj-lt"/>
                <a:ea typeface="+mj-lt"/>
                <a:cs typeface="+mj-lt"/>
              </a:defRPr>
            </a:lvl7pPr>
            <a:lvl8pPr marL="0" indent="0" algn="ctr">
              <a:lnSpc>
                <a:spcPct val="110000"/>
              </a:lnSpc>
              <a:spcBef>
                <a:spcPts val="0"/>
              </a:spcBef>
              <a:spcAft>
                <a:spcPts val="0"/>
              </a:spcAft>
              <a:buNone/>
              <a:defRPr sz="6000" b="1">
                <a:solidFill>
                  <a:schemeClr val="tx1"/>
                </a:solidFill>
                <a:latin typeface="+mj-lt"/>
                <a:ea typeface="+mj-lt"/>
                <a:cs typeface="+mj-lt"/>
              </a:defRPr>
            </a:lvl8pPr>
            <a:lvl9pPr marL="0" indent="0" algn="ctr">
              <a:lnSpc>
                <a:spcPct val="110000"/>
              </a:lnSpc>
              <a:spcBef>
                <a:spcPts val="0"/>
              </a:spcBef>
              <a:spcAft>
                <a:spcPts val="0"/>
              </a:spcAft>
              <a:buNone/>
              <a:defRPr sz="60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8129289-8980-48A2-818D-82FC856DDDDA}"/>
              </a:ext>
            </a:extLst>
          </p:cNvPr>
          <p:cNvSpPr>
            <a:spLocks xmlns:a="http://schemas.openxmlformats.org/drawingml/2006/main" noGrp="1"/>
          </p:cNvSpPr>
          <p:nvPr>
            <p:ph type="subTitle" idx="1"/>
          </p:nvPr>
        </p:nvSpPr>
        <p:spPr>
          <a:xfrm xmlns:a="http://schemas.openxmlformats.org/drawingml/2006/main">
            <a:off x="2286000" y="4714875"/>
            <a:ext cx="10668000" cy="952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625" b="0">
                <a:solidFill>
                  <a:schemeClr val="tx1"/>
                </a:solidFill>
                <a:latin typeface="+mn-lt"/>
                <a:ea typeface="+mn-lt"/>
                <a:cs typeface="+mn-lt"/>
              </a:defRPr>
            </a:defPPr>
            <a:lvl1pPr marL="0" indent="0" algn="ctr">
              <a:lnSpc>
                <a:spcPct val="110000"/>
              </a:lnSpc>
              <a:spcBef>
                <a:spcPts val="0"/>
              </a:spcBef>
              <a:spcAft>
                <a:spcPts val="0"/>
              </a:spcAft>
              <a:buNone/>
              <a:defRPr sz="2625" b="0">
                <a:solidFill>
                  <a:schemeClr val="tx1"/>
                </a:solidFill>
                <a:latin typeface="+mn-lt"/>
                <a:ea typeface="+mn-lt"/>
                <a:cs typeface="+mn-lt"/>
              </a:defRPr>
            </a:lvl1pPr>
            <a:lvl2pPr marL="0" indent="0" algn="ctr">
              <a:lnSpc>
                <a:spcPct val="110000"/>
              </a:lnSpc>
              <a:spcBef>
                <a:spcPts val="0"/>
              </a:spcBef>
              <a:spcAft>
                <a:spcPts val="0"/>
              </a:spcAft>
              <a:buNone/>
              <a:defRPr sz="2625" b="0">
                <a:solidFill>
                  <a:schemeClr val="tx1"/>
                </a:solidFill>
                <a:latin typeface="+mn-lt"/>
                <a:ea typeface="+mn-lt"/>
                <a:cs typeface="+mn-lt"/>
              </a:defRPr>
            </a:lvl2pPr>
            <a:lvl3pPr marL="0" indent="0" algn="ctr">
              <a:lnSpc>
                <a:spcPct val="110000"/>
              </a:lnSpc>
              <a:spcBef>
                <a:spcPts val="0"/>
              </a:spcBef>
              <a:spcAft>
                <a:spcPts val="0"/>
              </a:spcAft>
              <a:buNone/>
              <a:defRPr sz="2625" b="0">
                <a:solidFill>
                  <a:schemeClr val="tx1"/>
                </a:solidFill>
                <a:latin typeface="+mn-lt"/>
                <a:ea typeface="+mn-lt"/>
                <a:cs typeface="+mn-lt"/>
              </a:defRPr>
            </a:lvl3pPr>
            <a:lvl4pPr marL="0" indent="0" algn="ctr">
              <a:lnSpc>
                <a:spcPct val="110000"/>
              </a:lnSpc>
              <a:spcBef>
                <a:spcPts val="0"/>
              </a:spcBef>
              <a:spcAft>
                <a:spcPts val="0"/>
              </a:spcAft>
              <a:buNone/>
              <a:defRPr sz="2625" b="0">
                <a:solidFill>
                  <a:schemeClr val="tx1"/>
                </a:solidFill>
                <a:latin typeface="+mn-lt"/>
                <a:ea typeface="+mn-lt"/>
                <a:cs typeface="+mn-lt"/>
              </a:defRPr>
            </a:lvl4pPr>
            <a:lvl5pPr marL="0" indent="0" algn="ctr">
              <a:lnSpc>
                <a:spcPct val="110000"/>
              </a:lnSpc>
              <a:spcBef>
                <a:spcPts val="0"/>
              </a:spcBef>
              <a:spcAft>
                <a:spcPts val="0"/>
              </a:spcAft>
              <a:buNone/>
              <a:defRPr sz="2625" b="0">
                <a:solidFill>
                  <a:schemeClr val="tx1"/>
                </a:solidFill>
                <a:latin typeface="+mn-lt"/>
                <a:ea typeface="+mn-lt"/>
                <a:cs typeface="+mn-lt"/>
              </a:defRPr>
            </a:lvl5pPr>
            <a:lvl6pPr marL="0" indent="0" algn="ctr">
              <a:lnSpc>
                <a:spcPct val="110000"/>
              </a:lnSpc>
              <a:spcBef>
                <a:spcPts val="0"/>
              </a:spcBef>
              <a:spcAft>
                <a:spcPts val="0"/>
              </a:spcAft>
              <a:buNone/>
              <a:defRPr sz="2625" b="0">
                <a:solidFill>
                  <a:schemeClr val="tx1"/>
                </a:solidFill>
                <a:latin typeface="+mn-lt"/>
                <a:ea typeface="+mn-lt"/>
                <a:cs typeface="+mn-lt"/>
              </a:defRPr>
            </a:lvl6pPr>
            <a:lvl7pPr marL="0" indent="0" algn="ctr">
              <a:lnSpc>
                <a:spcPct val="110000"/>
              </a:lnSpc>
              <a:spcBef>
                <a:spcPts val="0"/>
              </a:spcBef>
              <a:spcAft>
                <a:spcPts val="0"/>
              </a:spcAft>
              <a:buNone/>
              <a:defRPr sz="2625" b="0">
                <a:solidFill>
                  <a:schemeClr val="tx1"/>
                </a:solidFill>
                <a:latin typeface="+mn-lt"/>
                <a:ea typeface="+mn-lt"/>
                <a:cs typeface="+mn-lt"/>
              </a:defRPr>
            </a:lvl7pPr>
            <a:lvl8pPr marL="0" indent="0" algn="ctr">
              <a:lnSpc>
                <a:spcPct val="110000"/>
              </a:lnSpc>
              <a:spcBef>
                <a:spcPts val="0"/>
              </a:spcBef>
              <a:spcAft>
                <a:spcPts val="0"/>
              </a:spcAft>
              <a:buNone/>
              <a:defRPr sz="2625" b="0">
                <a:solidFill>
                  <a:schemeClr val="tx1"/>
                </a:solidFill>
                <a:latin typeface="+mn-lt"/>
                <a:ea typeface="+mn-lt"/>
                <a:cs typeface="+mn-lt"/>
              </a:defRPr>
            </a:lvl8pPr>
            <a:lvl9pPr marL="0" indent="0" algn="ctr">
              <a:lnSpc>
                <a:spcPct val="110000"/>
              </a:lnSpc>
              <a:spcBef>
                <a:spcPts val="0"/>
              </a:spcBef>
              <a:spcAft>
                <a:spcPts val="0"/>
              </a:spcAft>
              <a:buNone/>
              <a:defRPr sz="2625"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D8827E2-24D7-4DE2-BDE1-DACA5656A2FC}"/>
              </a:ext>
            </a:extLst>
          </p:cNvPr>
          <p:cNvSpPr>
            <a:spLocks xmlns:a="http://schemas.openxmlformats.org/drawingml/2006/main" noGrp="1"/>
          </p:cNvSpPr>
          <p:nvPr>
            <p:ph type="title" idx="0"/>
          </p:nvPr>
        </p:nvSpPr>
        <p:spPr>
          <a:xfrm xmlns:a="http://schemas.openxmlformats.org/drawingml/2006/main">
            <a:off x="1524000" y="3571875"/>
            <a:ext cx="12192000" cy="1428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250" b="1">
                <a:solidFill>
                  <a:schemeClr val="tx1"/>
                </a:solidFill>
                <a:latin typeface="+mj-lt"/>
                <a:ea typeface="+mj-lt"/>
                <a:cs typeface="+mj-lt"/>
              </a:defRPr>
            </a:defPPr>
            <a:lvl1pPr marL="0" indent="0" algn="ctr">
              <a:lnSpc>
                <a:spcPct val="110000"/>
              </a:lnSpc>
              <a:spcBef>
                <a:spcPts val="0"/>
              </a:spcBef>
              <a:spcAft>
                <a:spcPts val="0"/>
              </a:spcAft>
              <a:buNone/>
              <a:defRPr sz="5250" b="1">
                <a:solidFill>
                  <a:schemeClr val="tx1"/>
                </a:solidFill>
                <a:latin typeface="+mj-lt"/>
                <a:ea typeface="+mj-lt"/>
                <a:cs typeface="+mj-lt"/>
              </a:defRPr>
            </a:lvl1pPr>
            <a:lvl2pPr marL="0" indent="0" algn="ctr">
              <a:lnSpc>
                <a:spcPct val="110000"/>
              </a:lnSpc>
              <a:spcBef>
                <a:spcPts val="0"/>
              </a:spcBef>
              <a:spcAft>
                <a:spcPts val="0"/>
              </a:spcAft>
              <a:buNone/>
              <a:defRPr sz="5250" b="1">
                <a:solidFill>
                  <a:schemeClr val="tx1"/>
                </a:solidFill>
                <a:latin typeface="+mj-lt"/>
                <a:ea typeface="+mj-lt"/>
                <a:cs typeface="+mj-lt"/>
              </a:defRPr>
            </a:lvl2pPr>
            <a:lvl3pPr marL="0" indent="0" algn="ctr">
              <a:lnSpc>
                <a:spcPct val="110000"/>
              </a:lnSpc>
              <a:spcBef>
                <a:spcPts val="0"/>
              </a:spcBef>
              <a:spcAft>
                <a:spcPts val="0"/>
              </a:spcAft>
              <a:buNone/>
              <a:defRPr sz="5250" b="1">
                <a:solidFill>
                  <a:schemeClr val="tx1"/>
                </a:solidFill>
                <a:latin typeface="+mj-lt"/>
                <a:ea typeface="+mj-lt"/>
                <a:cs typeface="+mj-lt"/>
              </a:defRPr>
            </a:lvl3pPr>
            <a:lvl4pPr marL="0" indent="0" algn="ctr">
              <a:lnSpc>
                <a:spcPct val="110000"/>
              </a:lnSpc>
              <a:spcBef>
                <a:spcPts val="0"/>
              </a:spcBef>
              <a:spcAft>
                <a:spcPts val="0"/>
              </a:spcAft>
              <a:buNone/>
              <a:defRPr sz="5250" b="1">
                <a:solidFill>
                  <a:schemeClr val="tx1"/>
                </a:solidFill>
                <a:latin typeface="+mj-lt"/>
                <a:ea typeface="+mj-lt"/>
                <a:cs typeface="+mj-lt"/>
              </a:defRPr>
            </a:lvl4pPr>
            <a:lvl5pPr marL="0" indent="0" algn="ctr">
              <a:lnSpc>
                <a:spcPct val="110000"/>
              </a:lnSpc>
              <a:spcBef>
                <a:spcPts val="0"/>
              </a:spcBef>
              <a:spcAft>
                <a:spcPts val="0"/>
              </a:spcAft>
              <a:buNone/>
              <a:defRPr sz="5250" b="1">
                <a:solidFill>
                  <a:schemeClr val="tx1"/>
                </a:solidFill>
                <a:latin typeface="+mj-lt"/>
                <a:ea typeface="+mj-lt"/>
                <a:cs typeface="+mj-lt"/>
              </a:defRPr>
            </a:lvl5pPr>
            <a:lvl6pPr marL="0" indent="0" algn="ctr">
              <a:lnSpc>
                <a:spcPct val="110000"/>
              </a:lnSpc>
              <a:spcBef>
                <a:spcPts val="0"/>
              </a:spcBef>
              <a:spcAft>
                <a:spcPts val="0"/>
              </a:spcAft>
              <a:buNone/>
              <a:defRPr sz="5250" b="1">
                <a:solidFill>
                  <a:schemeClr val="tx1"/>
                </a:solidFill>
                <a:latin typeface="+mj-lt"/>
                <a:ea typeface="+mj-lt"/>
                <a:cs typeface="+mj-lt"/>
              </a:defRPr>
            </a:lvl6pPr>
            <a:lvl7pPr marL="0" indent="0" algn="ctr">
              <a:lnSpc>
                <a:spcPct val="110000"/>
              </a:lnSpc>
              <a:spcBef>
                <a:spcPts val="0"/>
              </a:spcBef>
              <a:spcAft>
                <a:spcPts val="0"/>
              </a:spcAft>
              <a:buNone/>
              <a:defRPr sz="5250" b="1">
                <a:solidFill>
                  <a:schemeClr val="tx1"/>
                </a:solidFill>
                <a:latin typeface="+mj-lt"/>
                <a:ea typeface="+mj-lt"/>
                <a:cs typeface="+mj-lt"/>
              </a:defRPr>
            </a:lvl7pPr>
            <a:lvl8pPr marL="0" indent="0" algn="ctr">
              <a:lnSpc>
                <a:spcPct val="110000"/>
              </a:lnSpc>
              <a:spcBef>
                <a:spcPts val="0"/>
              </a:spcBef>
              <a:spcAft>
                <a:spcPts val="0"/>
              </a:spcAft>
              <a:buNone/>
              <a:defRPr sz="5250" b="1">
                <a:solidFill>
                  <a:schemeClr val="tx1"/>
                </a:solidFill>
                <a:latin typeface="+mj-lt"/>
                <a:ea typeface="+mj-lt"/>
                <a:cs typeface="+mj-lt"/>
              </a:defRPr>
            </a:lvl8pPr>
            <a:lvl9pPr marL="0" indent="0" algn="ctr">
              <a:lnSpc>
                <a:spcPct val="110000"/>
              </a:lnSpc>
              <a:spcBef>
                <a:spcPts val="0"/>
              </a:spcBef>
              <a:spcAft>
                <a:spcPts val="0"/>
              </a:spcAft>
              <a:buNone/>
              <a:defRPr sz="525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37C0F1A-4B8F-48D8-A79D-3834632D5516}"/>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1076114-14A4-47B9-8572-9B1CD7611F16}"/>
              </a:ext>
            </a:extLst>
          </p:cNvPr>
          <p:cNvSpPr>
            <a:spLocks xmlns:a="http://schemas.openxmlformats.org/drawingml/2006/main" noGrp="1"/>
          </p:cNvSpPr>
          <p:nvPr>
            <p:ph type="body" idx="1"/>
          </p:nvPr>
        </p:nvSpPr>
        <p:spPr>
          <a:xfrm xmlns:a="http://schemas.openxmlformats.org/drawingml/2006/main">
            <a:off x="857250" y="2381250"/>
            <a:ext cx="13525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gn="l">
              <a:lnSpc>
                <a:spcPct val="110000"/>
              </a:lnSpc>
              <a:spcBef>
                <a:spcPts val="0"/>
              </a:spcBef>
              <a:spcAft>
                <a:spcPts val="1500"/>
              </a:spcAft>
              <a:buChar char="•"/>
              <a:defRPr sz="2813" b="0">
                <a:solidFill>
                  <a:schemeClr val="tx1"/>
                </a:solidFill>
                <a:latin typeface="+mn-lt"/>
                <a:ea typeface="+mn-lt"/>
                <a:cs typeface="+mn-lt"/>
              </a:defRPr>
            </a:lvl1pPr>
            <a:lvl2pPr marL="666750" indent="-285750" algn="l">
              <a:lnSpc>
                <a:spcPct val="110000"/>
              </a:lnSpc>
              <a:spcBef>
                <a:spcPts val="0"/>
              </a:spcBef>
              <a:spcAft>
                <a:spcPts val="1500"/>
              </a:spcAft>
              <a:buChar char="•"/>
              <a:defRPr sz="2813" b="0">
                <a:solidFill>
                  <a:schemeClr val="tx1"/>
                </a:solidFill>
                <a:latin typeface="+mn-lt"/>
                <a:ea typeface="+mn-lt"/>
                <a:cs typeface="+mn-lt"/>
              </a:defRPr>
            </a:lvl2pPr>
            <a:lvl3pPr marL="1047750" indent="-285750" algn="l">
              <a:lnSpc>
                <a:spcPct val="110000"/>
              </a:lnSpc>
              <a:spcBef>
                <a:spcPts val="0"/>
              </a:spcBef>
              <a:spcAft>
                <a:spcPts val="1500"/>
              </a:spcAft>
              <a:buChar char="•"/>
              <a:defRPr sz="2813" b="0">
                <a:solidFill>
                  <a:schemeClr val="tx1"/>
                </a:solidFill>
                <a:latin typeface="+mn-lt"/>
                <a:ea typeface="+mn-lt"/>
                <a:cs typeface="+mn-lt"/>
              </a:defRPr>
            </a:lvl3pPr>
            <a:lvl4pPr marL="1428750" indent="-285750" algn="l">
              <a:lnSpc>
                <a:spcPct val="110000"/>
              </a:lnSpc>
              <a:spcBef>
                <a:spcPts val="0"/>
              </a:spcBef>
              <a:spcAft>
                <a:spcPts val="1500"/>
              </a:spcAft>
              <a:buChar char="•"/>
              <a:defRPr sz="2813" b="0">
                <a:solidFill>
                  <a:schemeClr val="tx1"/>
                </a:solidFill>
                <a:latin typeface="+mn-lt"/>
                <a:ea typeface="+mn-lt"/>
                <a:cs typeface="+mn-lt"/>
              </a:defRPr>
            </a:lvl4pPr>
            <a:lvl5pPr marL="1809750" indent="-285750" algn="l">
              <a:lnSpc>
                <a:spcPct val="110000"/>
              </a:lnSpc>
              <a:spcBef>
                <a:spcPts val="0"/>
              </a:spcBef>
              <a:spcAft>
                <a:spcPts val="1500"/>
              </a:spcAft>
              <a:buChar char="•"/>
              <a:defRPr sz="2813" b="0">
                <a:solidFill>
                  <a:schemeClr val="tx1"/>
                </a:solidFill>
                <a:latin typeface="+mn-lt"/>
                <a:ea typeface="+mn-lt"/>
                <a:cs typeface="+mn-lt"/>
              </a:defRPr>
            </a:lvl5pPr>
            <a:lvl6pPr marL="2190750" indent="-285750" algn="l">
              <a:lnSpc>
                <a:spcPct val="110000"/>
              </a:lnSpc>
              <a:spcBef>
                <a:spcPts val="0"/>
              </a:spcBef>
              <a:spcAft>
                <a:spcPts val="1500"/>
              </a:spcAft>
              <a:buChar char="•"/>
              <a:defRPr sz="2813" b="0">
                <a:solidFill>
                  <a:schemeClr val="tx1"/>
                </a:solidFill>
                <a:latin typeface="+mn-lt"/>
                <a:ea typeface="+mn-lt"/>
                <a:cs typeface="+mn-lt"/>
              </a:defRPr>
            </a:lvl6pPr>
            <a:lvl7pPr marL="2571750" indent="-285750" algn="l">
              <a:lnSpc>
                <a:spcPct val="110000"/>
              </a:lnSpc>
              <a:spcBef>
                <a:spcPts val="0"/>
              </a:spcBef>
              <a:spcAft>
                <a:spcPts val="1500"/>
              </a:spcAft>
              <a:buChar char="•"/>
              <a:defRPr sz="2813" b="0">
                <a:solidFill>
                  <a:schemeClr val="tx1"/>
                </a:solidFill>
                <a:latin typeface="+mn-lt"/>
                <a:ea typeface="+mn-lt"/>
                <a:cs typeface="+mn-lt"/>
              </a:defRPr>
            </a:lvl7pPr>
            <a:lvl8pPr marL="2952750" indent="-285750" algn="l">
              <a:lnSpc>
                <a:spcPct val="110000"/>
              </a:lnSpc>
              <a:spcBef>
                <a:spcPts val="0"/>
              </a:spcBef>
              <a:spcAft>
                <a:spcPts val="1500"/>
              </a:spcAft>
              <a:buChar char="•"/>
              <a:defRPr sz="2813" b="0">
                <a:solidFill>
                  <a:schemeClr val="tx1"/>
                </a:solidFill>
                <a:latin typeface="+mn-lt"/>
                <a:ea typeface="+mn-lt"/>
                <a:cs typeface="+mn-lt"/>
              </a:defRPr>
            </a:lvl8pPr>
            <a:lvl9pPr marL="3333750" indent="-285750" algn="l">
              <a:lnSpc>
                <a:spcPct val="110000"/>
              </a:lnSpc>
              <a:spcBef>
                <a:spcPts val="0"/>
              </a:spcBef>
              <a:spcAft>
                <a:spcPts val="1500"/>
              </a:spcAft>
              <a:buChar char="•"/>
              <a:defRPr sz="2813"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3F91593-DC1C-464D-A657-5EE5D5337C0B}"/>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146659F-7F49-42F3-8284-BD4D15E868B9}"/>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gn="l">
              <a:lnSpc>
                <a:spcPct val="110000"/>
              </a:lnSpc>
              <a:spcBef>
                <a:spcPts val="0"/>
              </a:spcBef>
              <a:spcAft>
                <a:spcPts val="1500"/>
              </a:spcAft>
              <a:buChar char="•"/>
              <a:defRPr sz="2625" b="0">
                <a:solidFill>
                  <a:schemeClr val="tx1"/>
                </a:solidFill>
                <a:latin typeface="+mn-lt"/>
                <a:ea typeface="+mn-lt"/>
                <a:cs typeface="+mn-lt"/>
              </a:defRPr>
            </a:lvl1pPr>
            <a:lvl2pPr marL="666750" indent="-285750" algn="l">
              <a:lnSpc>
                <a:spcPct val="110000"/>
              </a:lnSpc>
              <a:spcBef>
                <a:spcPts val="0"/>
              </a:spcBef>
              <a:spcAft>
                <a:spcPts val="1500"/>
              </a:spcAft>
              <a:buChar char="•"/>
              <a:defRPr sz="2625" b="0">
                <a:solidFill>
                  <a:schemeClr val="tx1"/>
                </a:solidFill>
                <a:latin typeface="+mn-lt"/>
                <a:ea typeface="+mn-lt"/>
                <a:cs typeface="+mn-lt"/>
              </a:defRPr>
            </a:lvl2pPr>
            <a:lvl3pPr marL="1047750" indent="-285750" algn="l">
              <a:lnSpc>
                <a:spcPct val="110000"/>
              </a:lnSpc>
              <a:spcBef>
                <a:spcPts val="0"/>
              </a:spcBef>
              <a:spcAft>
                <a:spcPts val="1500"/>
              </a:spcAft>
              <a:buChar char="•"/>
              <a:defRPr sz="2625" b="0">
                <a:solidFill>
                  <a:schemeClr val="tx1"/>
                </a:solidFill>
                <a:latin typeface="+mn-lt"/>
                <a:ea typeface="+mn-lt"/>
                <a:cs typeface="+mn-lt"/>
              </a:defRPr>
            </a:lvl3pPr>
            <a:lvl4pPr marL="1428750" indent="-285750" algn="l">
              <a:lnSpc>
                <a:spcPct val="110000"/>
              </a:lnSpc>
              <a:spcBef>
                <a:spcPts val="0"/>
              </a:spcBef>
              <a:spcAft>
                <a:spcPts val="1500"/>
              </a:spcAft>
              <a:buChar char="•"/>
              <a:defRPr sz="2625" b="0">
                <a:solidFill>
                  <a:schemeClr val="tx1"/>
                </a:solidFill>
                <a:latin typeface="+mn-lt"/>
                <a:ea typeface="+mn-lt"/>
                <a:cs typeface="+mn-lt"/>
              </a:defRPr>
            </a:lvl4pPr>
            <a:lvl5pPr marL="1809750" indent="-285750" algn="l">
              <a:lnSpc>
                <a:spcPct val="110000"/>
              </a:lnSpc>
              <a:spcBef>
                <a:spcPts val="0"/>
              </a:spcBef>
              <a:spcAft>
                <a:spcPts val="1500"/>
              </a:spcAft>
              <a:buChar char="•"/>
              <a:defRPr sz="2625" b="0">
                <a:solidFill>
                  <a:schemeClr val="tx1"/>
                </a:solidFill>
                <a:latin typeface="+mn-lt"/>
                <a:ea typeface="+mn-lt"/>
                <a:cs typeface="+mn-lt"/>
              </a:defRPr>
            </a:lvl5pPr>
            <a:lvl6pPr marL="2190750" indent="-285750" algn="l">
              <a:lnSpc>
                <a:spcPct val="110000"/>
              </a:lnSpc>
              <a:spcBef>
                <a:spcPts val="0"/>
              </a:spcBef>
              <a:spcAft>
                <a:spcPts val="1500"/>
              </a:spcAft>
              <a:buChar char="•"/>
              <a:defRPr sz="2625" b="0">
                <a:solidFill>
                  <a:schemeClr val="tx1"/>
                </a:solidFill>
                <a:latin typeface="+mn-lt"/>
                <a:ea typeface="+mn-lt"/>
                <a:cs typeface="+mn-lt"/>
              </a:defRPr>
            </a:lvl6pPr>
            <a:lvl7pPr marL="2571750" indent="-285750" algn="l">
              <a:lnSpc>
                <a:spcPct val="110000"/>
              </a:lnSpc>
              <a:spcBef>
                <a:spcPts val="0"/>
              </a:spcBef>
              <a:spcAft>
                <a:spcPts val="1500"/>
              </a:spcAft>
              <a:buChar char="•"/>
              <a:defRPr sz="2625" b="0">
                <a:solidFill>
                  <a:schemeClr val="tx1"/>
                </a:solidFill>
                <a:latin typeface="+mn-lt"/>
                <a:ea typeface="+mn-lt"/>
                <a:cs typeface="+mn-lt"/>
              </a:defRPr>
            </a:lvl7pPr>
            <a:lvl8pPr marL="2952750" indent="-285750" algn="l">
              <a:lnSpc>
                <a:spcPct val="110000"/>
              </a:lnSpc>
              <a:spcBef>
                <a:spcPts val="0"/>
              </a:spcBef>
              <a:spcAft>
                <a:spcPts val="1500"/>
              </a:spcAft>
              <a:buChar char="•"/>
              <a:defRPr sz="2625" b="0">
                <a:solidFill>
                  <a:schemeClr val="tx1"/>
                </a:solidFill>
                <a:latin typeface="+mn-lt"/>
                <a:ea typeface="+mn-lt"/>
                <a:cs typeface="+mn-lt"/>
              </a:defRPr>
            </a:lvl8pPr>
            <a:lvl9pPr marL="3333750" indent="-285750" algn="l">
              <a:lnSpc>
                <a:spcPct val="110000"/>
              </a:lnSpc>
              <a:spcBef>
                <a:spcPts val="0"/>
              </a:spcBef>
              <a:spcAft>
                <a:spcPts val="1500"/>
              </a:spcAft>
              <a:buChar char="•"/>
              <a:defRPr sz="2625"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2D52819-9D2F-412B-9E70-5BA867639746}"/>
              </a:ext>
            </a:extLst>
          </p:cNvPr>
          <p:cNvSpPr>
            <a:spLocks xmlns:a="http://schemas.openxmlformats.org/drawingml/2006/main" noGrp="1"/>
          </p:cNvSpPr>
          <p:nvPr>
            <p:ph type="body" idx="2"/>
          </p:nvPr>
        </p:nvSpPr>
        <p:spPr>
          <a:xfrm xmlns:a="http://schemas.openxmlformats.org/drawingml/2006/main">
            <a:off x="8096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gn="l">
              <a:lnSpc>
                <a:spcPct val="110000"/>
              </a:lnSpc>
              <a:spcBef>
                <a:spcPts val="0"/>
              </a:spcBef>
              <a:spcAft>
                <a:spcPts val="1500"/>
              </a:spcAft>
              <a:buChar char="•"/>
              <a:defRPr sz="2625" b="0">
                <a:solidFill>
                  <a:schemeClr val="tx1"/>
                </a:solidFill>
                <a:latin typeface="+mn-lt"/>
                <a:ea typeface="+mn-lt"/>
                <a:cs typeface="+mn-lt"/>
              </a:defRPr>
            </a:lvl1pPr>
            <a:lvl2pPr marL="666750" indent="-285750" algn="l">
              <a:lnSpc>
                <a:spcPct val="110000"/>
              </a:lnSpc>
              <a:spcBef>
                <a:spcPts val="0"/>
              </a:spcBef>
              <a:spcAft>
                <a:spcPts val="1500"/>
              </a:spcAft>
              <a:buChar char="•"/>
              <a:defRPr sz="2625" b="0">
                <a:solidFill>
                  <a:schemeClr val="tx1"/>
                </a:solidFill>
                <a:latin typeface="+mn-lt"/>
                <a:ea typeface="+mn-lt"/>
                <a:cs typeface="+mn-lt"/>
              </a:defRPr>
            </a:lvl2pPr>
            <a:lvl3pPr marL="1047750" indent="-285750" algn="l">
              <a:lnSpc>
                <a:spcPct val="110000"/>
              </a:lnSpc>
              <a:spcBef>
                <a:spcPts val="0"/>
              </a:spcBef>
              <a:spcAft>
                <a:spcPts val="1500"/>
              </a:spcAft>
              <a:buChar char="•"/>
              <a:defRPr sz="2625" b="0">
                <a:solidFill>
                  <a:schemeClr val="tx1"/>
                </a:solidFill>
                <a:latin typeface="+mn-lt"/>
                <a:ea typeface="+mn-lt"/>
                <a:cs typeface="+mn-lt"/>
              </a:defRPr>
            </a:lvl3pPr>
            <a:lvl4pPr marL="1428750" indent="-285750" algn="l">
              <a:lnSpc>
                <a:spcPct val="110000"/>
              </a:lnSpc>
              <a:spcBef>
                <a:spcPts val="0"/>
              </a:spcBef>
              <a:spcAft>
                <a:spcPts val="1500"/>
              </a:spcAft>
              <a:buChar char="•"/>
              <a:defRPr sz="2625" b="0">
                <a:solidFill>
                  <a:schemeClr val="tx1"/>
                </a:solidFill>
                <a:latin typeface="+mn-lt"/>
                <a:ea typeface="+mn-lt"/>
                <a:cs typeface="+mn-lt"/>
              </a:defRPr>
            </a:lvl4pPr>
            <a:lvl5pPr marL="1809750" indent="-285750" algn="l">
              <a:lnSpc>
                <a:spcPct val="110000"/>
              </a:lnSpc>
              <a:spcBef>
                <a:spcPts val="0"/>
              </a:spcBef>
              <a:spcAft>
                <a:spcPts val="1500"/>
              </a:spcAft>
              <a:buChar char="•"/>
              <a:defRPr sz="2625" b="0">
                <a:solidFill>
                  <a:schemeClr val="tx1"/>
                </a:solidFill>
                <a:latin typeface="+mn-lt"/>
                <a:ea typeface="+mn-lt"/>
                <a:cs typeface="+mn-lt"/>
              </a:defRPr>
            </a:lvl5pPr>
            <a:lvl6pPr marL="2190750" indent="-285750" algn="l">
              <a:lnSpc>
                <a:spcPct val="110000"/>
              </a:lnSpc>
              <a:spcBef>
                <a:spcPts val="0"/>
              </a:spcBef>
              <a:spcAft>
                <a:spcPts val="1500"/>
              </a:spcAft>
              <a:buChar char="•"/>
              <a:defRPr sz="2625" b="0">
                <a:solidFill>
                  <a:schemeClr val="tx1"/>
                </a:solidFill>
                <a:latin typeface="+mn-lt"/>
                <a:ea typeface="+mn-lt"/>
                <a:cs typeface="+mn-lt"/>
              </a:defRPr>
            </a:lvl6pPr>
            <a:lvl7pPr marL="2571750" indent="-285750" algn="l">
              <a:lnSpc>
                <a:spcPct val="110000"/>
              </a:lnSpc>
              <a:spcBef>
                <a:spcPts val="0"/>
              </a:spcBef>
              <a:spcAft>
                <a:spcPts val="1500"/>
              </a:spcAft>
              <a:buChar char="•"/>
              <a:defRPr sz="2625" b="0">
                <a:solidFill>
                  <a:schemeClr val="tx1"/>
                </a:solidFill>
                <a:latin typeface="+mn-lt"/>
                <a:ea typeface="+mn-lt"/>
                <a:cs typeface="+mn-lt"/>
              </a:defRPr>
            </a:lvl7pPr>
            <a:lvl8pPr marL="2952750" indent="-285750" algn="l">
              <a:lnSpc>
                <a:spcPct val="110000"/>
              </a:lnSpc>
              <a:spcBef>
                <a:spcPts val="0"/>
              </a:spcBef>
              <a:spcAft>
                <a:spcPts val="1500"/>
              </a:spcAft>
              <a:buChar char="•"/>
              <a:defRPr sz="2625" b="0">
                <a:solidFill>
                  <a:schemeClr val="tx1"/>
                </a:solidFill>
                <a:latin typeface="+mn-lt"/>
                <a:ea typeface="+mn-lt"/>
                <a:cs typeface="+mn-lt"/>
              </a:defRPr>
            </a:lvl8pPr>
            <a:lvl9pPr marL="3333750" indent="-285750" algn="l">
              <a:lnSpc>
                <a:spcPct val="110000"/>
              </a:lnSpc>
              <a:spcBef>
                <a:spcPts val="0"/>
              </a:spcBef>
              <a:spcAft>
                <a:spcPts val="1500"/>
              </a:spcAft>
              <a:buChar char="•"/>
              <a:defRPr sz="2625"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C4297F5-6DF0-4782-94E3-503C5FE1E67F}"/>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983846F-9472-4784-ACFC-8930D5263947}"/>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gn="l">
              <a:lnSpc>
                <a:spcPct val="110000"/>
              </a:lnSpc>
              <a:spcBef>
                <a:spcPts val="0"/>
              </a:spcBef>
              <a:spcAft>
                <a:spcPts val="1500"/>
              </a:spcAft>
              <a:buChar char="•"/>
              <a:defRPr sz="2813" b="0">
                <a:solidFill>
                  <a:schemeClr val="tx1"/>
                </a:solidFill>
                <a:latin typeface="+mn-lt"/>
                <a:ea typeface="+mn-lt"/>
                <a:cs typeface="+mn-lt"/>
              </a:defRPr>
            </a:lvl1pPr>
            <a:lvl2pPr marL="666750" indent="-285750" algn="l">
              <a:lnSpc>
                <a:spcPct val="110000"/>
              </a:lnSpc>
              <a:spcBef>
                <a:spcPts val="0"/>
              </a:spcBef>
              <a:spcAft>
                <a:spcPts val="1500"/>
              </a:spcAft>
              <a:buChar char="•"/>
              <a:defRPr sz="2813" b="0">
                <a:solidFill>
                  <a:schemeClr val="tx1"/>
                </a:solidFill>
                <a:latin typeface="+mn-lt"/>
                <a:ea typeface="+mn-lt"/>
                <a:cs typeface="+mn-lt"/>
              </a:defRPr>
            </a:lvl2pPr>
            <a:lvl3pPr marL="1047750" indent="-285750" algn="l">
              <a:lnSpc>
                <a:spcPct val="110000"/>
              </a:lnSpc>
              <a:spcBef>
                <a:spcPts val="0"/>
              </a:spcBef>
              <a:spcAft>
                <a:spcPts val="1500"/>
              </a:spcAft>
              <a:buChar char="•"/>
              <a:defRPr sz="2813" b="0">
                <a:solidFill>
                  <a:schemeClr val="tx1"/>
                </a:solidFill>
                <a:latin typeface="+mn-lt"/>
                <a:ea typeface="+mn-lt"/>
                <a:cs typeface="+mn-lt"/>
              </a:defRPr>
            </a:lvl3pPr>
            <a:lvl4pPr marL="1428750" indent="-285750" algn="l">
              <a:lnSpc>
                <a:spcPct val="110000"/>
              </a:lnSpc>
              <a:spcBef>
                <a:spcPts val="0"/>
              </a:spcBef>
              <a:spcAft>
                <a:spcPts val="1500"/>
              </a:spcAft>
              <a:buChar char="•"/>
              <a:defRPr sz="2813" b="0">
                <a:solidFill>
                  <a:schemeClr val="tx1"/>
                </a:solidFill>
                <a:latin typeface="+mn-lt"/>
                <a:ea typeface="+mn-lt"/>
                <a:cs typeface="+mn-lt"/>
              </a:defRPr>
            </a:lvl4pPr>
            <a:lvl5pPr marL="1809750" indent="-285750" algn="l">
              <a:lnSpc>
                <a:spcPct val="110000"/>
              </a:lnSpc>
              <a:spcBef>
                <a:spcPts val="0"/>
              </a:spcBef>
              <a:spcAft>
                <a:spcPts val="1500"/>
              </a:spcAft>
              <a:buChar char="•"/>
              <a:defRPr sz="2813" b="0">
                <a:solidFill>
                  <a:schemeClr val="tx1"/>
                </a:solidFill>
                <a:latin typeface="+mn-lt"/>
                <a:ea typeface="+mn-lt"/>
                <a:cs typeface="+mn-lt"/>
              </a:defRPr>
            </a:lvl5pPr>
            <a:lvl6pPr marL="2190750" indent="-285750" algn="l">
              <a:lnSpc>
                <a:spcPct val="110000"/>
              </a:lnSpc>
              <a:spcBef>
                <a:spcPts val="0"/>
              </a:spcBef>
              <a:spcAft>
                <a:spcPts val="1500"/>
              </a:spcAft>
              <a:buChar char="•"/>
              <a:defRPr sz="2813" b="0">
                <a:solidFill>
                  <a:schemeClr val="tx1"/>
                </a:solidFill>
                <a:latin typeface="+mn-lt"/>
                <a:ea typeface="+mn-lt"/>
                <a:cs typeface="+mn-lt"/>
              </a:defRPr>
            </a:lvl6pPr>
            <a:lvl7pPr marL="2571750" indent="-285750" algn="l">
              <a:lnSpc>
                <a:spcPct val="110000"/>
              </a:lnSpc>
              <a:spcBef>
                <a:spcPts val="0"/>
              </a:spcBef>
              <a:spcAft>
                <a:spcPts val="1500"/>
              </a:spcAft>
              <a:buChar char="•"/>
              <a:defRPr sz="2813" b="0">
                <a:solidFill>
                  <a:schemeClr val="tx1"/>
                </a:solidFill>
                <a:latin typeface="+mn-lt"/>
                <a:ea typeface="+mn-lt"/>
                <a:cs typeface="+mn-lt"/>
              </a:defRPr>
            </a:lvl7pPr>
            <a:lvl8pPr marL="2952750" indent="-285750" algn="l">
              <a:lnSpc>
                <a:spcPct val="110000"/>
              </a:lnSpc>
              <a:spcBef>
                <a:spcPts val="0"/>
              </a:spcBef>
              <a:spcAft>
                <a:spcPts val="1500"/>
              </a:spcAft>
              <a:buChar char="•"/>
              <a:defRPr sz="2813" b="0">
                <a:solidFill>
                  <a:schemeClr val="tx1"/>
                </a:solidFill>
                <a:latin typeface="+mn-lt"/>
                <a:ea typeface="+mn-lt"/>
                <a:cs typeface="+mn-lt"/>
              </a:defRPr>
            </a:lvl8pPr>
            <a:lvl9pPr marL="3333750" indent="-285750" algn="l">
              <a:lnSpc>
                <a:spcPct val="110000"/>
              </a:lnSpc>
              <a:spcBef>
                <a:spcPts val="0"/>
              </a:spcBef>
              <a:spcAft>
                <a:spcPts val="1500"/>
              </a:spcAft>
              <a:buChar char="•"/>
              <a:defRPr sz="2813"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3fe082b17f54138" /><Relationship Type="http://schemas.openxmlformats.org/officeDocument/2006/relationships/slideLayout" Target="/ppt/slideLayouts/slideLayout1.xml" Id="R2c0c6f7dece04780" /><Relationship Type="http://schemas.openxmlformats.org/officeDocument/2006/relationships/slideLayout" Target="/ppt/slideLayouts/slideLayout2.xml" Id="R9c1c7422ef194588" /><Relationship Type="http://schemas.openxmlformats.org/officeDocument/2006/relationships/slideLayout" Target="/ppt/slideLayouts/slideLayout3.xml" Id="R7da9fab8ff3f4be9" /><Relationship Type="http://schemas.openxmlformats.org/officeDocument/2006/relationships/slideLayout" Target="/ppt/slideLayouts/slideLayout4.xml" Id="R217af781e6644466" /><Relationship Type="http://schemas.openxmlformats.org/officeDocument/2006/relationships/slideLayout" Target="/ppt/slideLayouts/slideLayout5.xml" Id="Rec85928c07bc4a1b" /><Relationship Type="http://schemas.openxmlformats.org/officeDocument/2006/relationships/slideLayout" Target="/ppt/slideLayouts/slideLayout6.xml" Id="R3154d7ebdb9840a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c0c6f7dece04780"/>
    <p:sldLayoutId xmlns:r="http://schemas.openxmlformats.org/officeDocument/2006/relationships" id="2147483650" r:id="R9c1c7422ef194588"/>
    <p:sldLayoutId xmlns:r="http://schemas.openxmlformats.org/officeDocument/2006/relationships" id="2147483651" r:id="R7da9fab8ff3f4be9"/>
    <p:sldLayoutId xmlns:r="http://schemas.openxmlformats.org/officeDocument/2006/relationships" id="2147483652" r:id="R217af781e6644466"/>
    <p:sldLayoutId xmlns:r="http://schemas.openxmlformats.org/officeDocument/2006/relationships" id="2147483653" r:id="Rec85928c07bc4a1b"/>
    <p:sldLayoutId xmlns:r="http://schemas.openxmlformats.org/officeDocument/2006/relationships" id="2147483654" r:id="R3154d7ebdb9840a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ea08acdb94d4186" /><Relationship Type="http://schemas.openxmlformats.org/officeDocument/2006/relationships/image" Target="/ppt/media/image.png" Id="R77365b699e7f4b00" /><Relationship Type="http://schemas.openxmlformats.org/officeDocument/2006/relationships/notesSlide" Target="/ppt/notesSlides/notesSlide1.xml" Id="Rbc39dcde7d474c1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8e9fa5bb75845a9" /><Relationship Type="http://schemas.openxmlformats.org/officeDocument/2006/relationships/notesSlide" Target="/ppt/notesSlides/notesSlide2.xml" Id="R48a7dc71639a45c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dffb928668c4a19" /><Relationship Type="http://schemas.openxmlformats.org/officeDocument/2006/relationships/hyperlink" Target="https://ocw.mit.edu/courses/8-01sc-classical-mechanics-fall-2016/pages/online-textbook/" TargetMode="External" Id="R4ff5799a51f847aa" /><Relationship Type="http://schemas.openxmlformats.org/officeDocument/2006/relationships/notesSlide" Target="/ppt/notesSlides/notesSlide3.xml" Id="Ra91d0a740b54412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4baacc138624aa9" /><Relationship Type="http://schemas.openxmlformats.org/officeDocument/2006/relationships/notesSlide" Target="/ppt/notesSlides/notesSlide4.xml" Id="R4a17ac75b2d64ac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df1fdfddd6e48b7" /><Relationship Type="http://schemas.openxmlformats.org/officeDocument/2006/relationships/notesSlide" Target="/ppt/notesSlides/notesSlide5.xml" Id="Re2c160ce300747a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1d2b14accc36482b" /><Relationship Type="http://schemas.openxmlformats.org/officeDocument/2006/relationships/notesSlide" Target="/ppt/notesSlides/notesSlide6.xml" Id="Rd4f8f2a0c732493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b1dacbe1646f48a3" /><Relationship Type="http://schemas.openxmlformats.org/officeDocument/2006/relationships/notesSlide" Target="/ppt/notesSlides/notesSlide7.xml" Id="R079cf158d95947e8"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ee719aa04a844df" /><Relationship Type="http://schemas.openxmlformats.org/officeDocument/2006/relationships/notesSlide" Target="/ppt/notesSlides/notesSlide8.xml" Id="Rab4026cc7aa749ee"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620e51d2c69a4e4c" /><Relationship Type="http://schemas.openxmlformats.org/officeDocument/2006/relationships/notesSlide" Target="/ppt/notesSlides/notesSlide9.xml" Id="Rdbb5ec459b894e3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aa3a89ef339a4950" /><Relationship Type="http://schemas.openxmlformats.org/officeDocument/2006/relationships/notesSlide" Target="/ppt/notesSlides/notesSlide10.xml" Id="Re523748a83694aa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7b70e1d2166640fb" /><Relationship Type="http://schemas.openxmlformats.org/officeDocument/2006/relationships/notesSlide" Target="/ppt/notesSlides/notesSlide11.xml" Id="R0c9243c367094afc" /></Relationships>
</file>

<file path=ppt/slides/slide1.xml><?xml version="1.0" encoding="utf-8"?>
<p:sld xmlns:p="http://schemas.openxmlformats.org/presentationml/2006/main">
  <p:cSld>
    <p:bg>
      <p:bgPr>
        <a:solidFill xmlns:a="http://schemas.openxmlformats.org/drawingml/2006/main">
          <a:srgbClr val="0B1B29"/>
        </a:solidFill>
      </p:bgPr>
    </p:bg>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22961034-DA10-4D33-ACAE-5F77F23E5F96}"/>
              </a:ext>
            </a:extLst>
          </p:cNvPr>
          <p:cNvPicPr>
            <a:picLocks xmlns:a="http://schemas.openxmlformats.org/drawingml/2006/main" noChangeAspect="1"/>
          </p:cNvPicPr>
          <p:nvPr/>
        </p:nvPicPr>
        <p:blipFill>
          <a:blip xmlns:r="http://schemas.openxmlformats.org/officeDocument/2006/relationships" xmlns:a="http://schemas.openxmlformats.org/drawingml/2006/main" r:embed="R77365b699e7f4b00"/>
          <a:stretch xmlns:a="http://schemas.openxmlformats.org/drawingml/2006/main"/>
        </p:blipFill>
        <p:spPr>
          <a:xfrm xmlns:a="http://schemas.openxmlformats.org/drawingml/2006/main">
            <a:off x="8696325" y="95250"/>
            <a:ext cx="6286500" cy="8382000"/>
          </a:xfrm>
          <a:prstGeom xmlns:a="http://schemas.openxmlformats.org/drawingml/2006/main" prst="rect">
            <a:avLst/>
          </a:prstGeom>
        </p:spPr>
      </p:pic>
      <p:sp>
        <p:nvSpPr>
          <p:cNvPr id="2" name="cover-title">
            <a:extLst xmlns:a="http://schemas.openxmlformats.org/drawingml/2006/main">
              <a:ext uri="{FF2B5EF4-FFF2-40B4-BE49-F238E27FC236}">
                <a16:creationId xmlns:a16="http://schemas.microsoft.com/office/drawing/2014/main" id="{E1249F10-7F68-4E3A-9CE4-D8B6E12AB5F6}"/>
              </a:ext>
            </a:extLst>
          </p:cNvPr>
          <p:cNvSpPr>
            <a:spLocks xmlns:a="http://schemas.openxmlformats.org/drawingml/2006/main" noGrp="1"/>
          </p:cNvSpPr>
          <p:nvPr/>
        </p:nvSpPr>
        <p:spPr>
          <a:xfrm xmlns:a="http://schemas.openxmlformats.org/drawingml/2006/main">
            <a:off x="800100" y="1828800"/>
            <a:ext cx="7620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6900" b="1">
                <a:solidFill>
                  <a:srgbClr val="FFFFFF"/>
                </a:solidFill>
                <a:latin typeface="DejaVu Sans"/>
                <a:ea typeface="DejaVu Sans"/>
                <a:cs typeface="DejaVu Sans"/>
              </a:defRPr>
            </a:defPPr>
            <a:lvl1pPr>
              <a:buNone/>
              <a:defRPr sz="6900" b="1">
                <a:solidFill>
                  <a:srgbClr val="FFFFFF"/>
                </a:solidFill>
                <a:latin typeface="DejaVu Sans"/>
                <a:ea typeface="DejaVu Sans"/>
                <a:cs typeface="DejaVu Sans"/>
              </a:defRPr>
            </a:lvl1pPr>
            <a:lvl2pPr>
              <a:buNone/>
              <a:defRPr sz="6900" b="1">
                <a:solidFill>
                  <a:srgbClr val="FFFFFF"/>
                </a:solidFill>
                <a:latin typeface="DejaVu Sans"/>
                <a:ea typeface="DejaVu Sans"/>
                <a:cs typeface="DejaVu Sans"/>
              </a:defRPr>
            </a:lvl2pPr>
            <a:lvl3pPr>
              <a:buNone/>
              <a:defRPr sz="6900" b="1">
                <a:solidFill>
                  <a:srgbClr val="FFFFFF"/>
                </a:solidFill>
                <a:latin typeface="DejaVu Sans"/>
                <a:ea typeface="DejaVu Sans"/>
                <a:cs typeface="DejaVu Sans"/>
              </a:defRPr>
            </a:lvl3pPr>
            <a:lvl4pPr>
              <a:buNone/>
              <a:defRPr sz="6900" b="1">
                <a:solidFill>
                  <a:srgbClr val="FFFFFF"/>
                </a:solidFill>
                <a:latin typeface="DejaVu Sans"/>
                <a:ea typeface="DejaVu Sans"/>
                <a:cs typeface="DejaVu Sans"/>
              </a:defRPr>
            </a:lvl4pPr>
            <a:lvl5pPr>
              <a:buNone/>
              <a:defRPr sz="6900" b="1">
                <a:solidFill>
                  <a:srgbClr val="FFFFFF"/>
                </a:solidFill>
                <a:latin typeface="DejaVu Sans"/>
                <a:ea typeface="DejaVu Sans"/>
                <a:cs typeface="DejaVu Sans"/>
              </a:defRPr>
            </a:lvl5pPr>
            <a:lvl6pPr>
              <a:buNone/>
              <a:defRPr sz="6900" b="1">
                <a:solidFill>
                  <a:srgbClr val="FFFFFF"/>
                </a:solidFill>
                <a:latin typeface="DejaVu Sans"/>
                <a:ea typeface="DejaVu Sans"/>
                <a:cs typeface="DejaVu Sans"/>
              </a:defRPr>
            </a:lvl6pPr>
            <a:lvl7pPr>
              <a:buNone/>
              <a:defRPr sz="6900" b="1">
                <a:solidFill>
                  <a:srgbClr val="FFFFFF"/>
                </a:solidFill>
                <a:latin typeface="DejaVu Sans"/>
                <a:ea typeface="DejaVu Sans"/>
                <a:cs typeface="DejaVu Sans"/>
              </a:defRPr>
            </a:lvl7pPr>
            <a:lvl8pPr>
              <a:buNone/>
              <a:defRPr sz="6900" b="1">
                <a:solidFill>
                  <a:srgbClr val="FFFFFF"/>
                </a:solidFill>
                <a:latin typeface="DejaVu Sans"/>
                <a:ea typeface="DejaVu Sans"/>
                <a:cs typeface="DejaVu Sans"/>
              </a:defRPr>
            </a:lvl8pPr>
            <a:lvl9pPr>
              <a:buNone/>
              <a:defRPr sz="6900" b="1">
                <a:solidFill>
                  <a:srgbClr val="FFFFFF"/>
                </a:solidFill>
                <a:latin typeface="DejaVu Sans"/>
                <a:ea typeface="DejaVu Sans"/>
                <a:cs typeface="DejaVu Sans"/>
              </a:defRPr>
            </a:lvl9pPr>
          </a:lstStyle>
          <a:p xmlns:a="http://schemas.openxmlformats.org/drawingml/2006/main">
            <a:pPr>
              <a:buNone/>
              <a:defRPr sz="6900" b="1">
                <a:solidFill>
                  <a:srgbClr val="FFFFFF"/>
                </a:solidFill>
                <a:latin typeface="DejaVu Sans"/>
                <a:ea typeface="DejaVu Sans"/>
                <a:cs typeface="DejaVu Sans"/>
              </a:defRPr>
            </a:pPr>
            <a:r>
              <a:rPr sz="6900" b="1">
                <a:solidFill>
                  <a:srgbClr val="FFFFFF"/>
                </a:solidFill>
                <a:latin typeface="DejaVu Sans"/>
                <a:ea typeface="DejaVu Sans"/>
                <a:cs typeface="DejaVu Sans"/>
              </a:rPr>
              <a:t>PhysicsLocal</a:t>
            </a:r>
          </a:p>
        </p:txBody>
      </p:sp>
      <p:sp>
        <p:nvSpPr>
          <p:cNvPr id="3" name="cover-subtitle">
            <a:extLst xmlns:a="http://schemas.openxmlformats.org/drawingml/2006/main">
              <a:ext uri="{FF2B5EF4-FFF2-40B4-BE49-F238E27FC236}">
                <a16:creationId xmlns:a16="http://schemas.microsoft.com/office/drawing/2014/main" id="{2DF2BB8F-3025-44D6-B74E-D531B58FEBE8}"/>
              </a:ext>
            </a:extLst>
          </p:cNvPr>
          <p:cNvSpPr>
            <a:spLocks xmlns:a="http://schemas.openxmlformats.org/drawingml/2006/main" noGrp="1"/>
          </p:cNvSpPr>
          <p:nvPr/>
        </p:nvSpPr>
        <p:spPr>
          <a:xfrm xmlns:a="http://schemas.openxmlformats.org/drawingml/2006/main">
            <a:off x="838200" y="3095625"/>
            <a:ext cx="7620000"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450" b="0">
                <a:solidFill>
                  <a:srgbClr val="C4E7E4"/>
                </a:solidFill>
                <a:latin typeface="DejaVu Sans"/>
                <a:ea typeface="DejaVu Sans"/>
                <a:cs typeface="DejaVu Sans"/>
              </a:defRPr>
            </a:defPPr>
            <a:lvl1pPr>
              <a:buNone/>
              <a:defRPr sz="3450" b="0">
                <a:solidFill>
                  <a:srgbClr val="C4E7E4"/>
                </a:solidFill>
                <a:latin typeface="DejaVu Sans"/>
                <a:ea typeface="DejaVu Sans"/>
                <a:cs typeface="DejaVu Sans"/>
              </a:defRPr>
            </a:lvl1pPr>
            <a:lvl2pPr>
              <a:buNone/>
              <a:defRPr sz="3450" b="0">
                <a:solidFill>
                  <a:srgbClr val="C4E7E4"/>
                </a:solidFill>
                <a:latin typeface="DejaVu Sans"/>
                <a:ea typeface="DejaVu Sans"/>
                <a:cs typeface="DejaVu Sans"/>
              </a:defRPr>
            </a:lvl2pPr>
            <a:lvl3pPr>
              <a:buNone/>
              <a:defRPr sz="3450" b="0">
                <a:solidFill>
                  <a:srgbClr val="C4E7E4"/>
                </a:solidFill>
                <a:latin typeface="DejaVu Sans"/>
                <a:ea typeface="DejaVu Sans"/>
                <a:cs typeface="DejaVu Sans"/>
              </a:defRPr>
            </a:lvl3pPr>
            <a:lvl4pPr>
              <a:buNone/>
              <a:defRPr sz="3450" b="0">
                <a:solidFill>
                  <a:srgbClr val="C4E7E4"/>
                </a:solidFill>
                <a:latin typeface="DejaVu Sans"/>
                <a:ea typeface="DejaVu Sans"/>
                <a:cs typeface="DejaVu Sans"/>
              </a:defRPr>
            </a:lvl4pPr>
            <a:lvl5pPr>
              <a:buNone/>
              <a:defRPr sz="3450" b="0">
                <a:solidFill>
                  <a:srgbClr val="C4E7E4"/>
                </a:solidFill>
                <a:latin typeface="DejaVu Sans"/>
                <a:ea typeface="DejaVu Sans"/>
                <a:cs typeface="DejaVu Sans"/>
              </a:defRPr>
            </a:lvl5pPr>
            <a:lvl6pPr>
              <a:buNone/>
              <a:defRPr sz="3450" b="0">
                <a:solidFill>
                  <a:srgbClr val="C4E7E4"/>
                </a:solidFill>
                <a:latin typeface="DejaVu Sans"/>
                <a:ea typeface="DejaVu Sans"/>
                <a:cs typeface="DejaVu Sans"/>
              </a:defRPr>
            </a:lvl6pPr>
            <a:lvl7pPr>
              <a:buNone/>
              <a:defRPr sz="3450" b="0">
                <a:solidFill>
                  <a:srgbClr val="C4E7E4"/>
                </a:solidFill>
                <a:latin typeface="DejaVu Sans"/>
                <a:ea typeface="DejaVu Sans"/>
                <a:cs typeface="DejaVu Sans"/>
              </a:defRPr>
            </a:lvl7pPr>
            <a:lvl8pPr>
              <a:buNone/>
              <a:defRPr sz="3450" b="0">
                <a:solidFill>
                  <a:srgbClr val="C4E7E4"/>
                </a:solidFill>
                <a:latin typeface="DejaVu Sans"/>
                <a:ea typeface="DejaVu Sans"/>
                <a:cs typeface="DejaVu Sans"/>
              </a:defRPr>
            </a:lvl8pPr>
            <a:lvl9pPr>
              <a:buNone/>
              <a:defRPr sz="3450" b="0">
                <a:solidFill>
                  <a:srgbClr val="C4E7E4"/>
                </a:solidFill>
                <a:latin typeface="DejaVu Sans"/>
                <a:ea typeface="DejaVu Sans"/>
                <a:cs typeface="DejaVu Sans"/>
              </a:defRPr>
            </a:lvl9pPr>
          </a:lstStyle>
          <a:p xmlns:a="http://schemas.openxmlformats.org/drawingml/2006/main">
            <a:pPr>
              <a:buNone/>
              <a:defRPr sz="3450" b="0">
                <a:solidFill>
                  <a:srgbClr val="C4E7E4"/>
                </a:solidFill>
                <a:latin typeface="DejaVu Sans"/>
                <a:ea typeface="DejaVu Sans"/>
                <a:cs typeface="DejaVu Sans"/>
              </a:defRPr>
            </a:pPr>
            <a:r>
              <a:rPr sz="3450" b="0">
                <a:solidFill>
                  <a:srgbClr val="C4E7E4"/>
                </a:solidFill>
                <a:latin typeface="DejaVu Sans"/>
                <a:ea typeface="DejaVu Sans"/>
                <a:cs typeface="DejaVu Sans"/>
              </a:rPr>
              <a:t>An offline physics</a:t>
            </a:r>
          </a:p>
          <a:p xmlns:a="http://schemas.openxmlformats.org/drawingml/2006/main">
            <a:pPr>
              <a:buNone/>
              <a:defRPr sz="3450" b="0">
                <a:solidFill>
                  <a:srgbClr val="C4E7E4"/>
                </a:solidFill>
                <a:latin typeface="DejaVu Sans"/>
                <a:ea typeface="DejaVu Sans"/>
                <a:cs typeface="DejaVu Sans"/>
              </a:defRPr>
            </a:pPr>
            <a:r>
              <a:rPr sz="3450" b="0">
                <a:solidFill>
                  <a:srgbClr val="C4E7E4"/>
                </a:solidFill>
                <a:latin typeface="DejaVu Sans"/>
                <a:ea typeface="DejaVu Sans"/>
                <a:cs typeface="DejaVu Sans"/>
              </a:rPr>
              <a:t>revision assistant</a:t>
            </a:r>
          </a:p>
        </p:txBody>
      </p:sp>
      <p:sp>
        <p:nvSpPr>
          <p:cNvPr id="4" name="cover-purpose">
            <a:extLst xmlns:a="http://schemas.openxmlformats.org/drawingml/2006/main">
              <a:ext uri="{FF2B5EF4-FFF2-40B4-BE49-F238E27FC236}">
                <a16:creationId xmlns:a16="http://schemas.microsoft.com/office/drawing/2014/main" id="{493B98C9-BC8D-43AC-8513-ACEE59CA8AFC}"/>
              </a:ext>
            </a:extLst>
          </p:cNvPr>
          <p:cNvSpPr>
            <a:spLocks xmlns:a="http://schemas.openxmlformats.org/drawingml/2006/main" noGrp="1"/>
          </p:cNvSpPr>
          <p:nvPr/>
        </p:nvSpPr>
        <p:spPr>
          <a:xfrm xmlns:a="http://schemas.openxmlformats.org/drawingml/2006/main">
            <a:off x="838200" y="5057775"/>
            <a:ext cx="7620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325" b="0">
                <a:solidFill>
                  <a:srgbClr val="E1EAEE"/>
                </a:solidFill>
                <a:latin typeface="DejaVu Sans"/>
                <a:ea typeface="DejaVu Sans"/>
                <a:cs typeface="DejaVu Sans"/>
              </a:defRPr>
            </a:defPPr>
            <a:lvl1pPr>
              <a:buNone/>
              <a:defRPr sz="2325" b="0">
                <a:solidFill>
                  <a:srgbClr val="E1EAEE"/>
                </a:solidFill>
                <a:latin typeface="DejaVu Sans"/>
                <a:ea typeface="DejaVu Sans"/>
                <a:cs typeface="DejaVu Sans"/>
              </a:defRPr>
            </a:lvl1pPr>
            <a:lvl2pPr>
              <a:buNone/>
              <a:defRPr sz="2325" b="0">
                <a:solidFill>
                  <a:srgbClr val="E1EAEE"/>
                </a:solidFill>
                <a:latin typeface="DejaVu Sans"/>
                <a:ea typeface="DejaVu Sans"/>
                <a:cs typeface="DejaVu Sans"/>
              </a:defRPr>
            </a:lvl2pPr>
            <a:lvl3pPr>
              <a:buNone/>
              <a:defRPr sz="2325" b="0">
                <a:solidFill>
                  <a:srgbClr val="E1EAEE"/>
                </a:solidFill>
                <a:latin typeface="DejaVu Sans"/>
                <a:ea typeface="DejaVu Sans"/>
                <a:cs typeface="DejaVu Sans"/>
              </a:defRPr>
            </a:lvl3pPr>
            <a:lvl4pPr>
              <a:buNone/>
              <a:defRPr sz="2325" b="0">
                <a:solidFill>
                  <a:srgbClr val="E1EAEE"/>
                </a:solidFill>
                <a:latin typeface="DejaVu Sans"/>
                <a:ea typeface="DejaVu Sans"/>
                <a:cs typeface="DejaVu Sans"/>
              </a:defRPr>
            </a:lvl4pPr>
            <a:lvl5pPr>
              <a:buNone/>
              <a:defRPr sz="2325" b="0">
                <a:solidFill>
                  <a:srgbClr val="E1EAEE"/>
                </a:solidFill>
                <a:latin typeface="DejaVu Sans"/>
                <a:ea typeface="DejaVu Sans"/>
                <a:cs typeface="DejaVu Sans"/>
              </a:defRPr>
            </a:lvl5pPr>
            <a:lvl6pPr>
              <a:buNone/>
              <a:defRPr sz="2325" b="0">
                <a:solidFill>
                  <a:srgbClr val="E1EAEE"/>
                </a:solidFill>
                <a:latin typeface="DejaVu Sans"/>
                <a:ea typeface="DejaVu Sans"/>
                <a:cs typeface="DejaVu Sans"/>
              </a:defRPr>
            </a:lvl6pPr>
            <a:lvl7pPr>
              <a:buNone/>
              <a:defRPr sz="2325" b="0">
                <a:solidFill>
                  <a:srgbClr val="E1EAEE"/>
                </a:solidFill>
                <a:latin typeface="DejaVu Sans"/>
                <a:ea typeface="DejaVu Sans"/>
                <a:cs typeface="DejaVu Sans"/>
              </a:defRPr>
            </a:lvl7pPr>
            <a:lvl8pPr>
              <a:buNone/>
              <a:defRPr sz="2325" b="0">
                <a:solidFill>
                  <a:srgbClr val="E1EAEE"/>
                </a:solidFill>
                <a:latin typeface="DejaVu Sans"/>
                <a:ea typeface="DejaVu Sans"/>
                <a:cs typeface="DejaVu Sans"/>
              </a:defRPr>
            </a:lvl8pPr>
            <a:lvl9pPr>
              <a:buNone/>
              <a:defRPr sz="2325" b="0">
                <a:solidFill>
                  <a:srgbClr val="E1EAEE"/>
                </a:solidFill>
                <a:latin typeface="DejaVu Sans"/>
                <a:ea typeface="DejaVu Sans"/>
                <a:cs typeface="DejaVu Sans"/>
              </a:defRPr>
            </a:lvl9pPr>
          </a:lstStyle>
          <a:p xmlns:a="http://schemas.openxmlformats.org/drawingml/2006/main">
            <a:pPr>
              <a:buNone/>
              <a:defRPr sz="2325" b="0">
                <a:solidFill>
                  <a:srgbClr val="E1EAEE"/>
                </a:solidFill>
                <a:latin typeface="DejaVu Sans"/>
                <a:ea typeface="DejaVu Sans"/>
                <a:cs typeface="DejaVu Sans"/>
              </a:defRPr>
            </a:pPr>
            <a:r>
              <a:rPr sz="2325" b="0">
                <a:solidFill>
                  <a:srgbClr val="E1EAEE"/>
                </a:solidFill>
                <a:latin typeface="DejaVu Sans"/>
                <a:ea typeface="DejaVu Sans"/>
                <a:cs typeface="DejaVu Sans"/>
              </a:rPr>
              <a:t>Ask a question. Read a short answer.</a:t>
            </a:r>
          </a:p>
          <a:p xmlns:a="http://schemas.openxmlformats.org/drawingml/2006/main">
            <a:pPr>
              <a:buNone/>
              <a:defRPr sz="2325" b="0">
                <a:solidFill>
                  <a:srgbClr val="E1EAEE"/>
                </a:solidFill>
                <a:latin typeface="DejaVu Sans"/>
                <a:ea typeface="DejaVu Sans"/>
                <a:cs typeface="DejaVu Sans"/>
              </a:defRPr>
            </a:pPr>
            <a:r>
              <a:rPr sz="2325" b="0">
                <a:solidFill>
                  <a:srgbClr val="E1EAEE"/>
                </a:solidFill>
                <a:latin typeface="DejaVu Sans"/>
                <a:ea typeface="DejaVu Sans"/>
                <a:cs typeface="DejaVu Sans"/>
              </a:rPr>
              <a:t>Check the supporting MIT OCW notes.</a:t>
            </a:r>
          </a:p>
        </p:txBody>
      </p:sp>
      <p:sp>
        <p:nvSpPr>
          <p:cNvPr id="5" name="cover-scope">
            <a:extLst xmlns:a="http://schemas.openxmlformats.org/drawingml/2006/main">
              <a:ext uri="{FF2B5EF4-FFF2-40B4-BE49-F238E27FC236}">
                <a16:creationId xmlns:a16="http://schemas.microsoft.com/office/drawing/2014/main" id="{1EAD462A-674B-47F9-A9EC-CE194B56B3F0}"/>
              </a:ext>
            </a:extLst>
          </p:cNvPr>
          <p:cNvSpPr>
            <a:spLocks xmlns:a="http://schemas.openxmlformats.org/drawingml/2006/main" noGrp="1"/>
          </p:cNvSpPr>
          <p:nvPr/>
        </p:nvSpPr>
        <p:spPr>
          <a:xfrm xmlns:a="http://schemas.openxmlformats.org/drawingml/2006/main">
            <a:off x="838200" y="7029450"/>
            <a:ext cx="7524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0">
                <a:solidFill>
                  <a:srgbClr val="A9C6CD"/>
                </a:solidFill>
                <a:latin typeface="DejaVu Sans"/>
                <a:ea typeface="DejaVu Sans"/>
                <a:cs typeface="DejaVu Sans"/>
              </a:defRPr>
            </a:defPPr>
            <a:lvl1pPr>
              <a:buNone/>
              <a:defRPr sz="1950" b="0">
                <a:solidFill>
                  <a:srgbClr val="A9C6CD"/>
                </a:solidFill>
                <a:latin typeface="DejaVu Sans"/>
                <a:ea typeface="DejaVu Sans"/>
                <a:cs typeface="DejaVu Sans"/>
              </a:defRPr>
            </a:lvl1pPr>
            <a:lvl2pPr>
              <a:buNone/>
              <a:defRPr sz="1950" b="0">
                <a:solidFill>
                  <a:srgbClr val="A9C6CD"/>
                </a:solidFill>
                <a:latin typeface="DejaVu Sans"/>
                <a:ea typeface="DejaVu Sans"/>
                <a:cs typeface="DejaVu Sans"/>
              </a:defRPr>
            </a:lvl2pPr>
            <a:lvl3pPr>
              <a:buNone/>
              <a:defRPr sz="1950" b="0">
                <a:solidFill>
                  <a:srgbClr val="A9C6CD"/>
                </a:solidFill>
                <a:latin typeface="DejaVu Sans"/>
                <a:ea typeface="DejaVu Sans"/>
                <a:cs typeface="DejaVu Sans"/>
              </a:defRPr>
            </a:lvl3pPr>
            <a:lvl4pPr>
              <a:buNone/>
              <a:defRPr sz="1950" b="0">
                <a:solidFill>
                  <a:srgbClr val="A9C6CD"/>
                </a:solidFill>
                <a:latin typeface="DejaVu Sans"/>
                <a:ea typeface="DejaVu Sans"/>
                <a:cs typeface="DejaVu Sans"/>
              </a:defRPr>
            </a:lvl4pPr>
            <a:lvl5pPr>
              <a:buNone/>
              <a:defRPr sz="1950" b="0">
                <a:solidFill>
                  <a:srgbClr val="A9C6CD"/>
                </a:solidFill>
                <a:latin typeface="DejaVu Sans"/>
                <a:ea typeface="DejaVu Sans"/>
                <a:cs typeface="DejaVu Sans"/>
              </a:defRPr>
            </a:lvl5pPr>
            <a:lvl6pPr>
              <a:buNone/>
              <a:defRPr sz="1950" b="0">
                <a:solidFill>
                  <a:srgbClr val="A9C6CD"/>
                </a:solidFill>
                <a:latin typeface="DejaVu Sans"/>
                <a:ea typeface="DejaVu Sans"/>
                <a:cs typeface="DejaVu Sans"/>
              </a:defRPr>
            </a:lvl6pPr>
            <a:lvl7pPr>
              <a:buNone/>
              <a:defRPr sz="1950" b="0">
                <a:solidFill>
                  <a:srgbClr val="A9C6CD"/>
                </a:solidFill>
                <a:latin typeface="DejaVu Sans"/>
                <a:ea typeface="DejaVu Sans"/>
                <a:cs typeface="DejaVu Sans"/>
              </a:defRPr>
            </a:lvl7pPr>
            <a:lvl8pPr>
              <a:buNone/>
              <a:defRPr sz="1950" b="0">
                <a:solidFill>
                  <a:srgbClr val="A9C6CD"/>
                </a:solidFill>
                <a:latin typeface="DejaVu Sans"/>
                <a:ea typeface="DejaVu Sans"/>
                <a:cs typeface="DejaVu Sans"/>
              </a:defRPr>
            </a:lvl8pPr>
            <a:lvl9pPr>
              <a:buNone/>
              <a:defRPr sz="1950" b="0">
                <a:solidFill>
                  <a:srgbClr val="A9C6CD"/>
                </a:solidFill>
                <a:latin typeface="DejaVu Sans"/>
                <a:ea typeface="DejaVu Sans"/>
                <a:cs typeface="DejaVu Sans"/>
              </a:defRPr>
            </a:lvl9pPr>
          </a:lstStyle>
          <a:p xmlns:a="http://schemas.openxmlformats.org/drawingml/2006/main">
            <a:pPr>
              <a:buNone/>
              <a:defRPr sz="1950" b="0">
                <a:solidFill>
                  <a:srgbClr val="A9C6CD"/>
                </a:solidFill>
                <a:latin typeface="DejaVu Sans"/>
                <a:ea typeface="DejaVu Sans"/>
                <a:cs typeface="DejaVu Sans"/>
              </a:defRPr>
            </a:pPr>
            <a:r>
              <a:rPr sz="1950" b="0">
                <a:solidFill>
                  <a:srgbClr val="A9C6CD"/>
                </a:solidFill>
                <a:latin typeface="DejaVu Sans"/>
                <a:ea typeface="DejaVu Sans"/>
                <a:cs typeface="DejaVu Sans"/>
              </a:rPr>
              <a:t>Small group Deep Learning project</a:t>
            </a:r>
          </a:p>
          <a:p xmlns:a="http://schemas.openxmlformats.org/drawingml/2006/main">
            <a:pPr>
              <a:buNone/>
              <a:defRPr sz="1950" b="0">
                <a:solidFill>
                  <a:srgbClr val="A9C6CD"/>
                </a:solidFill>
                <a:latin typeface="DejaVu Sans"/>
                <a:ea typeface="DejaVu Sans"/>
                <a:cs typeface="DejaVu Sans"/>
              </a:defRPr>
            </a:pPr>
            <a:r>
              <a:rPr sz="1950" b="0">
                <a:solidFill>
                  <a:srgbClr val="A9C6CD"/>
                </a:solidFill>
                <a:latin typeface="DejaVu Sans"/>
                <a:ea typeface="DejaVu Sans"/>
                <a:cs typeface="DejaVu Sans"/>
              </a:rPr>
              <a:t>Four source chapters. Two pretrained models.</a:t>
            </a:r>
          </a:p>
        </p:txBody>
      </p:sp>
    </p:spTree>
    <p:extLst>
      <p:ext uri="{BB962C8B-B14F-4D97-AF65-F5344CB8AC3E}">
        <p14:creationId xmlns:p14="http://schemas.microsoft.com/office/powerpoint/2010/main" val="166201406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lide-title">
            <a:extLst xmlns:a="http://schemas.openxmlformats.org/drawingml/2006/main">
              <a:ext uri="{FF2B5EF4-FFF2-40B4-BE49-F238E27FC236}">
                <a16:creationId xmlns:a16="http://schemas.microsoft.com/office/drawing/2014/main" id="{6109304F-32B9-4D22-9655-F47E04CDD5BF}"/>
              </a:ext>
            </a:extLst>
          </p:cNvPr>
          <p:cNvSpPr>
            <a:spLocks xmlns:a="http://schemas.openxmlformats.org/drawingml/2006/main" noGrp="1"/>
          </p:cNvSpPr>
          <p:nvPr/>
        </p:nvSpPr>
        <p:spPr>
          <a:xfrm xmlns:a="http://schemas.openxmlformats.org/drawingml/2006/main">
            <a:off x="762000" y="571500"/>
            <a:ext cx="13620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450" b="1">
                <a:solidFill>
                  <a:srgbClr val="102B3A"/>
                </a:solidFill>
                <a:latin typeface="DejaVu Sans"/>
                <a:ea typeface="DejaVu Sans"/>
                <a:cs typeface="DejaVu Sans"/>
              </a:defRPr>
            </a:defPPr>
            <a:lvl1pPr>
              <a:buNone/>
              <a:defRPr sz="3450" b="1">
                <a:solidFill>
                  <a:srgbClr val="102B3A"/>
                </a:solidFill>
                <a:latin typeface="DejaVu Sans"/>
                <a:ea typeface="DejaVu Sans"/>
                <a:cs typeface="DejaVu Sans"/>
              </a:defRPr>
            </a:lvl1pPr>
            <a:lvl2pPr>
              <a:buNone/>
              <a:defRPr sz="3450" b="1">
                <a:solidFill>
                  <a:srgbClr val="102B3A"/>
                </a:solidFill>
                <a:latin typeface="DejaVu Sans"/>
                <a:ea typeface="DejaVu Sans"/>
                <a:cs typeface="DejaVu Sans"/>
              </a:defRPr>
            </a:lvl2pPr>
            <a:lvl3pPr>
              <a:buNone/>
              <a:defRPr sz="3450" b="1">
                <a:solidFill>
                  <a:srgbClr val="102B3A"/>
                </a:solidFill>
                <a:latin typeface="DejaVu Sans"/>
                <a:ea typeface="DejaVu Sans"/>
                <a:cs typeface="DejaVu Sans"/>
              </a:defRPr>
            </a:lvl3pPr>
            <a:lvl4pPr>
              <a:buNone/>
              <a:defRPr sz="3450" b="1">
                <a:solidFill>
                  <a:srgbClr val="102B3A"/>
                </a:solidFill>
                <a:latin typeface="DejaVu Sans"/>
                <a:ea typeface="DejaVu Sans"/>
                <a:cs typeface="DejaVu Sans"/>
              </a:defRPr>
            </a:lvl4pPr>
            <a:lvl5pPr>
              <a:buNone/>
              <a:defRPr sz="3450" b="1">
                <a:solidFill>
                  <a:srgbClr val="102B3A"/>
                </a:solidFill>
                <a:latin typeface="DejaVu Sans"/>
                <a:ea typeface="DejaVu Sans"/>
                <a:cs typeface="DejaVu Sans"/>
              </a:defRPr>
            </a:lvl5pPr>
            <a:lvl6pPr>
              <a:buNone/>
              <a:defRPr sz="3450" b="1">
                <a:solidFill>
                  <a:srgbClr val="102B3A"/>
                </a:solidFill>
                <a:latin typeface="DejaVu Sans"/>
                <a:ea typeface="DejaVu Sans"/>
                <a:cs typeface="DejaVu Sans"/>
              </a:defRPr>
            </a:lvl6pPr>
            <a:lvl7pPr>
              <a:buNone/>
              <a:defRPr sz="3450" b="1">
                <a:solidFill>
                  <a:srgbClr val="102B3A"/>
                </a:solidFill>
                <a:latin typeface="DejaVu Sans"/>
                <a:ea typeface="DejaVu Sans"/>
                <a:cs typeface="DejaVu Sans"/>
              </a:defRPr>
            </a:lvl7pPr>
            <a:lvl8pPr>
              <a:buNone/>
              <a:defRPr sz="3450" b="1">
                <a:solidFill>
                  <a:srgbClr val="102B3A"/>
                </a:solidFill>
                <a:latin typeface="DejaVu Sans"/>
                <a:ea typeface="DejaVu Sans"/>
                <a:cs typeface="DejaVu Sans"/>
              </a:defRPr>
            </a:lvl8pPr>
            <a:lvl9pPr>
              <a:buNone/>
              <a:defRPr sz="3450" b="1">
                <a:solidFill>
                  <a:srgbClr val="102B3A"/>
                </a:solidFill>
                <a:latin typeface="DejaVu Sans"/>
                <a:ea typeface="DejaVu Sans"/>
                <a:cs typeface="DejaVu Sans"/>
              </a:defRPr>
            </a:lvl9pPr>
          </a:lstStyle>
          <a:p xmlns:a="http://schemas.openxmlformats.org/drawingml/2006/main">
            <a:pPr>
              <a:buNone/>
              <a:defRPr sz="3450" b="1">
                <a:solidFill>
                  <a:srgbClr val="102B3A"/>
                </a:solidFill>
                <a:latin typeface="DejaVu Sans"/>
                <a:ea typeface="DejaVu Sans"/>
                <a:cs typeface="DejaVu Sans"/>
              </a:defRPr>
            </a:pPr>
            <a:r>
              <a:rPr sz="3450" b="1">
                <a:solidFill>
                  <a:srgbClr val="102B3A"/>
                </a:solidFill>
                <a:latin typeface="DejaVu Sans"/>
                <a:ea typeface="DejaVu Sans"/>
                <a:cs typeface="DejaVu Sans"/>
              </a:rPr>
              <a:t>Project aim and objectives</a:t>
            </a:r>
          </a:p>
        </p:txBody>
      </p:sp>
      <p:sp>
        <p:nvSpPr>
          <p:cNvPr id="2" name="slide-number">
            <a:extLst xmlns:a="http://schemas.openxmlformats.org/drawingml/2006/main">
              <a:ext uri="{FF2B5EF4-FFF2-40B4-BE49-F238E27FC236}">
                <a16:creationId xmlns:a16="http://schemas.microsoft.com/office/drawing/2014/main" id="{DF78EB0C-6FA3-4373-B65F-C4E58ED65ABD}"/>
              </a:ext>
            </a:extLst>
          </p:cNvPr>
          <p:cNvSpPr>
            <a:spLocks xmlns:a="http://schemas.openxmlformats.org/drawingml/2006/main" noGrp="1"/>
          </p:cNvSpPr>
          <p:nvPr/>
        </p:nvSpPr>
        <p:spPr>
          <a:xfrm xmlns:a="http://schemas.openxmlformats.org/drawingml/2006/main">
            <a:off x="13906500" y="795337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0">
                <a:solidFill>
                  <a:srgbClr val="526975"/>
                </a:solidFill>
                <a:latin typeface="DejaVu Sans"/>
                <a:ea typeface="DejaVu Sans"/>
                <a:cs typeface="DejaVu Sans"/>
              </a:defRPr>
            </a:defPPr>
            <a:lvl1pPr>
              <a:buNone/>
              <a:defRPr sz="1575" b="0">
                <a:solidFill>
                  <a:srgbClr val="526975"/>
                </a:solidFill>
                <a:latin typeface="DejaVu Sans"/>
                <a:ea typeface="DejaVu Sans"/>
                <a:cs typeface="DejaVu Sans"/>
              </a:defRPr>
            </a:lvl1pPr>
            <a:lvl2pPr>
              <a:buNone/>
              <a:defRPr sz="1575" b="0">
                <a:solidFill>
                  <a:srgbClr val="526975"/>
                </a:solidFill>
                <a:latin typeface="DejaVu Sans"/>
                <a:ea typeface="DejaVu Sans"/>
                <a:cs typeface="DejaVu Sans"/>
              </a:defRPr>
            </a:lvl2pPr>
            <a:lvl3pPr>
              <a:buNone/>
              <a:defRPr sz="1575" b="0">
                <a:solidFill>
                  <a:srgbClr val="526975"/>
                </a:solidFill>
                <a:latin typeface="DejaVu Sans"/>
                <a:ea typeface="DejaVu Sans"/>
                <a:cs typeface="DejaVu Sans"/>
              </a:defRPr>
            </a:lvl3pPr>
            <a:lvl4pPr>
              <a:buNone/>
              <a:defRPr sz="1575" b="0">
                <a:solidFill>
                  <a:srgbClr val="526975"/>
                </a:solidFill>
                <a:latin typeface="DejaVu Sans"/>
                <a:ea typeface="DejaVu Sans"/>
                <a:cs typeface="DejaVu Sans"/>
              </a:defRPr>
            </a:lvl4pPr>
            <a:lvl5pPr>
              <a:buNone/>
              <a:defRPr sz="1575" b="0">
                <a:solidFill>
                  <a:srgbClr val="526975"/>
                </a:solidFill>
                <a:latin typeface="DejaVu Sans"/>
                <a:ea typeface="DejaVu Sans"/>
                <a:cs typeface="DejaVu Sans"/>
              </a:defRPr>
            </a:lvl5pPr>
            <a:lvl6pPr>
              <a:buNone/>
              <a:defRPr sz="1575" b="0">
                <a:solidFill>
                  <a:srgbClr val="526975"/>
                </a:solidFill>
                <a:latin typeface="DejaVu Sans"/>
                <a:ea typeface="DejaVu Sans"/>
                <a:cs typeface="DejaVu Sans"/>
              </a:defRPr>
            </a:lvl6pPr>
            <a:lvl7pPr>
              <a:buNone/>
              <a:defRPr sz="1575" b="0">
                <a:solidFill>
                  <a:srgbClr val="526975"/>
                </a:solidFill>
                <a:latin typeface="DejaVu Sans"/>
                <a:ea typeface="DejaVu Sans"/>
                <a:cs typeface="DejaVu Sans"/>
              </a:defRPr>
            </a:lvl7pPr>
            <a:lvl8pPr>
              <a:buNone/>
              <a:defRPr sz="1575" b="0">
                <a:solidFill>
                  <a:srgbClr val="526975"/>
                </a:solidFill>
                <a:latin typeface="DejaVu Sans"/>
                <a:ea typeface="DejaVu Sans"/>
                <a:cs typeface="DejaVu Sans"/>
              </a:defRPr>
            </a:lvl8pPr>
            <a:lvl9pPr>
              <a:buNone/>
              <a:defRPr sz="1575" b="0">
                <a:solidFill>
                  <a:srgbClr val="526975"/>
                </a:solidFill>
                <a:latin typeface="DejaVu Sans"/>
                <a:ea typeface="DejaVu Sans"/>
                <a:cs typeface="DejaVu Sans"/>
              </a:defRPr>
            </a:lvl9pPr>
          </a:lstStyle>
          <a:p xmlns:a="http://schemas.openxmlformats.org/drawingml/2006/main">
            <a:pPr>
              <a:buNone/>
              <a:defRPr sz="1575" b="0">
                <a:solidFill>
                  <a:srgbClr val="526975"/>
                </a:solidFill>
                <a:latin typeface="DejaVu Sans"/>
                <a:ea typeface="DejaVu Sans"/>
                <a:cs typeface="DejaVu Sans"/>
              </a:defRPr>
            </a:pPr>
            <a:r>
              <a:rPr sz="1575" b="0">
                <a:solidFill>
                  <a:srgbClr val="526975"/>
                </a:solidFill>
                <a:latin typeface="DejaVu Sans"/>
                <a:ea typeface="DejaVu Sans"/>
                <a:cs typeface="DejaVu Sans"/>
              </a:rPr>
              <a:t>02</a:t>
            </a:r>
          </a:p>
        </p:txBody>
      </p:sp>
      <p:sp>
        <p:nvSpPr>
          <p:cNvPr id="3" name="main-aim">
            <a:extLst xmlns:a="http://schemas.openxmlformats.org/drawingml/2006/main">
              <a:ext uri="{FF2B5EF4-FFF2-40B4-BE49-F238E27FC236}">
                <a16:creationId xmlns:a16="http://schemas.microsoft.com/office/drawing/2014/main" id="{3BE838E8-EADE-4A41-924A-4F799CC2E799}"/>
              </a:ext>
            </a:extLst>
          </p:cNvPr>
          <p:cNvSpPr>
            <a:spLocks xmlns:a="http://schemas.openxmlformats.org/drawingml/2006/main" noGrp="1"/>
          </p:cNvSpPr>
          <p:nvPr/>
        </p:nvSpPr>
        <p:spPr>
          <a:xfrm xmlns:a="http://schemas.openxmlformats.org/drawingml/2006/main">
            <a:off x="762000" y="1657350"/>
            <a:ext cx="13430250" cy="1571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775" b="1">
                <a:solidFill>
                  <a:srgbClr val="102B3A"/>
                </a:solidFill>
                <a:latin typeface="DejaVu Sans"/>
                <a:ea typeface="DejaVu Sans"/>
                <a:cs typeface="DejaVu Sans"/>
              </a:defRPr>
            </a:defPPr>
            <a:lvl1pPr>
              <a:buNone/>
              <a:defRPr sz="2775" b="1">
                <a:solidFill>
                  <a:srgbClr val="102B3A"/>
                </a:solidFill>
                <a:latin typeface="DejaVu Sans"/>
                <a:ea typeface="DejaVu Sans"/>
                <a:cs typeface="DejaVu Sans"/>
              </a:defRPr>
            </a:lvl1pPr>
            <a:lvl2pPr>
              <a:buNone/>
              <a:defRPr sz="2775" b="1">
                <a:solidFill>
                  <a:srgbClr val="102B3A"/>
                </a:solidFill>
                <a:latin typeface="DejaVu Sans"/>
                <a:ea typeface="DejaVu Sans"/>
                <a:cs typeface="DejaVu Sans"/>
              </a:defRPr>
            </a:lvl2pPr>
            <a:lvl3pPr>
              <a:buNone/>
              <a:defRPr sz="2775" b="1">
                <a:solidFill>
                  <a:srgbClr val="102B3A"/>
                </a:solidFill>
                <a:latin typeface="DejaVu Sans"/>
                <a:ea typeface="DejaVu Sans"/>
                <a:cs typeface="DejaVu Sans"/>
              </a:defRPr>
            </a:lvl3pPr>
            <a:lvl4pPr>
              <a:buNone/>
              <a:defRPr sz="2775" b="1">
                <a:solidFill>
                  <a:srgbClr val="102B3A"/>
                </a:solidFill>
                <a:latin typeface="DejaVu Sans"/>
                <a:ea typeface="DejaVu Sans"/>
                <a:cs typeface="DejaVu Sans"/>
              </a:defRPr>
            </a:lvl4pPr>
            <a:lvl5pPr>
              <a:buNone/>
              <a:defRPr sz="2775" b="1">
                <a:solidFill>
                  <a:srgbClr val="102B3A"/>
                </a:solidFill>
                <a:latin typeface="DejaVu Sans"/>
                <a:ea typeface="DejaVu Sans"/>
                <a:cs typeface="DejaVu Sans"/>
              </a:defRPr>
            </a:lvl5pPr>
            <a:lvl6pPr>
              <a:buNone/>
              <a:defRPr sz="2775" b="1">
                <a:solidFill>
                  <a:srgbClr val="102B3A"/>
                </a:solidFill>
                <a:latin typeface="DejaVu Sans"/>
                <a:ea typeface="DejaVu Sans"/>
                <a:cs typeface="DejaVu Sans"/>
              </a:defRPr>
            </a:lvl6pPr>
            <a:lvl7pPr>
              <a:buNone/>
              <a:defRPr sz="2775" b="1">
                <a:solidFill>
                  <a:srgbClr val="102B3A"/>
                </a:solidFill>
                <a:latin typeface="DejaVu Sans"/>
                <a:ea typeface="DejaVu Sans"/>
                <a:cs typeface="DejaVu Sans"/>
              </a:defRPr>
            </a:lvl7pPr>
            <a:lvl8pPr>
              <a:buNone/>
              <a:defRPr sz="2775" b="1">
                <a:solidFill>
                  <a:srgbClr val="102B3A"/>
                </a:solidFill>
                <a:latin typeface="DejaVu Sans"/>
                <a:ea typeface="DejaVu Sans"/>
                <a:cs typeface="DejaVu Sans"/>
              </a:defRPr>
            </a:lvl8pPr>
            <a:lvl9pPr>
              <a:buNone/>
              <a:defRPr sz="2775" b="1">
                <a:solidFill>
                  <a:srgbClr val="102B3A"/>
                </a:solidFill>
                <a:latin typeface="DejaVu Sans"/>
                <a:ea typeface="DejaVu Sans"/>
                <a:cs typeface="DejaVu Sans"/>
              </a:defRPr>
            </a:lvl9pPr>
          </a:lstStyle>
          <a:p xmlns:a="http://schemas.openxmlformats.org/drawingml/2006/main">
            <a:pPr>
              <a:buNone/>
              <a:defRPr sz="2775" b="1">
                <a:solidFill>
                  <a:srgbClr val="102B3A"/>
                </a:solidFill>
                <a:latin typeface="DejaVu Sans"/>
                <a:ea typeface="DejaVu Sans"/>
                <a:cs typeface="DejaVu Sans"/>
              </a:defRPr>
            </a:pPr>
            <a:r>
              <a:rPr sz="2775" b="1">
                <a:solidFill>
                  <a:srgbClr val="102B3A"/>
                </a:solidFill>
                <a:latin typeface="DejaVu Sans"/>
                <a:ea typeface="DejaVu Sans"/>
                <a:cs typeface="DejaVu Sans"/>
              </a:rPr>
              <a:t>Develop and evaluate a fully local Q&amp;A assistant that finds evidence in selected mechanics notes, generates a short answer with Flan-T5-small, and shows the source passage for verification.</a:t>
            </a:r>
          </a:p>
        </p:txBody>
      </p:sp>
      <p:sp>
        <p:nvSpPr>
          <p:cNvPr id="4" name="objective-1-label">
            <a:extLst xmlns:a="http://schemas.openxmlformats.org/drawingml/2006/main">
              <a:ext uri="{FF2B5EF4-FFF2-40B4-BE49-F238E27FC236}">
                <a16:creationId xmlns:a16="http://schemas.microsoft.com/office/drawing/2014/main" id="{AF4E8392-F676-4946-BFFD-B5C7BB8EE0FD}"/>
              </a:ext>
            </a:extLst>
          </p:cNvPr>
          <p:cNvSpPr>
            <a:spLocks xmlns:a="http://schemas.openxmlformats.org/drawingml/2006/main" noGrp="1"/>
          </p:cNvSpPr>
          <p:nvPr/>
        </p:nvSpPr>
        <p:spPr>
          <a:xfrm xmlns:a="http://schemas.openxmlformats.org/drawingml/2006/main">
            <a:off x="762000" y="3771900"/>
            <a:ext cx="6381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1">
                <a:solidFill>
                  <a:srgbClr val="007D78"/>
                </a:solidFill>
                <a:latin typeface="DejaVu Sans"/>
                <a:ea typeface="DejaVu Sans"/>
                <a:cs typeface="DejaVu Sans"/>
              </a:defRPr>
            </a:defPPr>
            <a:lvl1pPr>
              <a:buNone/>
              <a:defRPr sz="2250" b="1">
                <a:solidFill>
                  <a:srgbClr val="007D78"/>
                </a:solidFill>
                <a:latin typeface="DejaVu Sans"/>
                <a:ea typeface="DejaVu Sans"/>
                <a:cs typeface="DejaVu Sans"/>
              </a:defRPr>
            </a:lvl1pPr>
            <a:lvl2pPr>
              <a:buNone/>
              <a:defRPr sz="2250" b="1">
                <a:solidFill>
                  <a:srgbClr val="007D78"/>
                </a:solidFill>
                <a:latin typeface="DejaVu Sans"/>
                <a:ea typeface="DejaVu Sans"/>
                <a:cs typeface="DejaVu Sans"/>
              </a:defRPr>
            </a:lvl2pPr>
            <a:lvl3pPr>
              <a:buNone/>
              <a:defRPr sz="2250" b="1">
                <a:solidFill>
                  <a:srgbClr val="007D78"/>
                </a:solidFill>
                <a:latin typeface="DejaVu Sans"/>
                <a:ea typeface="DejaVu Sans"/>
                <a:cs typeface="DejaVu Sans"/>
              </a:defRPr>
            </a:lvl3pPr>
            <a:lvl4pPr>
              <a:buNone/>
              <a:defRPr sz="2250" b="1">
                <a:solidFill>
                  <a:srgbClr val="007D78"/>
                </a:solidFill>
                <a:latin typeface="DejaVu Sans"/>
                <a:ea typeface="DejaVu Sans"/>
                <a:cs typeface="DejaVu Sans"/>
              </a:defRPr>
            </a:lvl4pPr>
            <a:lvl5pPr>
              <a:buNone/>
              <a:defRPr sz="2250" b="1">
                <a:solidFill>
                  <a:srgbClr val="007D78"/>
                </a:solidFill>
                <a:latin typeface="DejaVu Sans"/>
                <a:ea typeface="DejaVu Sans"/>
                <a:cs typeface="DejaVu Sans"/>
              </a:defRPr>
            </a:lvl5pPr>
            <a:lvl6pPr>
              <a:buNone/>
              <a:defRPr sz="2250" b="1">
                <a:solidFill>
                  <a:srgbClr val="007D78"/>
                </a:solidFill>
                <a:latin typeface="DejaVu Sans"/>
                <a:ea typeface="DejaVu Sans"/>
                <a:cs typeface="DejaVu Sans"/>
              </a:defRPr>
            </a:lvl6pPr>
            <a:lvl7pPr>
              <a:buNone/>
              <a:defRPr sz="2250" b="1">
                <a:solidFill>
                  <a:srgbClr val="007D78"/>
                </a:solidFill>
                <a:latin typeface="DejaVu Sans"/>
                <a:ea typeface="DejaVu Sans"/>
                <a:cs typeface="DejaVu Sans"/>
              </a:defRPr>
            </a:lvl7pPr>
            <a:lvl8pPr>
              <a:buNone/>
              <a:defRPr sz="2250" b="1">
                <a:solidFill>
                  <a:srgbClr val="007D78"/>
                </a:solidFill>
                <a:latin typeface="DejaVu Sans"/>
                <a:ea typeface="DejaVu Sans"/>
                <a:cs typeface="DejaVu Sans"/>
              </a:defRPr>
            </a:lvl8pPr>
            <a:lvl9pPr>
              <a:buNone/>
              <a:defRPr sz="2250" b="1">
                <a:solidFill>
                  <a:srgbClr val="007D78"/>
                </a:solidFill>
                <a:latin typeface="DejaVu Sans"/>
                <a:ea typeface="DejaVu Sans"/>
                <a:cs typeface="DejaVu Sans"/>
              </a:defRPr>
            </a:lvl9pPr>
          </a:lstStyle>
          <a:p xmlns:a="http://schemas.openxmlformats.org/drawingml/2006/main">
            <a:pPr>
              <a:buNone/>
              <a:defRPr sz="2250" b="1">
                <a:solidFill>
                  <a:srgbClr val="007D78"/>
                </a:solidFill>
                <a:latin typeface="DejaVu Sans"/>
                <a:ea typeface="DejaVu Sans"/>
                <a:cs typeface="DejaVu Sans"/>
              </a:defRPr>
            </a:pPr>
            <a:r>
              <a:rPr sz="2250" b="1">
                <a:solidFill>
                  <a:srgbClr val="007D78"/>
                </a:solidFill>
                <a:latin typeface="DejaVu Sans"/>
                <a:ea typeface="DejaVu Sans"/>
                <a:cs typeface="DejaVu Sans"/>
              </a:rPr>
              <a:t>1  Relevant retrieval</a:t>
            </a:r>
          </a:p>
        </p:txBody>
      </p:sp>
      <p:sp>
        <p:nvSpPr>
          <p:cNvPr id="5" name="objective-1">
            <a:extLst xmlns:a="http://schemas.openxmlformats.org/drawingml/2006/main">
              <a:ext uri="{FF2B5EF4-FFF2-40B4-BE49-F238E27FC236}">
                <a16:creationId xmlns:a16="http://schemas.microsoft.com/office/drawing/2014/main" id="{F2F7BA73-1CB8-458D-98F3-DF5F38E983F3}"/>
              </a:ext>
            </a:extLst>
          </p:cNvPr>
          <p:cNvSpPr>
            <a:spLocks xmlns:a="http://schemas.openxmlformats.org/drawingml/2006/main" noGrp="1"/>
          </p:cNvSpPr>
          <p:nvPr/>
        </p:nvSpPr>
        <p:spPr>
          <a:xfrm xmlns:a="http://schemas.openxmlformats.org/drawingml/2006/main">
            <a:off x="762000" y="4305300"/>
            <a:ext cx="63436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0">
                <a:solidFill>
                  <a:srgbClr val="193646"/>
                </a:solidFill>
                <a:latin typeface="DejaVu Sans"/>
                <a:ea typeface="DejaVu Sans"/>
                <a:cs typeface="DejaVu Sans"/>
              </a:defRPr>
            </a:defPPr>
            <a:lvl1pPr>
              <a:buNone/>
              <a:defRPr sz="2175" b="0">
                <a:solidFill>
                  <a:srgbClr val="193646"/>
                </a:solidFill>
                <a:latin typeface="DejaVu Sans"/>
                <a:ea typeface="DejaVu Sans"/>
                <a:cs typeface="DejaVu Sans"/>
              </a:defRPr>
            </a:lvl1pPr>
            <a:lvl2pPr>
              <a:buNone/>
              <a:defRPr sz="2175" b="0">
                <a:solidFill>
                  <a:srgbClr val="193646"/>
                </a:solidFill>
                <a:latin typeface="DejaVu Sans"/>
                <a:ea typeface="DejaVu Sans"/>
                <a:cs typeface="DejaVu Sans"/>
              </a:defRPr>
            </a:lvl2pPr>
            <a:lvl3pPr>
              <a:buNone/>
              <a:defRPr sz="2175" b="0">
                <a:solidFill>
                  <a:srgbClr val="193646"/>
                </a:solidFill>
                <a:latin typeface="DejaVu Sans"/>
                <a:ea typeface="DejaVu Sans"/>
                <a:cs typeface="DejaVu Sans"/>
              </a:defRPr>
            </a:lvl3pPr>
            <a:lvl4pPr>
              <a:buNone/>
              <a:defRPr sz="2175" b="0">
                <a:solidFill>
                  <a:srgbClr val="193646"/>
                </a:solidFill>
                <a:latin typeface="DejaVu Sans"/>
                <a:ea typeface="DejaVu Sans"/>
                <a:cs typeface="DejaVu Sans"/>
              </a:defRPr>
            </a:lvl4pPr>
            <a:lvl5pPr>
              <a:buNone/>
              <a:defRPr sz="2175" b="0">
                <a:solidFill>
                  <a:srgbClr val="193646"/>
                </a:solidFill>
                <a:latin typeface="DejaVu Sans"/>
                <a:ea typeface="DejaVu Sans"/>
                <a:cs typeface="DejaVu Sans"/>
              </a:defRPr>
            </a:lvl5pPr>
            <a:lvl6pPr>
              <a:buNone/>
              <a:defRPr sz="2175" b="0">
                <a:solidFill>
                  <a:srgbClr val="193646"/>
                </a:solidFill>
                <a:latin typeface="DejaVu Sans"/>
                <a:ea typeface="DejaVu Sans"/>
                <a:cs typeface="DejaVu Sans"/>
              </a:defRPr>
            </a:lvl6pPr>
            <a:lvl7pPr>
              <a:buNone/>
              <a:defRPr sz="2175" b="0">
                <a:solidFill>
                  <a:srgbClr val="193646"/>
                </a:solidFill>
                <a:latin typeface="DejaVu Sans"/>
                <a:ea typeface="DejaVu Sans"/>
                <a:cs typeface="DejaVu Sans"/>
              </a:defRPr>
            </a:lvl7pPr>
            <a:lvl8pPr>
              <a:buNone/>
              <a:defRPr sz="2175" b="0">
                <a:solidFill>
                  <a:srgbClr val="193646"/>
                </a:solidFill>
                <a:latin typeface="DejaVu Sans"/>
                <a:ea typeface="DejaVu Sans"/>
                <a:cs typeface="DejaVu Sans"/>
              </a:defRPr>
            </a:lvl8pPr>
            <a:lvl9pPr>
              <a:buNone/>
              <a:defRPr sz="2175" b="0">
                <a:solidFill>
                  <a:srgbClr val="193646"/>
                </a:solidFill>
                <a:latin typeface="DejaVu Sans"/>
                <a:ea typeface="DejaVu Sans"/>
                <a:cs typeface="DejaVu Sans"/>
              </a:defRPr>
            </a:lvl9pPr>
          </a:lstStyle>
          <a:p xmlns:a="http://schemas.openxmlformats.org/drawingml/2006/main">
            <a:pPr>
              <a:buNone/>
              <a:defRPr sz="2175" b="0">
                <a:solidFill>
                  <a:srgbClr val="193646"/>
                </a:solidFill>
                <a:latin typeface="DejaVu Sans"/>
                <a:ea typeface="DejaVu Sans"/>
                <a:cs typeface="DejaVu Sans"/>
              </a:defRPr>
            </a:pPr>
            <a:r>
              <a:rPr sz="2175" b="0">
                <a:solidFill>
                  <a:srgbClr val="193646"/>
                </a:solidFill>
                <a:latin typeface="DejaVu Sans"/>
                <a:ea typeface="DejaVu Sans"/>
                <a:cs typeface="DejaVu Sans"/>
              </a:rPr>
              <a:t>Find useful passages even when the question uses different words from the source notes.</a:t>
            </a:r>
          </a:p>
        </p:txBody>
      </p:sp>
      <p:sp>
        <p:nvSpPr>
          <p:cNvPr id="6" name="objective-2-label">
            <a:extLst xmlns:a="http://schemas.openxmlformats.org/drawingml/2006/main">
              <a:ext uri="{FF2B5EF4-FFF2-40B4-BE49-F238E27FC236}">
                <a16:creationId xmlns:a16="http://schemas.microsoft.com/office/drawing/2014/main" id="{FBDE7D84-536D-4FB4-8161-EDFE2EF153F1}"/>
              </a:ext>
            </a:extLst>
          </p:cNvPr>
          <p:cNvSpPr>
            <a:spLocks xmlns:a="http://schemas.openxmlformats.org/drawingml/2006/main" noGrp="1"/>
          </p:cNvSpPr>
          <p:nvPr/>
        </p:nvSpPr>
        <p:spPr>
          <a:xfrm xmlns:a="http://schemas.openxmlformats.org/drawingml/2006/main">
            <a:off x="8001000" y="3771900"/>
            <a:ext cx="6381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1">
                <a:solidFill>
                  <a:srgbClr val="007D78"/>
                </a:solidFill>
                <a:latin typeface="DejaVu Sans"/>
                <a:ea typeface="DejaVu Sans"/>
                <a:cs typeface="DejaVu Sans"/>
              </a:defRPr>
            </a:defPPr>
            <a:lvl1pPr>
              <a:buNone/>
              <a:defRPr sz="2250" b="1">
                <a:solidFill>
                  <a:srgbClr val="007D78"/>
                </a:solidFill>
                <a:latin typeface="DejaVu Sans"/>
                <a:ea typeface="DejaVu Sans"/>
                <a:cs typeface="DejaVu Sans"/>
              </a:defRPr>
            </a:lvl1pPr>
            <a:lvl2pPr>
              <a:buNone/>
              <a:defRPr sz="2250" b="1">
                <a:solidFill>
                  <a:srgbClr val="007D78"/>
                </a:solidFill>
                <a:latin typeface="DejaVu Sans"/>
                <a:ea typeface="DejaVu Sans"/>
                <a:cs typeface="DejaVu Sans"/>
              </a:defRPr>
            </a:lvl2pPr>
            <a:lvl3pPr>
              <a:buNone/>
              <a:defRPr sz="2250" b="1">
                <a:solidFill>
                  <a:srgbClr val="007D78"/>
                </a:solidFill>
                <a:latin typeface="DejaVu Sans"/>
                <a:ea typeface="DejaVu Sans"/>
                <a:cs typeface="DejaVu Sans"/>
              </a:defRPr>
            </a:lvl3pPr>
            <a:lvl4pPr>
              <a:buNone/>
              <a:defRPr sz="2250" b="1">
                <a:solidFill>
                  <a:srgbClr val="007D78"/>
                </a:solidFill>
                <a:latin typeface="DejaVu Sans"/>
                <a:ea typeface="DejaVu Sans"/>
                <a:cs typeface="DejaVu Sans"/>
              </a:defRPr>
            </a:lvl4pPr>
            <a:lvl5pPr>
              <a:buNone/>
              <a:defRPr sz="2250" b="1">
                <a:solidFill>
                  <a:srgbClr val="007D78"/>
                </a:solidFill>
                <a:latin typeface="DejaVu Sans"/>
                <a:ea typeface="DejaVu Sans"/>
                <a:cs typeface="DejaVu Sans"/>
              </a:defRPr>
            </a:lvl5pPr>
            <a:lvl6pPr>
              <a:buNone/>
              <a:defRPr sz="2250" b="1">
                <a:solidFill>
                  <a:srgbClr val="007D78"/>
                </a:solidFill>
                <a:latin typeface="DejaVu Sans"/>
                <a:ea typeface="DejaVu Sans"/>
                <a:cs typeface="DejaVu Sans"/>
              </a:defRPr>
            </a:lvl6pPr>
            <a:lvl7pPr>
              <a:buNone/>
              <a:defRPr sz="2250" b="1">
                <a:solidFill>
                  <a:srgbClr val="007D78"/>
                </a:solidFill>
                <a:latin typeface="DejaVu Sans"/>
                <a:ea typeface="DejaVu Sans"/>
                <a:cs typeface="DejaVu Sans"/>
              </a:defRPr>
            </a:lvl7pPr>
            <a:lvl8pPr>
              <a:buNone/>
              <a:defRPr sz="2250" b="1">
                <a:solidFill>
                  <a:srgbClr val="007D78"/>
                </a:solidFill>
                <a:latin typeface="DejaVu Sans"/>
                <a:ea typeface="DejaVu Sans"/>
                <a:cs typeface="DejaVu Sans"/>
              </a:defRPr>
            </a:lvl8pPr>
            <a:lvl9pPr>
              <a:buNone/>
              <a:defRPr sz="2250" b="1">
                <a:solidFill>
                  <a:srgbClr val="007D78"/>
                </a:solidFill>
                <a:latin typeface="DejaVu Sans"/>
                <a:ea typeface="DejaVu Sans"/>
                <a:cs typeface="DejaVu Sans"/>
              </a:defRPr>
            </a:lvl9pPr>
          </a:lstStyle>
          <a:p xmlns:a="http://schemas.openxmlformats.org/drawingml/2006/main">
            <a:pPr>
              <a:buNone/>
              <a:defRPr sz="2250" b="1">
                <a:solidFill>
                  <a:srgbClr val="007D78"/>
                </a:solidFill>
                <a:latin typeface="DejaVu Sans"/>
                <a:ea typeface="DejaVu Sans"/>
                <a:cs typeface="DejaVu Sans"/>
              </a:defRPr>
            </a:pPr>
            <a:r>
              <a:rPr sz="2250" b="1">
                <a:solidFill>
                  <a:srgbClr val="007D78"/>
                </a:solidFill>
                <a:latin typeface="DejaVu Sans"/>
                <a:ea typeface="DejaVu Sans"/>
                <a:cs typeface="DejaVu Sans"/>
              </a:rPr>
              <a:t>2  Grounded answers</a:t>
            </a:r>
          </a:p>
        </p:txBody>
      </p:sp>
      <p:sp>
        <p:nvSpPr>
          <p:cNvPr id="7" name="objective-2">
            <a:extLst xmlns:a="http://schemas.openxmlformats.org/drawingml/2006/main">
              <a:ext uri="{FF2B5EF4-FFF2-40B4-BE49-F238E27FC236}">
                <a16:creationId xmlns:a16="http://schemas.microsoft.com/office/drawing/2014/main" id="{5B86DC09-F6EA-4B2B-9E59-FBB6582D93F3}"/>
              </a:ext>
            </a:extLst>
          </p:cNvPr>
          <p:cNvSpPr>
            <a:spLocks xmlns:a="http://schemas.openxmlformats.org/drawingml/2006/main" noGrp="1"/>
          </p:cNvSpPr>
          <p:nvPr/>
        </p:nvSpPr>
        <p:spPr>
          <a:xfrm xmlns:a="http://schemas.openxmlformats.org/drawingml/2006/main">
            <a:off x="8001000" y="4305300"/>
            <a:ext cx="63817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0">
                <a:solidFill>
                  <a:srgbClr val="193646"/>
                </a:solidFill>
                <a:latin typeface="DejaVu Sans"/>
                <a:ea typeface="DejaVu Sans"/>
                <a:cs typeface="DejaVu Sans"/>
              </a:defRPr>
            </a:defPPr>
            <a:lvl1pPr>
              <a:buNone/>
              <a:defRPr sz="2175" b="0">
                <a:solidFill>
                  <a:srgbClr val="193646"/>
                </a:solidFill>
                <a:latin typeface="DejaVu Sans"/>
                <a:ea typeface="DejaVu Sans"/>
                <a:cs typeface="DejaVu Sans"/>
              </a:defRPr>
            </a:lvl1pPr>
            <a:lvl2pPr>
              <a:buNone/>
              <a:defRPr sz="2175" b="0">
                <a:solidFill>
                  <a:srgbClr val="193646"/>
                </a:solidFill>
                <a:latin typeface="DejaVu Sans"/>
                <a:ea typeface="DejaVu Sans"/>
                <a:cs typeface="DejaVu Sans"/>
              </a:defRPr>
            </a:lvl2pPr>
            <a:lvl3pPr>
              <a:buNone/>
              <a:defRPr sz="2175" b="0">
                <a:solidFill>
                  <a:srgbClr val="193646"/>
                </a:solidFill>
                <a:latin typeface="DejaVu Sans"/>
                <a:ea typeface="DejaVu Sans"/>
                <a:cs typeface="DejaVu Sans"/>
              </a:defRPr>
            </a:lvl3pPr>
            <a:lvl4pPr>
              <a:buNone/>
              <a:defRPr sz="2175" b="0">
                <a:solidFill>
                  <a:srgbClr val="193646"/>
                </a:solidFill>
                <a:latin typeface="DejaVu Sans"/>
                <a:ea typeface="DejaVu Sans"/>
                <a:cs typeface="DejaVu Sans"/>
              </a:defRPr>
            </a:lvl4pPr>
            <a:lvl5pPr>
              <a:buNone/>
              <a:defRPr sz="2175" b="0">
                <a:solidFill>
                  <a:srgbClr val="193646"/>
                </a:solidFill>
                <a:latin typeface="DejaVu Sans"/>
                <a:ea typeface="DejaVu Sans"/>
                <a:cs typeface="DejaVu Sans"/>
              </a:defRPr>
            </a:lvl5pPr>
            <a:lvl6pPr>
              <a:buNone/>
              <a:defRPr sz="2175" b="0">
                <a:solidFill>
                  <a:srgbClr val="193646"/>
                </a:solidFill>
                <a:latin typeface="DejaVu Sans"/>
                <a:ea typeface="DejaVu Sans"/>
                <a:cs typeface="DejaVu Sans"/>
              </a:defRPr>
            </a:lvl6pPr>
            <a:lvl7pPr>
              <a:buNone/>
              <a:defRPr sz="2175" b="0">
                <a:solidFill>
                  <a:srgbClr val="193646"/>
                </a:solidFill>
                <a:latin typeface="DejaVu Sans"/>
                <a:ea typeface="DejaVu Sans"/>
                <a:cs typeface="DejaVu Sans"/>
              </a:defRPr>
            </a:lvl7pPr>
            <a:lvl8pPr>
              <a:buNone/>
              <a:defRPr sz="2175" b="0">
                <a:solidFill>
                  <a:srgbClr val="193646"/>
                </a:solidFill>
                <a:latin typeface="DejaVu Sans"/>
                <a:ea typeface="DejaVu Sans"/>
                <a:cs typeface="DejaVu Sans"/>
              </a:defRPr>
            </a:lvl8pPr>
            <a:lvl9pPr>
              <a:buNone/>
              <a:defRPr sz="2175" b="0">
                <a:solidFill>
                  <a:srgbClr val="193646"/>
                </a:solidFill>
                <a:latin typeface="DejaVu Sans"/>
                <a:ea typeface="DejaVu Sans"/>
                <a:cs typeface="DejaVu Sans"/>
              </a:defRPr>
            </a:lvl9pPr>
          </a:lstStyle>
          <a:p xmlns:a="http://schemas.openxmlformats.org/drawingml/2006/main">
            <a:pPr>
              <a:buNone/>
              <a:defRPr sz="2175" b="0">
                <a:solidFill>
                  <a:srgbClr val="193646"/>
                </a:solidFill>
                <a:latin typeface="DejaVu Sans"/>
                <a:ea typeface="DejaVu Sans"/>
                <a:cs typeface="DejaVu Sans"/>
              </a:defRPr>
            </a:pPr>
            <a:r>
              <a:rPr sz="2175" b="0">
                <a:solidFill>
                  <a:srgbClr val="193646"/>
                </a:solidFill>
                <a:latin typeface="DejaVu Sans"/>
                <a:ea typeface="DejaVu Sans"/>
                <a:cs typeface="DejaVu Sans"/>
              </a:rPr>
              <a:t>Use retrieved text as evidence and return “Not found in the local notes” when it is insufficient.</a:t>
            </a:r>
          </a:p>
        </p:txBody>
      </p:sp>
      <p:sp>
        <p:nvSpPr>
          <p:cNvPr id="8" name="objective-3-label">
            <a:extLst xmlns:a="http://schemas.openxmlformats.org/drawingml/2006/main">
              <a:ext uri="{FF2B5EF4-FFF2-40B4-BE49-F238E27FC236}">
                <a16:creationId xmlns:a16="http://schemas.microsoft.com/office/drawing/2014/main" id="{F74AD206-6EAB-463C-B2D6-1414FC61A7B7}"/>
              </a:ext>
            </a:extLst>
          </p:cNvPr>
          <p:cNvSpPr>
            <a:spLocks xmlns:a="http://schemas.openxmlformats.org/drawingml/2006/main" noGrp="1"/>
          </p:cNvSpPr>
          <p:nvPr/>
        </p:nvSpPr>
        <p:spPr>
          <a:xfrm xmlns:a="http://schemas.openxmlformats.org/drawingml/2006/main">
            <a:off x="762000" y="5810250"/>
            <a:ext cx="6381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1">
                <a:solidFill>
                  <a:srgbClr val="007D78"/>
                </a:solidFill>
                <a:latin typeface="DejaVu Sans"/>
                <a:ea typeface="DejaVu Sans"/>
                <a:cs typeface="DejaVu Sans"/>
              </a:defRPr>
            </a:defPPr>
            <a:lvl1pPr>
              <a:buNone/>
              <a:defRPr sz="2250" b="1">
                <a:solidFill>
                  <a:srgbClr val="007D78"/>
                </a:solidFill>
                <a:latin typeface="DejaVu Sans"/>
                <a:ea typeface="DejaVu Sans"/>
                <a:cs typeface="DejaVu Sans"/>
              </a:defRPr>
            </a:lvl1pPr>
            <a:lvl2pPr>
              <a:buNone/>
              <a:defRPr sz="2250" b="1">
                <a:solidFill>
                  <a:srgbClr val="007D78"/>
                </a:solidFill>
                <a:latin typeface="DejaVu Sans"/>
                <a:ea typeface="DejaVu Sans"/>
                <a:cs typeface="DejaVu Sans"/>
              </a:defRPr>
            </a:lvl2pPr>
            <a:lvl3pPr>
              <a:buNone/>
              <a:defRPr sz="2250" b="1">
                <a:solidFill>
                  <a:srgbClr val="007D78"/>
                </a:solidFill>
                <a:latin typeface="DejaVu Sans"/>
                <a:ea typeface="DejaVu Sans"/>
                <a:cs typeface="DejaVu Sans"/>
              </a:defRPr>
            </a:lvl3pPr>
            <a:lvl4pPr>
              <a:buNone/>
              <a:defRPr sz="2250" b="1">
                <a:solidFill>
                  <a:srgbClr val="007D78"/>
                </a:solidFill>
                <a:latin typeface="DejaVu Sans"/>
                <a:ea typeface="DejaVu Sans"/>
                <a:cs typeface="DejaVu Sans"/>
              </a:defRPr>
            </a:lvl4pPr>
            <a:lvl5pPr>
              <a:buNone/>
              <a:defRPr sz="2250" b="1">
                <a:solidFill>
                  <a:srgbClr val="007D78"/>
                </a:solidFill>
                <a:latin typeface="DejaVu Sans"/>
                <a:ea typeface="DejaVu Sans"/>
                <a:cs typeface="DejaVu Sans"/>
              </a:defRPr>
            </a:lvl5pPr>
            <a:lvl6pPr>
              <a:buNone/>
              <a:defRPr sz="2250" b="1">
                <a:solidFill>
                  <a:srgbClr val="007D78"/>
                </a:solidFill>
                <a:latin typeface="DejaVu Sans"/>
                <a:ea typeface="DejaVu Sans"/>
                <a:cs typeface="DejaVu Sans"/>
              </a:defRPr>
            </a:lvl6pPr>
            <a:lvl7pPr>
              <a:buNone/>
              <a:defRPr sz="2250" b="1">
                <a:solidFill>
                  <a:srgbClr val="007D78"/>
                </a:solidFill>
                <a:latin typeface="DejaVu Sans"/>
                <a:ea typeface="DejaVu Sans"/>
                <a:cs typeface="DejaVu Sans"/>
              </a:defRPr>
            </a:lvl7pPr>
            <a:lvl8pPr>
              <a:buNone/>
              <a:defRPr sz="2250" b="1">
                <a:solidFill>
                  <a:srgbClr val="007D78"/>
                </a:solidFill>
                <a:latin typeface="DejaVu Sans"/>
                <a:ea typeface="DejaVu Sans"/>
                <a:cs typeface="DejaVu Sans"/>
              </a:defRPr>
            </a:lvl8pPr>
            <a:lvl9pPr>
              <a:buNone/>
              <a:defRPr sz="2250" b="1">
                <a:solidFill>
                  <a:srgbClr val="007D78"/>
                </a:solidFill>
                <a:latin typeface="DejaVu Sans"/>
                <a:ea typeface="DejaVu Sans"/>
                <a:cs typeface="DejaVu Sans"/>
              </a:defRPr>
            </a:lvl9pPr>
          </a:lstStyle>
          <a:p xmlns:a="http://schemas.openxmlformats.org/drawingml/2006/main">
            <a:pPr>
              <a:buNone/>
              <a:defRPr sz="2250" b="1">
                <a:solidFill>
                  <a:srgbClr val="007D78"/>
                </a:solidFill>
                <a:latin typeface="DejaVu Sans"/>
                <a:ea typeface="DejaVu Sans"/>
                <a:cs typeface="DejaVu Sans"/>
              </a:defRPr>
            </a:pPr>
            <a:r>
              <a:rPr sz="2250" b="1">
                <a:solidFill>
                  <a:srgbClr val="007D78"/>
                </a:solidFill>
                <a:latin typeface="DejaVu Sans"/>
                <a:ea typeface="DejaVu Sans"/>
                <a:cs typeface="DejaVu Sans"/>
              </a:rPr>
              <a:t>3  Offline operation</a:t>
            </a:r>
          </a:p>
        </p:txBody>
      </p:sp>
      <p:sp>
        <p:nvSpPr>
          <p:cNvPr id="9" name="objective-3">
            <a:extLst xmlns:a="http://schemas.openxmlformats.org/drawingml/2006/main">
              <a:ext uri="{FF2B5EF4-FFF2-40B4-BE49-F238E27FC236}">
                <a16:creationId xmlns:a16="http://schemas.microsoft.com/office/drawing/2014/main" id="{805F927E-EA88-45F1-B374-0A35AA56C3E2}"/>
              </a:ext>
            </a:extLst>
          </p:cNvPr>
          <p:cNvSpPr>
            <a:spLocks xmlns:a="http://schemas.openxmlformats.org/drawingml/2006/main" noGrp="1"/>
          </p:cNvSpPr>
          <p:nvPr/>
        </p:nvSpPr>
        <p:spPr>
          <a:xfrm xmlns:a="http://schemas.openxmlformats.org/drawingml/2006/main">
            <a:off x="762000" y="6343650"/>
            <a:ext cx="63436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0">
                <a:solidFill>
                  <a:srgbClr val="193646"/>
                </a:solidFill>
                <a:latin typeface="DejaVu Sans"/>
                <a:ea typeface="DejaVu Sans"/>
                <a:cs typeface="DejaVu Sans"/>
              </a:defRPr>
            </a:defPPr>
            <a:lvl1pPr>
              <a:buNone/>
              <a:defRPr sz="2175" b="0">
                <a:solidFill>
                  <a:srgbClr val="193646"/>
                </a:solidFill>
                <a:latin typeface="DejaVu Sans"/>
                <a:ea typeface="DejaVu Sans"/>
                <a:cs typeface="DejaVu Sans"/>
              </a:defRPr>
            </a:lvl1pPr>
            <a:lvl2pPr>
              <a:buNone/>
              <a:defRPr sz="2175" b="0">
                <a:solidFill>
                  <a:srgbClr val="193646"/>
                </a:solidFill>
                <a:latin typeface="DejaVu Sans"/>
                <a:ea typeface="DejaVu Sans"/>
                <a:cs typeface="DejaVu Sans"/>
              </a:defRPr>
            </a:lvl2pPr>
            <a:lvl3pPr>
              <a:buNone/>
              <a:defRPr sz="2175" b="0">
                <a:solidFill>
                  <a:srgbClr val="193646"/>
                </a:solidFill>
                <a:latin typeface="DejaVu Sans"/>
                <a:ea typeface="DejaVu Sans"/>
                <a:cs typeface="DejaVu Sans"/>
              </a:defRPr>
            </a:lvl3pPr>
            <a:lvl4pPr>
              <a:buNone/>
              <a:defRPr sz="2175" b="0">
                <a:solidFill>
                  <a:srgbClr val="193646"/>
                </a:solidFill>
                <a:latin typeface="DejaVu Sans"/>
                <a:ea typeface="DejaVu Sans"/>
                <a:cs typeface="DejaVu Sans"/>
              </a:defRPr>
            </a:lvl4pPr>
            <a:lvl5pPr>
              <a:buNone/>
              <a:defRPr sz="2175" b="0">
                <a:solidFill>
                  <a:srgbClr val="193646"/>
                </a:solidFill>
                <a:latin typeface="DejaVu Sans"/>
                <a:ea typeface="DejaVu Sans"/>
                <a:cs typeface="DejaVu Sans"/>
              </a:defRPr>
            </a:lvl5pPr>
            <a:lvl6pPr>
              <a:buNone/>
              <a:defRPr sz="2175" b="0">
                <a:solidFill>
                  <a:srgbClr val="193646"/>
                </a:solidFill>
                <a:latin typeface="DejaVu Sans"/>
                <a:ea typeface="DejaVu Sans"/>
                <a:cs typeface="DejaVu Sans"/>
              </a:defRPr>
            </a:lvl6pPr>
            <a:lvl7pPr>
              <a:buNone/>
              <a:defRPr sz="2175" b="0">
                <a:solidFill>
                  <a:srgbClr val="193646"/>
                </a:solidFill>
                <a:latin typeface="DejaVu Sans"/>
                <a:ea typeface="DejaVu Sans"/>
                <a:cs typeface="DejaVu Sans"/>
              </a:defRPr>
            </a:lvl7pPr>
            <a:lvl8pPr>
              <a:buNone/>
              <a:defRPr sz="2175" b="0">
                <a:solidFill>
                  <a:srgbClr val="193646"/>
                </a:solidFill>
                <a:latin typeface="DejaVu Sans"/>
                <a:ea typeface="DejaVu Sans"/>
                <a:cs typeface="DejaVu Sans"/>
              </a:defRPr>
            </a:lvl8pPr>
            <a:lvl9pPr>
              <a:buNone/>
              <a:defRPr sz="2175" b="0">
                <a:solidFill>
                  <a:srgbClr val="193646"/>
                </a:solidFill>
                <a:latin typeface="DejaVu Sans"/>
                <a:ea typeface="DejaVu Sans"/>
                <a:cs typeface="DejaVu Sans"/>
              </a:defRPr>
            </a:lvl9pPr>
          </a:lstStyle>
          <a:p xmlns:a="http://schemas.openxmlformats.org/drawingml/2006/main">
            <a:pPr>
              <a:buNone/>
              <a:defRPr sz="2175" b="0">
                <a:solidFill>
                  <a:srgbClr val="193646"/>
                </a:solidFill>
                <a:latin typeface="DejaVu Sans"/>
                <a:ea typeface="DejaVu Sans"/>
                <a:cs typeface="DejaVu Sans"/>
              </a:defRPr>
            </a:pPr>
            <a:r>
              <a:rPr sz="2175" b="0">
                <a:solidFill>
                  <a:srgbClr val="193646"/>
                </a:solidFill>
                <a:latin typeface="DejaVu Sans"/>
                <a:ea typeface="DejaVu Sans"/>
                <a:cs typeface="DejaVu Sans"/>
              </a:rPr>
              <a:t>Run retrieval, generation and evidence display locally after one-time setup.</a:t>
            </a:r>
          </a:p>
        </p:txBody>
      </p:sp>
      <p:sp>
        <p:nvSpPr>
          <p:cNvPr id="10" name="objective-4-label">
            <a:extLst xmlns:a="http://schemas.openxmlformats.org/drawingml/2006/main">
              <a:ext uri="{FF2B5EF4-FFF2-40B4-BE49-F238E27FC236}">
                <a16:creationId xmlns:a16="http://schemas.microsoft.com/office/drawing/2014/main" id="{B4B1345D-F150-49E9-A51D-296AF1AD9F60}"/>
              </a:ext>
            </a:extLst>
          </p:cNvPr>
          <p:cNvSpPr>
            <a:spLocks xmlns:a="http://schemas.openxmlformats.org/drawingml/2006/main" noGrp="1"/>
          </p:cNvSpPr>
          <p:nvPr/>
        </p:nvSpPr>
        <p:spPr>
          <a:xfrm xmlns:a="http://schemas.openxmlformats.org/drawingml/2006/main">
            <a:off x="8001000" y="5810250"/>
            <a:ext cx="6381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1">
                <a:solidFill>
                  <a:srgbClr val="007D78"/>
                </a:solidFill>
                <a:latin typeface="DejaVu Sans"/>
                <a:ea typeface="DejaVu Sans"/>
                <a:cs typeface="DejaVu Sans"/>
              </a:defRPr>
            </a:defPPr>
            <a:lvl1pPr>
              <a:buNone/>
              <a:defRPr sz="2250" b="1">
                <a:solidFill>
                  <a:srgbClr val="007D78"/>
                </a:solidFill>
                <a:latin typeface="DejaVu Sans"/>
                <a:ea typeface="DejaVu Sans"/>
                <a:cs typeface="DejaVu Sans"/>
              </a:defRPr>
            </a:lvl1pPr>
            <a:lvl2pPr>
              <a:buNone/>
              <a:defRPr sz="2250" b="1">
                <a:solidFill>
                  <a:srgbClr val="007D78"/>
                </a:solidFill>
                <a:latin typeface="DejaVu Sans"/>
                <a:ea typeface="DejaVu Sans"/>
                <a:cs typeface="DejaVu Sans"/>
              </a:defRPr>
            </a:lvl2pPr>
            <a:lvl3pPr>
              <a:buNone/>
              <a:defRPr sz="2250" b="1">
                <a:solidFill>
                  <a:srgbClr val="007D78"/>
                </a:solidFill>
                <a:latin typeface="DejaVu Sans"/>
                <a:ea typeface="DejaVu Sans"/>
                <a:cs typeface="DejaVu Sans"/>
              </a:defRPr>
            </a:lvl3pPr>
            <a:lvl4pPr>
              <a:buNone/>
              <a:defRPr sz="2250" b="1">
                <a:solidFill>
                  <a:srgbClr val="007D78"/>
                </a:solidFill>
                <a:latin typeface="DejaVu Sans"/>
                <a:ea typeface="DejaVu Sans"/>
                <a:cs typeface="DejaVu Sans"/>
              </a:defRPr>
            </a:lvl4pPr>
            <a:lvl5pPr>
              <a:buNone/>
              <a:defRPr sz="2250" b="1">
                <a:solidFill>
                  <a:srgbClr val="007D78"/>
                </a:solidFill>
                <a:latin typeface="DejaVu Sans"/>
                <a:ea typeface="DejaVu Sans"/>
                <a:cs typeface="DejaVu Sans"/>
              </a:defRPr>
            </a:lvl5pPr>
            <a:lvl6pPr>
              <a:buNone/>
              <a:defRPr sz="2250" b="1">
                <a:solidFill>
                  <a:srgbClr val="007D78"/>
                </a:solidFill>
                <a:latin typeface="DejaVu Sans"/>
                <a:ea typeface="DejaVu Sans"/>
                <a:cs typeface="DejaVu Sans"/>
              </a:defRPr>
            </a:lvl6pPr>
            <a:lvl7pPr>
              <a:buNone/>
              <a:defRPr sz="2250" b="1">
                <a:solidFill>
                  <a:srgbClr val="007D78"/>
                </a:solidFill>
                <a:latin typeface="DejaVu Sans"/>
                <a:ea typeface="DejaVu Sans"/>
                <a:cs typeface="DejaVu Sans"/>
              </a:defRPr>
            </a:lvl7pPr>
            <a:lvl8pPr>
              <a:buNone/>
              <a:defRPr sz="2250" b="1">
                <a:solidFill>
                  <a:srgbClr val="007D78"/>
                </a:solidFill>
                <a:latin typeface="DejaVu Sans"/>
                <a:ea typeface="DejaVu Sans"/>
                <a:cs typeface="DejaVu Sans"/>
              </a:defRPr>
            </a:lvl8pPr>
            <a:lvl9pPr>
              <a:buNone/>
              <a:defRPr sz="2250" b="1">
                <a:solidFill>
                  <a:srgbClr val="007D78"/>
                </a:solidFill>
                <a:latin typeface="DejaVu Sans"/>
                <a:ea typeface="DejaVu Sans"/>
                <a:cs typeface="DejaVu Sans"/>
              </a:defRPr>
            </a:lvl9pPr>
          </a:lstStyle>
          <a:p xmlns:a="http://schemas.openxmlformats.org/drawingml/2006/main">
            <a:pPr>
              <a:buNone/>
              <a:defRPr sz="2250" b="1">
                <a:solidFill>
                  <a:srgbClr val="007D78"/>
                </a:solidFill>
                <a:latin typeface="DejaVu Sans"/>
                <a:ea typeface="DejaVu Sans"/>
                <a:cs typeface="DejaVu Sans"/>
              </a:defRPr>
            </a:pPr>
            <a:r>
              <a:rPr sz="2250" b="1">
                <a:solidFill>
                  <a:srgbClr val="007D78"/>
                </a:solidFill>
                <a:latin typeface="DejaVu Sans"/>
                <a:ea typeface="DejaVu Sans"/>
                <a:cs typeface="DejaVu Sans"/>
              </a:rPr>
              <a:t>4  Measurable comparison</a:t>
            </a:r>
          </a:p>
        </p:txBody>
      </p:sp>
      <p:sp>
        <p:nvSpPr>
          <p:cNvPr id="11" name="objective-4">
            <a:extLst xmlns:a="http://schemas.openxmlformats.org/drawingml/2006/main">
              <a:ext uri="{FF2B5EF4-FFF2-40B4-BE49-F238E27FC236}">
                <a16:creationId xmlns:a16="http://schemas.microsoft.com/office/drawing/2014/main" id="{5AF6CAB7-B8BC-4294-993D-02958BFF981F}"/>
              </a:ext>
            </a:extLst>
          </p:cNvPr>
          <p:cNvSpPr>
            <a:spLocks xmlns:a="http://schemas.openxmlformats.org/drawingml/2006/main" noGrp="1"/>
          </p:cNvSpPr>
          <p:nvPr/>
        </p:nvSpPr>
        <p:spPr>
          <a:xfrm xmlns:a="http://schemas.openxmlformats.org/drawingml/2006/main">
            <a:off x="8001000" y="6343650"/>
            <a:ext cx="63817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0">
                <a:solidFill>
                  <a:srgbClr val="193646"/>
                </a:solidFill>
                <a:latin typeface="DejaVu Sans"/>
                <a:ea typeface="DejaVu Sans"/>
                <a:cs typeface="DejaVu Sans"/>
              </a:defRPr>
            </a:defPPr>
            <a:lvl1pPr>
              <a:buNone/>
              <a:defRPr sz="2175" b="0">
                <a:solidFill>
                  <a:srgbClr val="193646"/>
                </a:solidFill>
                <a:latin typeface="DejaVu Sans"/>
                <a:ea typeface="DejaVu Sans"/>
                <a:cs typeface="DejaVu Sans"/>
              </a:defRPr>
            </a:lvl1pPr>
            <a:lvl2pPr>
              <a:buNone/>
              <a:defRPr sz="2175" b="0">
                <a:solidFill>
                  <a:srgbClr val="193646"/>
                </a:solidFill>
                <a:latin typeface="DejaVu Sans"/>
                <a:ea typeface="DejaVu Sans"/>
                <a:cs typeface="DejaVu Sans"/>
              </a:defRPr>
            </a:lvl2pPr>
            <a:lvl3pPr>
              <a:buNone/>
              <a:defRPr sz="2175" b="0">
                <a:solidFill>
                  <a:srgbClr val="193646"/>
                </a:solidFill>
                <a:latin typeface="DejaVu Sans"/>
                <a:ea typeface="DejaVu Sans"/>
                <a:cs typeface="DejaVu Sans"/>
              </a:defRPr>
            </a:lvl3pPr>
            <a:lvl4pPr>
              <a:buNone/>
              <a:defRPr sz="2175" b="0">
                <a:solidFill>
                  <a:srgbClr val="193646"/>
                </a:solidFill>
                <a:latin typeface="DejaVu Sans"/>
                <a:ea typeface="DejaVu Sans"/>
                <a:cs typeface="DejaVu Sans"/>
              </a:defRPr>
            </a:lvl4pPr>
            <a:lvl5pPr>
              <a:buNone/>
              <a:defRPr sz="2175" b="0">
                <a:solidFill>
                  <a:srgbClr val="193646"/>
                </a:solidFill>
                <a:latin typeface="DejaVu Sans"/>
                <a:ea typeface="DejaVu Sans"/>
                <a:cs typeface="DejaVu Sans"/>
              </a:defRPr>
            </a:lvl5pPr>
            <a:lvl6pPr>
              <a:buNone/>
              <a:defRPr sz="2175" b="0">
                <a:solidFill>
                  <a:srgbClr val="193646"/>
                </a:solidFill>
                <a:latin typeface="DejaVu Sans"/>
                <a:ea typeface="DejaVu Sans"/>
                <a:cs typeface="DejaVu Sans"/>
              </a:defRPr>
            </a:lvl6pPr>
            <a:lvl7pPr>
              <a:buNone/>
              <a:defRPr sz="2175" b="0">
                <a:solidFill>
                  <a:srgbClr val="193646"/>
                </a:solidFill>
                <a:latin typeface="DejaVu Sans"/>
                <a:ea typeface="DejaVu Sans"/>
                <a:cs typeface="DejaVu Sans"/>
              </a:defRPr>
            </a:lvl7pPr>
            <a:lvl8pPr>
              <a:buNone/>
              <a:defRPr sz="2175" b="0">
                <a:solidFill>
                  <a:srgbClr val="193646"/>
                </a:solidFill>
                <a:latin typeface="DejaVu Sans"/>
                <a:ea typeface="DejaVu Sans"/>
                <a:cs typeface="DejaVu Sans"/>
              </a:defRPr>
            </a:lvl8pPr>
            <a:lvl9pPr>
              <a:buNone/>
              <a:defRPr sz="2175" b="0">
                <a:solidFill>
                  <a:srgbClr val="193646"/>
                </a:solidFill>
                <a:latin typeface="DejaVu Sans"/>
                <a:ea typeface="DejaVu Sans"/>
                <a:cs typeface="DejaVu Sans"/>
              </a:defRPr>
            </a:lvl9pPr>
          </a:lstStyle>
          <a:p xmlns:a="http://schemas.openxmlformats.org/drawingml/2006/main">
            <a:pPr>
              <a:buNone/>
              <a:defRPr sz="2175" b="0">
                <a:solidFill>
                  <a:srgbClr val="193646"/>
                </a:solidFill>
                <a:latin typeface="DejaVu Sans"/>
                <a:ea typeface="DejaVu Sans"/>
                <a:cs typeface="DejaVu Sans"/>
              </a:defRPr>
            </a:pPr>
            <a:r>
              <a:rPr sz="2175" b="0">
                <a:solidFill>
                  <a:srgbClr val="193646"/>
                </a:solidFill>
                <a:latin typeface="DejaVu Sans"/>
                <a:ea typeface="DejaVu Sans"/>
                <a:cs typeface="DejaVu Sans"/>
              </a:rPr>
              <a:t>Compare passage count and evidence selection against a fixed, source-checked gold set.</a:t>
            </a:r>
          </a:p>
        </p:txBody>
      </p:sp>
    </p:spTree>
    <p:extLst>
      <p:ext uri="{BB962C8B-B14F-4D97-AF65-F5344CB8AC3E}">
        <p14:creationId xmlns:p14="http://schemas.microsoft.com/office/powerpoint/2010/main" val="124027462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A40E2CAA-12FB-40DF-A9DD-325B0E3EE366}"/>
              </a:ext>
            </a:extLst>
          </p:cNvPr>
          <p:cNvSpPr>
            <a:spLocks xmlns:a="http://schemas.openxmlformats.org/drawingml/2006/main" noGrp="1"/>
          </p:cNvSpPr>
          <p:nvPr/>
        </p:nvSpPr>
        <p:spPr>
          <a:xfrm xmlns:a="http://schemas.openxmlformats.org/drawingml/2006/main">
            <a:off x="762000" y="571500"/>
            <a:ext cx="13620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450" b="1">
                <a:solidFill>
                  <a:srgbClr val="102B3A"/>
                </a:solidFill>
                <a:latin typeface="DejaVu Sans"/>
                <a:ea typeface="DejaVu Sans"/>
                <a:cs typeface="DejaVu Sans"/>
              </a:defRPr>
            </a:defPPr>
            <a:lvl1pPr>
              <a:buNone/>
              <a:defRPr sz="3450" b="1">
                <a:solidFill>
                  <a:srgbClr val="102B3A"/>
                </a:solidFill>
                <a:latin typeface="DejaVu Sans"/>
                <a:ea typeface="DejaVu Sans"/>
                <a:cs typeface="DejaVu Sans"/>
              </a:defRPr>
            </a:lvl1pPr>
            <a:lvl2pPr>
              <a:buNone/>
              <a:defRPr sz="3450" b="1">
                <a:solidFill>
                  <a:srgbClr val="102B3A"/>
                </a:solidFill>
                <a:latin typeface="DejaVu Sans"/>
                <a:ea typeface="DejaVu Sans"/>
                <a:cs typeface="DejaVu Sans"/>
              </a:defRPr>
            </a:lvl2pPr>
            <a:lvl3pPr>
              <a:buNone/>
              <a:defRPr sz="3450" b="1">
                <a:solidFill>
                  <a:srgbClr val="102B3A"/>
                </a:solidFill>
                <a:latin typeface="DejaVu Sans"/>
                <a:ea typeface="DejaVu Sans"/>
                <a:cs typeface="DejaVu Sans"/>
              </a:defRPr>
            </a:lvl3pPr>
            <a:lvl4pPr>
              <a:buNone/>
              <a:defRPr sz="3450" b="1">
                <a:solidFill>
                  <a:srgbClr val="102B3A"/>
                </a:solidFill>
                <a:latin typeface="DejaVu Sans"/>
                <a:ea typeface="DejaVu Sans"/>
                <a:cs typeface="DejaVu Sans"/>
              </a:defRPr>
            </a:lvl4pPr>
            <a:lvl5pPr>
              <a:buNone/>
              <a:defRPr sz="3450" b="1">
                <a:solidFill>
                  <a:srgbClr val="102B3A"/>
                </a:solidFill>
                <a:latin typeface="DejaVu Sans"/>
                <a:ea typeface="DejaVu Sans"/>
                <a:cs typeface="DejaVu Sans"/>
              </a:defRPr>
            </a:lvl5pPr>
            <a:lvl6pPr>
              <a:buNone/>
              <a:defRPr sz="3450" b="1">
                <a:solidFill>
                  <a:srgbClr val="102B3A"/>
                </a:solidFill>
                <a:latin typeface="DejaVu Sans"/>
                <a:ea typeface="DejaVu Sans"/>
                <a:cs typeface="DejaVu Sans"/>
              </a:defRPr>
            </a:lvl6pPr>
            <a:lvl7pPr>
              <a:buNone/>
              <a:defRPr sz="3450" b="1">
                <a:solidFill>
                  <a:srgbClr val="102B3A"/>
                </a:solidFill>
                <a:latin typeface="DejaVu Sans"/>
                <a:ea typeface="DejaVu Sans"/>
                <a:cs typeface="DejaVu Sans"/>
              </a:defRPr>
            </a:lvl7pPr>
            <a:lvl8pPr>
              <a:buNone/>
              <a:defRPr sz="3450" b="1">
                <a:solidFill>
                  <a:srgbClr val="102B3A"/>
                </a:solidFill>
                <a:latin typeface="DejaVu Sans"/>
                <a:ea typeface="DejaVu Sans"/>
                <a:cs typeface="DejaVu Sans"/>
              </a:defRPr>
            </a:lvl8pPr>
            <a:lvl9pPr>
              <a:buNone/>
              <a:defRPr sz="3450" b="1">
                <a:solidFill>
                  <a:srgbClr val="102B3A"/>
                </a:solidFill>
                <a:latin typeface="DejaVu Sans"/>
                <a:ea typeface="DejaVu Sans"/>
                <a:cs typeface="DejaVu Sans"/>
              </a:defRPr>
            </a:lvl9pPr>
          </a:lstStyle>
          <a:p xmlns:a="http://schemas.openxmlformats.org/drawingml/2006/main">
            <a:pPr>
              <a:buNone/>
              <a:defRPr sz="3450" b="1">
                <a:solidFill>
                  <a:srgbClr val="102B3A"/>
                </a:solidFill>
                <a:latin typeface="DejaVu Sans"/>
                <a:ea typeface="DejaVu Sans"/>
                <a:cs typeface="DejaVu Sans"/>
              </a:defRPr>
            </a:pPr>
            <a:r>
              <a:rPr sz="3450" b="1">
                <a:solidFill>
                  <a:srgbClr val="102B3A"/>
                </a:solidFill>
                <a:latin typeface="DejaVu Sans"/>
                <a:ea typeface="DejaVu Sans"/>
                <a:cs typeface="DejaVu Sans"/>
              </a:rPr>
              <a:t>Source and dataset: MIT OpenCourseWare</a:t>
            </a:r>
          </a:p>
        </p:txBody>
      </p:sp>
      <p:sp>
        <p:nvSpPr>
          <p:cNvPr id="2" name="slide-number">
            <a:extLst xmlns:a="http://schemas.openxmlformats.org/drawingml/2006/main">
              <a:ext uri="{FF2B5EF4-FFF2-40B4-BE49-F238E27FC236}">
                <a16:creationId xmlns:a16="http://schemas.microsoft.com/office/drawing/2014/main" id="{60F2E992-C13F-48D4-AEEC-26D5EA301254}"/>
              </a:ext>
            </a:extLst>
          </p:cNvPr>
          <p:cNvSpPr>
            <a:spLocks xmlns:a="http://schemas.openxmlformats.org/drawingml/2006/main" noGrp="1"/>
          </p:cNvSpPr>
          <p:nvPr/>
        </p:nvSpPr>
        <p:spPr>
          <a:xfrm xmlns:a="http://schemas.openxmlformats.org/drawingml/2006/main">
            <a:off x="13906500" y="795337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0">
                <a:solidFill>
                  <a:srgbClr val="526975"/>
                </a:solidFill>
                <a:latin typeface="DejaVu Sans"/>
                <a:ea typeface="DejaVu Sans"/>
                <a:cs typeface="DejaVu Sans"/>
              </a:defRPr>
            </a:defPPr>
            <a:lvl1pPr>
              <a:buNone/>
              <a:defRPr sz="1575" b="0">
                <a:solidFill>
                  <a:srgbClr val="526975"/>
                </a:solidFill>
                <a:latin typeface="DejaVu Sans"/>
                <a:ea typeface="DejaVu Sans"/>
                <a:cs typeface="DejaVu Sans"/>
              </a:defRPr>
            </a:lvl1pPr>
            <a:lvl2pPr>
              <a:buNone/>
              <a:defRPr sz="1575" b="0">
                <a:solidFill>
                  <a:srgbClr val="526975"/>
                </a:solidFill>
                <a:latin typeface="DejaVu Sans"/>
                <a:ea typeface="DejaVu Sans"/>
                <a:cs typeface="DejaVu Sans"/>
              </a:defRPr>
            </a:lvl2pPr>
            <a:lvl3pPr>
              <a:buNone/>
              <a:defRPr sz="1575" b="0">
                <a:solidFill>
                  <a:srgbClr val="526975"/>
                </a:solidFill>
                <a:latin typeface="DejaVu Sans"/>
                <a:ea typeface="DejaVu Sans"/>
                <a:cs typeface="DejaVu Sans"/>
              </a:defRPr>
            </a:lvl3pPr>
            <a:lvl4pPr>
              <a:buNone/>
              <a:defRPr sz="1575" b="0">
                <a:solidFill>
                  <a:srgbClr val="526975"/>
                </a:solidFill>
                <a:latin typeface="DejaVu Sans"/>
                <a:ea typeface="DejaVu Sans"/>
                <a:cs typeface="DejaVu Sans"/>
              </a:defRPr>
            </a:lvl4pPr>
            <a:lvl5pPr>
              <a:buNone/>
              <a:defRPr sz="1575" b="0">
                <a:solidFill>
                  <a:srgbClr val="526975"/>
                </a:solidFill>
                <a:latin typeface="DejaVu Sans"/>
                <a:ea typeface="DejaVu Sans"/>
                <a:cs typeface="DejaVu Sans"/>
              </a:defRPr>
            </a:lvl5pPr>
            <a:lvl6pPr>
              <a:buNone/>
              <a:defRPr sz="1575" b="0">
                <a:solidFill>
                  <a:srgbClr val="526975"/>
                </a:solidFill>
                <a:latin typeface="DejaVu Sans"/>
                <a:ea typeface="DejaVu Sans"/>
                <a:cs typeface="DejaVu Sans"/>
              </a:defRPr>
            </a:lvl6pPr>
            <a:lvl7pPr>
              <a:buNone/>
              <a:defRPr sz="1575" b="0">
                <a:solidFill>
                  <a:srgbClr val="526975"/>
                </a:solidFill>
                <a:latin typeface="DejaVu Sans"/>
                <a:ea typeface="DejaVu Sans"/>
                <a:cs typeface="DejaVu Sans"/>
              </a:defRPr>
            </a:lvl7pPr>
            <a:lvl8pPr>
              <a:buNone/>
              <a:defRPr sz="1575" b="0">
                <a:solidFill>
                  <a:srgbClr val="526975"/>
                </a:solidFill>
                <a:latin typeface="DejaVu Sans"/>
                <a:ea typeface="DejaVu Sans"/>
                <a:cs typeface="DejaVu Sans"/>
              </a:defRPr>
            </a:lvl8pPr>
            <a:lvl9pPr>
              <a:buNone/>
              <a:defRPr sz="1575" b="0">
                <a:solidFill>
                  <a:srgbClr val="526975"/>
                </a:solidFill>
                <a:latin typeface="DejaVu Sans"/>
                <a:ea typeface="DejaVu Sans"/>
                <a:cs typeface="DejaVu Sans"/>
              </a:defRPr>
            </a:lvl9pPr>
          </a:lstStyle>
          <a:p xmlns:a="http://schemas.openxmlformats.org/drawingml/2006/main">
            <a:pPr>
              <a:buNone/>
              <a:defRPr sz="1575" b="0">
                <a:solidFill>
                  <a:srgbClr val="526975"/>
                </a:solidFill>
                <a:latin typeface="DejaVu Sans"/>
                <a:ea typeface="DejaVu Sans"/>
                <a:cs typeface="DejaVu Sans"/>
              </a:defRPr>
            </a:pPr>
            <a:r>
              <a:rPr sz="1575" b="0">
                <a:solidFill>
                  <a:srgbClr val="526975"/>
                </a:solidFill>
                <a:latin typeface="DejaVu Sans"/>
                <a:ea typeface="DejaVu Sans"/>
                <a:cs typeface="DejaVu Sans"/>
              </a:rPr>
              <a:t>03</a:t>
            </a:r>
          </a:p>
        </p:txBody>
      </p:sp>
      <p:sp>
        <p:nvSpPr>
          <p:cNvPr id="3" name="corpus-label">
            <a:extLst xmlns:a="http://schemas.openxmlformats.org/drawingml/2006/main">
              <a:ext uri="{FF2B5EF4-FFF2-40B4-BE49-F238E27FC236}">
                <a16:creationId xmlns:a16="http://schemas.microsoft.com/office/drawing/2014/main" id="{5495FDE8-A7A3-4EAC-9A55-DB0A4039E697}"/>
              </a:ext>
            </a:extLst>
          </p:cNvPr>
          <p:cNvSpPr>
            <a:spLocks xmlns:a="http://schemas.openxmlformats.org/drawingml/2006/main" noGrp="1"/>
          </p:cNvSpPr>
          <p:nvPr/>
        </p:nvSpPr>
        <p:spPr>
          <a:xfrm xmlns:a="http://schemas.openxmlformats.org/drawingml/2006/main">
            <a:off x="762000" y="1695450"/>
            <a:ext cx="6381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1">
                <a:solidFill>
                  <a:srgbClr val="007D78"/>
                </a:solidFill>
                <a:latin typeface="DejaVu Sans"/>
                <a:ea typeface="DejaVu Sans"/>
                <a:cs typeface="DejaVu Sans"/>
              </a:defRPr>
            </a:defPPr>
            <a:lvl1pPr>
              <a:buNone/>
              <a:defRPr sz="2250" b="1">
                <a:solidFill>
                  <a:srgbClr val="007D78"/>
                </a:solidFill>
                <a:latin typeface="DejaVu Sans"/>
                <a:ea typeface="DejaVu Sans"/>
                <a:cs typeface="DejaVu Sans"/>
              </a:defRPr>
            </a:lvl1pPr>
            <a:lvl2pPr>
              <a:buNone/>
              <a:defRPr sz="2250" b="1">
                <a:solidFill>
                  <a:srgbClr val="007D78"/>
                </a:solidFill>
                <a:latin typeface="DejaVu Sans"/>
                <a:ea typeface="DejaVu Sans"/>
                <a:cs typeface="DejaVu Sans"/>
              </a:defRPr>
            </a:lvl2pPr>
            <a:lvl3pPr>
              <a:buNone/>
              <a:defRPr sz="2250" b="1">
                <a:solidFill>
                  <a:srgbClr val="007D78"/>
                </a:solidFill>
                <a:latin typeface="DejaVu Sans"/>
                <a:ea typeface="DejaVu Sans"/>
                <a:cs typeface="DejaVu Sans"/>
              </a:defRPr>
            </a:lvl3pPr>
            <a:lvl4pPr>
              <a:buNone/>
              <a:defRPr sz="2250" b="1">
                <a:solidFill>
                  <a:srgbClr val="007D78"/>
                </a:solidFill>
                <a:latin typeface="DejaVu Sans"/>
                <a:ea typeface="DejaVu Sans"/>
                <a:cs typeface="DejaVu Sans"/>
              </a:defRPr>
            </a:lvl4pPr>
            <a:lvl5pPr>
              <a:buNone/>
              <a:defRPr sz="2250" b="1">
                <a:solidFill>
                  <a:srgbClr val="007D78"/>
                </a:solidFill>
                <a:latin typeface="DejaVu Sans"/>
                <a:ea typeface="DejaVu Sans"/>
                <a:cs typeface="DejaVu Sans"/>
              </a:defRPr>
            </a:lvl5pPr>
            <a:lvl6pPr>
              <a:buNone/>
              <a:defRPr sz="2250" b="1">
                <a:solidFill>
                  <a:srgbClr val="007D78"/>
                </a:solidFill>
                <a:latin typeface="DejaVu Sans"/>
                <a:ea typeface="DejaVu Sans"/>
                <a:cs typeface="DejaVu Sans"/>
              </a:defRPr>
            </a:lvl6pPr>
            <a:lvl7pPr>
              <a:buNone/>
              <a:defRPr sz="2250" b="1">
                <a:solidFill>
                  <a:srgbClr val="007D78"/>
                </a:solidFill>
                <a:latin typeface="DejaVu Sans"/>
                <a:ea typeface="DejaVu Sans"/>
                <a:cs typeface="DejaVu Sans"/>
              </a:defRPr>
            </a:lvl7pPr>
            <a:lvl8pPr>
              <a:buNone/>
              <a:defRPr sz="2250" b="1">
                <a:solidFill>
                  <a:srgbClr val="007D78"/>
                </a:solidFill>
                <a:latin typeface="DejaVu Sans"/>
                <a:ea typeface="DejaVu Sans"/>
                <a:cs typeface="DejaVu Sans"/>
              </a:defRPr>
            </a:lvl8pPr>
            <a:lvl9pPr>
              <a:buNone/>
              <a:defRPr sz="2250" b="1">
                <a:solidFill>
                  <a:srgbClr val="007D78"/>
                </a:solidFill>
                <a:latin typeface="DejaVu Sans"/>
                <a:ea typeface="DejaVu Sans"/>
                <a:cs typeface="DejaVu Sans"/>
              </a:defRPr>
            </a:lvl9pPr>
          </a:lstStyle>
          <a:p xmlns:a="http://schemas.openxmlformats.org/drawingml/2006/main">
            <a:pPr>
              <a:buNone/>
              <a:defRPr sz="2250" b="1">
                <a:solidFill>
                  <a:srgbClr val="007D78"/>
                </a:solidFill>
                <a:latin typeface="DejaVu Sans"/>
                <a:ea typeface="DejaVu Sans"/>
                <a:cs typeface="DejaVu Sans"/>
              </a:defRPr>
            </a:pPr>
            <a:r>
              <a:rPr sz="2250" b="1">
                <a:solidFill>
                  <a:srgbClr val="007D78"/>
                </a:solidFill>
                <a:latin typeface="DejaVu Sans"/>
                <a:ea typeface="DejaVu Sans"/>
                <a:cs typeface="DejaVu Sans"/>
              </a:rPr>
              <a:t>Academic source</a:t>
            </a:r>
          </a:p>
        </p:txBody>
      </p:sp>
      <p:sp>
        <p:nvSpPr>
          <p:cNvPr id="4" name="corpus-size">
            <a:extLst xmlns:a="http://schemas.openxmlformats.org/drawingml/2006/main">
              <a:ext uri="{FF2B5EF4-FFF2-40B4-BE49-F238E27FC236}">
                <a16:creationId xmlns:a16="http://schemas.microsoft.com/office/drawing/2014/main" id="{835842A5-27A4-42A6-846A-98C58A24D878}"/>
              </a:ext>
            </a:extLst>
          </p:cNvPr>
          <p:cNvSpPr>
            <a:spLocks xmlns:a="http://schemas.openxmlformats.org/drawingml/2006/main" noGrp="1"/>
          </p:cNvSpPr>
          <p:nvPr/>
        </p:nvSpPr>
        <p:spPr>
          <a:xfrm xmlns:a="http://schemas.openxmlformats.org/drawingml/2006/main">
            <a:off x="762000" y="2257425"/>
            <a:ext cx="6572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475" b="1">
                <a:solidFill>
                  <a:srgbClr val="102B3A"/>
                </a:solidFill>
                <a:latin typeface="DejaVu Sans"/>
                <a:ea typeface="DejaVu Sans"/>
                <a:cs typeface="DejaVu Sans"/>
              </a:defRPr>
            </a:defPPr>
            <a:lvl1pPr>
              <a:buNone/>
              <a:defRPr sz="2475" b="1">
                <a:solidFill>
                  <a:srgbClr val="102B3A"/>
                </a:solidFill>
                <a:latin typeface="DejaVu Sans"/>
                <a:ea typeface="DejaVu Sans"/>
                <a:cs typeface="DejaVu Sans"/>
              </a:defRPr>
            </a:lvl1pPr>
            <a:lvl2pPr>
              <a:buNone/>
              <a:defRPr sz="2475" b="1">
                <a:solidFill>
                  <a:srgbClr val="102B3A"/>
                </a:solidFill>
                <a:latin typeface="DejaVu Sans"/>
                <a:ea typeface="DejaVu Sans"/>
                <a:cs typeface="DejaVu Sans"/>
              </a:defRPr>
            </a:lvl2pPr>
            <a:lvl3pPr>
              <a:buNone/>
              <a:defRPr sz="2475" b="1">
                <a:solidFill>
                  <a:srgbClr val="102B3A"/>
                </a:solidFill>
                <a:latin typeface="DejaVu Sans"/>
                <a:ea typeface="DejaVu Sans"/>
                <a:cs typeface="DejaVu Sans"/>
              </a:defRPr>
            </a:lvl3pPr>
            <a:lvl4pPr>
              <a:buNone/>
              <a:defRPr sz="2475" b="1">
                <a:solidFill>
                  <a:srgbClr val="102B3A"/>
                </a:solidFill>
                <a:latin typeface="DejaVu Sans"/>
                <a:ea typeface="DejaVu Sans"/>
                <a:cs typeface="DejaVu Sans"/>
              </a:defRPr>
            </a:lvl4pPr>
            <a:lvl5pPr>
              <a:buNone/>
              <a:defRPr sz="2475" b="1">
                <a:solidFill>
                  <a:srgbClr val="102B3A"/>
                </a:solidFill>
                <a:latin typeface="DejaVu Sans"/>
                <a:ea typeface="DejaVu Sans"/>
                <a:cs typeface="DejaVu Sans"/>
              </a:defRPr>
            </a:lvl5pPr>
            <a:lvl6pPr>
              <a:buNone/>
              <a:defRPr sz="2475" b="1">
                <a:solidFill>
                  <a:srgbClr val="102B3A"/>
                </a:solidFill>
                <a:latin typeface="DejaVu Sans"/>
                <a:ea typeface="DejaVu Sans"/>
                <a:cs typeface="DejaVu Sans"/>
              </a:defRPr>
            </a:lvl6pPr>
            <a:lvl7pPr>
              <a:buNone/>
              <a:defRPr sz="2475" b="1">
                <a:solidFill>
                  <a:srgbClr val="102B3A"/>
                </a:solidFill>
                <a:latin typeface="DejaVu Sans"/>
                <a:ea typeface="DejaVu Sans"/>
                <a:cs typeface="DejaVu Sans"/>
              </a:defRPr>
            </a:lvl7pPr>
            <a:lvl8pPr>
              <a:buNone/>
              <a:defRPr sz="2475" b="1">
                <a:solidFill>
                  <a:srgbClr val="102B3A"/>
                </a:solidFill>
                <a:latin typeface="DejaVu Sans"/>
                <a:ea typeface="DejaVu Sans"/>
                <a:cs typeface="DejaVu Sans"/>
              </a:defRPr>
            </a:lvl8pPr>
            <a:lvl9pPr>
              <a:buNone/>
              <a:defRPr sz="2475" b="1">
                <a:solidFill>
                  <a:srgbClr val="102B3A"/>
                </a:solidFill>
                <a:latin typeface="DejaVu Sans"/>
                <a:ea typeface="DejaVu Sans"/>
                <a:cs typeface="DejaVu Sans"/>
              </a:defRPr>
            </a:lvl9pPr>
          </a:lstStyle>
          <a:p xmlns:a="http://schemas.openxmlformats.org/drawingml/2006/main">
            <a:pPr>
              <a:buNone/>
              <a:defRPr sz="2475" b="1">
                <a:solidFill>
                  <a:srgbClr val="102B3A"/>
                </a:solidFill>
                <a:latin typeface="DejaVu Sans"/>
                <a:ea typeface="DejaVu Sans"/>
                <a:cs typeface="DejaVu Sans"/>
              </a:defRPr>
            </a:pPr>
            <a:r>
              <a:rPr sz="2475" b="1">
                <a:solidFill>
                  <a:srgbClr val="102B3A"/>
                </a:solidFill>
                <a:latin typeface="DejaVu Sans"/>
                <a:ea typeface="DejaVu Sans"/>
                <a:cs typeface="DejaVu Sans"/>
                <a:hlinkClick xmlns:r="http://schemas.openxmlformats.org/officeDocument/2006/relationships" r:id="R4ff5799a51f847aa"/>
              </a:rPr>
              <a:t>MIT 8.01SC course notes</a:t>
            </a:r>
          </a:p>
        </p:txBody>
      </p:sp>
      <p:sp>
        <p:nvSpPr>
          <p:cNvPr id="5" name="corpus-details">
            <a:extLst xmlns:a="http://schemas.openxmlformats.org/drawingml/2006/main">
              <a:ext uri="{FF2B5EF4-FFF2-40B4-BE49-F238E27FC236}">
                <a16:creationId xmlns:a16="http://schemas.microsoft.com/office/drawing/2014/main" id="{0F78FD94-BC26-4C65-B0A5-64183A53210B}"/>
              </a:ext>
            </a:extLst>
          </p:cNvPr>
          <p:cNvSpPr>
            <a:spLocks xmlns:a="http://schemas.openxmlformats.org/drawingml/2006/main" noGrp="1"/>
          </p:cNvSpPr>
          <p:nvPr/>
        </p:nvSpPr>
        <p:spPr>
          <a:xfrm xmlns:a="http://schemas.openxmlformats.org/drawingml/2006/main">
            <a:off x="762000" y="3105150"/>
            <a:ext cx="6477000" cy="2914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0">
                <a:solidFill>
                  <a:srgbClr val="193646"/>
                </a:solidFill>
                <a:latin typeface="DejaVu Sans"/>
                <a:ea typeface="DejaVu Sans"/>
                <a:cs typeface="DejaVu Sans"/>
              </a:defRPr>
            </a:defPPr>
            <a:lvl1pPr>
              <a:buNone/>
              <a:defRPr sz="2100" b="0">
                <a:solidFill>
                  <a:srgbClr val="193646"/>
                </a:solidFill>
                <a:latin typeface="DejaVu Sans"/>
                <a:ea typeface="DejaVu Sans"/>
                <a:cs typeface="DejaVu Sans"/>
              </a:defRPr>
            </a:lvl1pPr>
            <a:lvl2pPr>
              <a:buNone/>
              <a:defRPr sz="2100" b="0">
                <a:solidFill>
                  <a:srgbClr val="193646"/>
                </a:solidFill>
                <a:latin typeface="DejaVu Sans"/>
                <a:ea typeface="DejaVu Sans"/>
                <a:cs typeface="DejaVu Sans"/>
              </a:defRPr>
            </a:lvl2pPr>
            <a:lvl3pPr>
              <a:buNone/>
              <a:defRPr sz="2100" b="0">
                <a:solidFill>
                  <a:srgbClr val="193646"/>
                </a:solidFill>
                <a:latin typeface="DejaVu Sans"/>
                <a:ea typeface="DejaVu Sans"/>
                <a:cs typeface="DejaVu Sans"/>
              </a:defRPr>
            </a:lvl3pPr>
            <a:lvl4pPr>
              <a:buNone/>
              <a:defRPr sz="2100" b="0">
                <a:solidFill>
                  <a:srgbClr val="193646"/>
                </a:solidFill>
                <a:latin typeface="DejaVu Sans"/>
                <a:ea typeface="DejaVu Sans"/>
                <a:cs typeface="DejaVu Sans"/>
              </a:defRPr>
            </a:lvl4pPr>
            <a:lvl5pPr>
              <a:buNone/>
              <a:defRPr sz="2100" b="0">
                <a:solidFill>
                  <a:srgbClr val="193646"/>
                </a:solidFill>
                <a:latin typeface="DejaVu Sans"/>
                <a:ea typeface="DejaVu Sans"/>
                <a:cs typeface="DejaVu Sans"/>
              </a:defRPr>
            </a:lvl5pPr>
            <a:lvl6pPr>
              <a:buNone/>
              <a:defRPr sz="2100" b="0">
                <a:solidFill>
                  <a:srgbClr val="193646"/>
                </a:solidFill>
                <a:latin typeface="DejaVu Sans"/>
                <a:ea typeface="DejaVu Sans"/>
                <a:cs typeface="DejaVu Sans"/>
              </a:defRPr>
            </a:lvl6pPr>
            <a:lvl7pPr>
              <a:buNone/>
              <a:defRPr sz="2100" b="0">
                <a:solidFill>
                  <a:srgbClr val="193646"/>
                </a:solidFill>
                <a:latin typeface="DejaVu Sans"/>
                <a:ea typeface="DejaVu Sans"/>
                <a:cs typeface="DejaVu Sans"/>
              </a:defRPr>
            </a:lvl7pPr>
            <a:lvl8pPr>
              <a:buNone/>
              <a:defRPr sz="2100" b="0">
                <a:solidFill>
                  <a:srgbClr val="193646"/>
                </a:solidFill>
                <a:latin typeface="DejaVu Sans"/>
                <a:ea typeface="DejaVu Sans"/>
                <a:cs typeface="DejaVu Sans"/>
              </a:defRPr>
            </a:lvl8pPr>
            <a:lvl9pPr>
              <a:buNone/>
              <a:defRPr sz="2100" b="0">
                <a:solidFill>
                  <a:srgbClr val="193646"/>
                </a:solidFill>
                <a:latin typeface="DejaVu Sans"/>
                <a:ea typeface="DejaVu Sans"/>
                <a:cs typeface="DejaVu Sans"/>
              </a:defRPr>
            </a:lvl9pPr>
          </a:lstStyle>
          <a:p xmlns:a="http://schemas.openxmlformats.org/drawingml/2006/main">
            <a:pPr>
              <a:buNone/>
              <a:defRPr sz="2100" b="0">
                <a:solidFill>
                  <a:srgbClr val="193646"/>
                </a:solidFill>
                <a:latin typeface="DejaVu Sans"/>
                <a:ea typeface="DejaVu Sans"/>
                <a:cs typeface="DejaVu Sans"/>
              </a:defRPr>
            </a:pPr>
            <a:r>
              <a:rPr sz="2100" b="0">
                <a:solidFill>
                  <a:srgbClr val="193646"/>
                </a:solidFill>
                <a:latin typeface="DejaVu Sans"/>
                <a:ea typeface="DejaVu Sans"/>
                <a:cs typeface="DejaVu Sans"/>
              </a:rPr>
              <a:t>Classical Mechanics by Peter Dourmashkin.</a:t>
            </a:r>
          </a:p>
          <a:p xmlns:a="http://schemas.openxmlformats.org/drawingml/2006/main">
            <a:pPr>
              <a:buNone/>
              <a:defRPr sz="2100" b="0">
                <a:solidFill>
                  <a:srgbClr val="193646"/>
                </a:solidFill>
                <a:latin typeface="DejaVu Sans"/>
                <a:ea typeface="DejaVu Sans"/>
                <a:cs typeface="DejaVu Sans"/>
              </a:defRPr>
            </a:pPr>
            <a:r>
              <a:rPr sz="2100" b="0">
                <a:solidFill>
                  <a:srgbClr val="193646"/>
                </a:solidFill>
                <a:latin typeface="DejaVu Sans"/>
                <a:ea typeface="DejaVu Sans"/>
                <a:cs typeface="DejaVu Sans"/>
              </a:rPr>
              <a:t>Hosted by MIT OpenCourseWare.</a:t>
            </a:r>
          </a:p>
          <a:p xmlns:a="http://schemas.openxmlformats.org/drawingml/2006/main">
            <a:r>
              <a:t/>
            </a:r>
          </a:p>
          <a:p xmlns:a="http://schemas.openxmlformats.org/drawingml/2006/main">
            <a:pPr>
              <a:buNone/>
              <a:defRPr sz="2100" b="0">
                <a:solidFill>
                  <a:srgbClr val="193646"/>
                </a:solidFill>
                <a:latin typeface="DejaVu Sans"/>
                <a:ea typeface="DejaVu Sans"/>
                <a:cs typeface="DejaVu Sans"/>
              </a:defRPr>
            </a:pPr>
            <a:r>
              <a:rPr sz="2100" b="0">
                <a:solidFill>
                  <a:srgbClr val="193646"/>
                </a:solidFill>
                <a:latin typeface="DejaVu Sans"/>
                <a:ea typeface="DejaVu Sans"/>
                <a:cs typeface="DejaVu Sans"/>
              </a:rPr>
              <a:t>Named author and clear chapter structure.</a:t>
            </a:r>
          </a:p>
          <a:p xmlns:a="http://schemas.openxmlformats.org/drawingml/2006/main">
            <a:pPr>
              <a:buNone/>
              <a:defRPr sz="2100" b="0">
                <a:solidFill>
                  <a:srgbClr val="193646"/>
                </a:solidFill>
                <a:latin typeface="DejaVu Sans"/>
                <a:ea typeface="DejaVu Sans"/>
                <a:cs typeface="DejaVu Sans"/>
              </a:defRPr>
            </a:pPr>
            <a:r>
              <a:rPr sz="2100" b="0">
                <a:solidFill>
                  <a:srgbClr val="193646"/>
                </a:solidFill>
                <a:latin typeface="DejaVu Sans"/>
                <a:ea typeface="DejaVu Sans"/>
                <a:cs typeface="DejaVu Sans"/>
              </a:rPr>
              <a:t>Downloadable PDFs with page-level citations.</a:t>
            </a:r>
          </a:p>
          <a:p xmlns:a="http://schemas.openxmlformats.org/drawingml/2006/main">
            <a:r>
              <a:t/>
            </a:r>
          </a:p>
          <a:p xmlns:a="http://schemas.openxmlformats.org/drawingml/2006/main">
            <a:pPr>
              <a:buNone/>
              <a:defRPr sz="2100" b="0">
                <a:solidFill>
                  <a:srgbClr val="193646"/>
                </a:solidFill>
                <a:latin typeface="DejaVu Sans"/>
                <a:ea typeface="DejaVu Sans"/>
                <a:cs typeface="DejaVu Sans"/>
              </a:defRPr>
            </a:pPr>
            <a:r>
              <a:rPr sz="2100" b="0">
                <a:solidFill>
                  <a:srgbClr val="193646"/>
                </a:solidFill>
                <a:latin typeface="DejaVu Sans"/>
                <a:ea typeface="DejaVu Sans"/>
                <a:cs typeface="DejaVu Sans"/>
              </a:rPr>
              <a:t>A bounded academic reading collection.</a:t>
            </a:r>
          </a:p>
        </p:txBody>
      </p:sp>
      <p:sp>
        <p:nvSpPr>
          <p:cNvPr id="6" name="qa-label">
            <a:extLst xmlns:a="http://schemas.openxmlformats.org/drawingml/2006/main">
              <a:ext uri="{FF2B5EF4-FFF2-40B4-BE49-F238E27FC236}">
                <a16:creationId xmlns:a16="http://schemas.microsoft.com/office/drawing/2014/main" id="{B7A2FA9A-15CC-4612-8DBB-50FC2416C3A9}"/>
              </a:ext>
            </a:extLst>
          </p:cNvPr>
          <p:cNvSpPr>
            <a:spLocks xmlns:a="http://schemas.openxmlformats.org/drawingml/2006/main" noGrp="1"/>
          </p:cNvSpPr>
          <p:nvPr/>
        </p:nvSpPr>
        <p:spPr>
          <a:xfrm xmlns:a="http://schemas.openxmlformats.org/drawingml/2006/main">
            <a:off x="8001000" y="1695450"/>
            <a:ext cx="6381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1">
                <a:solidFill>
                  <a:srgbClr val="007D78"/>
                </a:solidFill>
                <a:latin typeface="DejaVu Sans"/>
                <a:ea typeface="DejaVu Sans"/>
                <a:cs typeface="DejaVu Sans"/>
              </a:defRPr>
            </a:defPPr>
            <a:lvl1pPr>
              <a:buNone/>
              <a:defRPr sz="2250" b="1">
                <a:solidFill>
                  <a:srgbClr val="007D78"/>
                </a:solidFill>
                <a:latin typeface="DejaVu Sans"/>
                <a:ea typeface="DejaVu Sans"/>
                <a:cs typeface="DejaVu Sans"/>
              </a:defRPr>
            </a:lvl1pPr>
            <a:lvl2pPr>
              <a:buNone/>
              <a:defRPr sz="2250" b="1">
                <a:solidFill>
                  <a:srgbClr val="007D78"/>
                </a:solidFill>
                <a:latin typeface="DejaVu Sans"/>
                <a:ea typeface="DejaVu Sans"/>
                <a:cs typeface="DejaVu Sans"/>
              </a:defRPr>
            </a:lvl2pPr>
            <a:lvl3pPr>
              <a:buNone/>
              <a:defRPr sz="2250" b="1">
                <a:solidFill>
                  <a:srgbClr val="007D78"/>
                </a:solidFill>
                <a:latin typeface="DejaVu Sans"/>
                <a:ea typeface="DejaVu Sans"/>
                <a:cs typeface="DejaVu Sans"/>
              </a:defRPr>
            </a:lvl3pPr>
            <a:lvl4pPr>
              <a:buNone/>
              <a:defRPr sz="2250" b="1">
                <a:solidFill>
                  <a:srgbClr val="007D78"/>
                </a:solidFill>
                <a:latin typeface="DejaVu Sans"/>
                <a:ea typeface="DejaVu Sans"/>
                <a:cs typeface="DejaVu Sans"/>
              </a:defRPr>
            </a:lvl4pPr>
            <a:lvl5pPr>
              <a:buNone/>
              <a:defRPr sz="2250" b="1">
                <a:solidFill>
                  <a:srgbClr val="007D78"/>
                </a:solidFill>
                <a:latin typeface="DejaVu Sans"/>
                <a:ea typeface="DejaVu Sans"/>
                <a:cs typeface="DejaVu Sans"/>
              </a:defRPr>
            </a:lvl5pPr>
            <a:lvl6pPr>
              <a:buNone/>
              <a:defRPr sz="2250" b="1">
                <a:solidFill>
                  <a:srgbClr val="007D78"/>
                </a:solidFill>
                <a:latin typeface="DejaVu Sans"/>
                <a:ea typeface="DejaVu Sans"/>
                <a:cs typeface="DejaVu Sans"/>
              </a:defRPr>
            </a:lvl6pPr>
            <a:lvl7pPr>
              <a:buNone/>
              <a:defRPr sz="2250" b="1">
                <a:solidFill>
                  <a:srgbClr val="007D78"/>
                </a:solidFill>
                <a:latin typeface="DejaVu Sans"/>
                <a:ea typeface="DejaVu Sans"/>
                <a:cs typeface="DejaVu Sans"/>
              </a:defRPr>
            </a:lvl7pPr>
            <a:lvl8pPr>
              <a:buNone/>
              <a:defRPr sz="2250" b="1">
                <a:solidFill>
                  <a:srgbClr val="007D78"/>
                </a:solidFill>
                <a:latin typeface="DejaVu Sans"/>
                <a:ea typeface="DejaVu Sans"/>
                <a:cs typeface="DejaVu Sans"/>
              </a:defRPr>
            </a:lvl8pPr>
            <a:lvl9pPr>
              <a:buNone/>
              <a:defRPr sz="2250" b="1">
                <a:solidFill>
                  <a:srgbClr val="007D78"/>
                </a:solidFill>
                <a:latin typeface="DejaVu Sans"/>
                <a:ea typeface="DejaVu Sans"/>
                <a:cs typeface="DejaVu Sans"/>
              </a:defRPr>
            </a:lvl9pPr>
          </a:lstStyle>
          <a:p xmlns:a="http://schemas.openxmlformats.org/drawingml/2006/main">
            <a:pPr>
              <a:buNone/>
              <a:defRPr sz="2250" b="1">
                <a:solidFill>
                  <a:srgbClr val="007D78"/>
                </a:solidFill>
                <a:latin typeface="DejaVu Sans"/>
                <a:ea typeface="DejaVu Sans"/>
                <a:cs typeface="DejaVu Sans"/>
              </a:defRPr>
            </a:pPr>
            <a:r>
              <a:rPr sz="2250" b="1">
                <a:solidFill>
                  <a:srgbClr val="007D78"/>
                </a:solidFill>
                <a:latin typeface="DejaVu Sans"/>
                <a:ea typeface="DejaVu Sans"/>
                <a:cs typeface="DejaVu Sans"/>
              </a:rPr>
              <a:t>Selected reading corpus</a:t>
            </a:r>
          </a:p>
        </p:txBody>
      </p:sp>
      <p:sp>
        <p:nvSpPr>
          <p:cNvPr id="7" name="qa-size">
            <a:extLst xmlns:a="http://schemas.openxmlformats.org/drawingml/2006/main">
              <a:ext uri="{FF2B5EF4-FFF2-40B4-BE49-F238E27FC236}">
                <a16:creationId xmlns:a16="http://schemas.microsoft.com/office/drawing/2014/main" id="{A6F8B326-73CF-46D8-ACD0-73D18E062FFF}"/>
              </a:ext>
            </a:extLst>
          </p:cNvPr>
          <p:cNvSpPr>
            <a:spLocks xmlns:a="http://schemas.openxmlformats.org/drawingml/2006/main" noGrp="1"/>
          </p:cNvSpPr>
          <p:nvPr/>
        </p:nvSpPr>
        <p:spPr>
          <a:xfrm xmlns:a="http://schemas.openxmlformats.org/drawingml/2006/main">
            <a:off x="8001000" y="2257425"/>
            <a:ext cx="647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475" b="1">
                <a:solidFill>
                  <a:srgbClr val="102B3A"/>
                </a:solidFill>
                <a:latin typeface="DejaVu Sans"/>
                <a:ea typeface="DejaVu Sans"/>
                <a:cs typeface="DejaVu Sans"/>
              </a:defRPr>
            </a:defPPr>
            <a:lvl1pPr>
              <a:buNone/>
              <a:defRPr sz="2475" b="1">
                <a:solidFill>
                  <a:srgbClr val="102B3A"/>
                </a:solidFill>
                <a:latin typeface="DejaVu Sans"/>
                <a:ea typeface="DejaVu Sans"/>
                <a:cs typeface="DejaVu Sans"/>
              </a:defRPr>
            </a:lvl1pPr>
            <a:lvl2pPr>
              <a:buNone/>
              <a:defRPr sz="2475" b="1">
                <a:solidFill>
                  <a:srgbClr val="102B3A"/>
                </a:solidFill>
                <a:latin typeface="DejaVu Sans"/>
                <a:ea typeface="DejaVu Sans"/>
                <a:cs typeface="DejaVu Sans"/>
              </a:defRPr>
            </a:lvl2pPr>
            <a:lvl3pPr>
              <a:buNone/>
              <a:defRPr sz="2475" b="1">
                <a:solidFill>
                  <a:srgbClr val="102B3A"/>
                </a:solidFill>
                <a:latin typeface="DejaVu Sans"/>
                <a:ea typeface="DejaVu Sans"/>
                <a:cs typeface="DejaVu Sans"/>
              </a:defRPr>
            </a:lvl3pPr>
            <a:lvl4pPr>
              <a:buNone/>
              <a:defRPr sz="2475" b="1">
                <a:solidFill>
                  <a:srgbClr val="102B3A"/>
                </a:solidFill>
                <a:latin typeface="DejaVu Sans"/>
                <a:ea typeface="DejaVu Sans"/>
                <a:cs typeface="DejaVu Sans"/>
              </a:defRPr>
            </a:lvl4pPr>
            <a:lvl5pPr>
              <a:buNone/>
              <a:defRPr sz="2475" b="1">
                <a:solidFill>
                  <a:srgbClr val="102B3A"/>
                </a:solidFill>
                <a:latin typeface="DejaVu Sans"/>
                <a:ea typeface="DejaVu Sans"/>
                <a:cs typeface="DejaVu Sans"/>
              </a:defRPr>
            </a:lvl5pPr>
            <a:lvl6pPr>
              <a:buNone/>
              <a:defRPr sz="2475" b="1">
                <a:solidFill>
                  <a:srgbClr val="102B3A"/>
                </a:solidFill>
                <a:latin typeface="DejaVu Sans"/>
                <a:ea typeface="DejaVu Sans"/>
                <a:cs typeface="DejaVu Sans"/>
              </a:defRPr>
            </a:lvl6pPr>
            <a:lvl7pPr>
              <a:buNone/>
              <a:defRPr sz="2475" b="1">
                <a:solidFill>
                  <a:srgbClr val="102B3A"/>
                </a:solidFill>
                <a:latin typeface="DejaVu Sans"/>
                <a:ea typeface="DejaVu Sans"/>
                <a:cs typeface="DejaVu Sans"/>
              </a:defRPr>
            </a:lvl7pPr>
            <a:lvl8pPr>
              <a:buNone/>
              <a:defRPr sz="2475" b="1">
                <a:solidFill>
                  <a:srgbClr val="102B3A"/>
                </a:solidFill>
                <a:latin typeface="DejaVu Sans"/>
                <a:ea typeface="DejaVu Sans"/>
                <a:cs typeface="DejaVu Sans"/>
              </a:defRPr>
            </a:lvl8pPr>
            <a:lvl9pPr>
              <a:buNone/>
              <a:defRPr sz="2475" b="1">
                <a:solidFill>
                  <a:srgbClr val="102B3A"/>
                </a:solidFill>
                <a:latin typeface="DejaVu Sans"/>
                <a:ea typeface="DejaVu Sans"/>
                <a:cs typeface="DejaVu Sans"/>
              </a:defRPr>
            </a:lvl9pPr>
          </a:lstStyle>
          <a:p xmlns:a="http://schemas.openxmlformats.org/drawingml/2006/main">
            <a:pPr>
              <a:buNone/>
              <a:defRPr sz="2475" b="1">
                <a:solidFill>
                  <a:srgbClr val="102B3A"/>
                </a:solidFill>
                <a:latin typeface="DejaVu Sans"/>
                <a:ea typeface="DejaVu Sans"/>
                <a:cs typeface="DejaVu Sans"/>
              </a:defRPr>
            </a:pPr>
            <a:r>
              <a:rPr sz="2475" b="1">
                <a:solidFill>
                  <a:srgbClr val="102B3A"/>
                </a:solidFill>
                <a:latin typeface="DejaVu Sans"/>
                <a:ea typeface="DejaVu Sans"/>
                <a:cs typeface="DejaVu Sans"/>
              </a:rPr>
              <a:t>Four chapters, selected sections</a:t>
            </a:r>
          </a:p>
        </p:txBody>
      </p:sp>
      <p:sp>
        <p:nvSpPr>
          <p:cNvPr id="8" name="qa-details">
            <a:extLst xmlns:a="http://schemas.openxmlformats.org/drawingml/2006/main">
              <a:ext uri="{FF2B5EF4-FFF2-40B4-BE49-F238E27FC236}">
                <a16:creationId xmlns:a16="http://schemas.microsoft.com/office/drawing/2014/main" id="{C0CBE1F1-B7D8-4E5E-B4C0-6E45A44DC299}"/>
              </a:ext>
            </a:extLst>
          </p:cNvPr>
          <p:cNvSpPr>
            <a:spLocks xmlns:a="http://schemas.openxmlformats.org/drawingml/2006/main" noGrp="1"/>
          </p:cNvSpPr>
          <p:nvPr/>
        </p:nvSpPr>
        <p:spPr>
          <a:xfrm xmlns:a="http://schemas.openxmlformats.org/drawingml/2006/main">
            <a:off x="8001000" y="3105150"/>
            <a:ext cx="6477000" cy="3067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0">
                <a:solidFill>
                  <a:srgbClr val="193646"/>
                </a:solidFill>
                <a:latin typeface="DejaVu Sans"/>
                <a:ea typeface="DejaVu Sans"/>
                <a:cs typeface="DejaVu Sans"/>
              </a:defRPr>
            </a:defPPr>
            <a:lvl1pPr>
              <a:buNone/>
              <a:defRPr sz="2100" b="0">
                <a:solidFill>
                  <a:srgbClr val="193646"/>
                </a:solidFill>
                <a:latin typeface="DejaVu Sans"/>
                <a:ea typeface="DejaVu Sans"/>
                <a:cs typeface="DejaVu Sans"/>
              </a:defRPr>
            </a:lvl1pPr>
            <a:lvl2pPr>
              <a:buNone/>
              <a:defRPr sz="2100" b="0">
                <a:solidFill>
                  <a:srgbClr val="193646"/>
                </a:solidFill>
                <a:latin typeface="DejaVu Sans"/>
                <a:ea typeface="DejaVu Sans"/>
                <a:cs typeface="DejaVu Sans"/>
              </a:defRPr>
            </a:lvl2pPr>
            <a:lvl3pPr>
              <a:buNone/>
              <a:defRPr sz="2100" b="0">
                <a:solidFill>
                  <a:srgbClr val="193646"/>
                </a:solidFill>
                <a:latin typeface="DejaVu Sans"/>
                <a:ea typeface="DejaVu Sans"/>
                <a:cs typeface="DejaVu Sans"/>
              </a:defRPr>
            </a:lvl3pPr>
            <a:lvl4pPr>
              <a:buNone/>
              <a:defRPr sz="2100" b="0">
                <a:solidFill>
                  <a:srgbClr val="193646"/>
                </a:solidFill>
                <a:latin typeface="DejaVu Sans"/>
                <a:ea typeface="DejaVu Sans"/>
                <a:cs typeface="DejaVu Sans"/>
              </a:defRPr>
            </a:lvl4pPr>
            <a:lvl5pPr>
              <a:buNone/>
              <a:defRPr sz="2100" b="0">
                <a:solidFill>
                  <a:srgbClr val="193646"/>
                </a:solidFill>
                <a:latin typeface="DejaVu Sans"/>
                <a:ea typeface="DejaVu Sans"/>
                <a:cs typeface="DejaVu Sans"/>
              </a:defRPr>
            </a:lvl5pPr>
            <a:lvl6pPr>
              <a:buNone/>
              <a:defRPr sz="2100" b="0">
                <a:solidFill>
                  <a:srgbClr val="193646"/>
                </a:solidFill>
                <a:latin typeface="DejaVu Sans"/>
                <a:ea typeface="DejaVu Sans"/>
                <a:cs typeface="DejaVu Sans"/>
              </a:defRPr>
            </a:lvl6pPr>
            <a:lvl7pPr>
              <a:buNone/>
              <a:defRPr sz="2100" b="0">
                <a:solidFill>
                  <a:srgbClr val="193646"/>
                </a:solidFill>
                <a:latin typeface="DejaVu Sans"/>
                <a:ea typeface="DejaVu Sans"/>
                <a:cs typeface="DejaVu Sans"/>
              </a:defRPr>
            </a:lvl7pPr>
            <a:lvl8pPr>
              <a:buNone/>
              <a:defRPr sz="2100" b="0">
                <a:solidFill>
                  <a:srgbClr val="193646"/>
                </a:solidFill>
                <a:latin typeface="DejaVu Sans"/>
                <a:ea typeface="DejaVu Sans"/>
                <a:cs typeface="DejaVu Sans"/>
              </a:defRPr>
            </a:lvl8pPr>
            <a:lvl9pPr>
              <a:buNone/>
              <a:defRPr sz="2100" b="0">
                <a:solidFill>
                  <a:srgbClr val="193646"/>
                </a:solidFill>
                <a:latin typeface="DejaVu Sans"/>
                <a:ea typeface="DejaVu Sans"/>
                <a:cs typeface="DejaVu Sans"/>
              </a:defRPr>
            </a:lvl9pPr>
          </a:lstStyle>
          <a:p xmlns:a="http://schemas.openxmlformats.org/drawingml/2006/main">
            <a:pPr>
              <a:buNone/>
              <a:defRPr sz="2100" b="0">
                <a:solidFill>
                  <a:srgbClr val="193646"/>
                </a:solidFill>
                <a:latin typeface="DejaVu Sans"/>
                <a:ea typeface="DejaVu Sans"/>
                <a:cs typeface="DejaVu Sans"/>
              </a:defRPr>
            </a:pPr>
            <a:r>
              <a:rPr sz="2100" b="0">
                <a:solidFill>
                  <a:srgbClr val="193646"/>
                </a:solidFill>
                <a:latin typeface="DejaVu Sans"/>
                <a:ea typeface="DejaVu Sans"/>
                <a:cs typeface="DejaVu Sans"/>
              </a:rPr>
              <a:t>Ch. 4: one-dimensional motion.</a:t>
            </a:r>
          </a:p>
          <a:p xmlns:a="http://schemas.openxmlformats.org/drawingml/2006/main">
            <a:r>
              <a:t>Ch. 6: circular motion.</a:t>
            </a:r>
          </a:p>
          <a:p xmlns:a="http://schemas.openxmlformats.org/drawingml/2006/main">
            <a:pPr>
              <a:buNone/>
              <a:defRPr sz="2100" b="0">
                <a:solidFill>
                  <a:srgbClr val="193646"/>
                </a:solidFill>
                <a:latin typeface="DejaVu Sans"/>
                <a:ea typeface="DejaVu Sans"/>
                <a:cs typeface="DejaVu Sans"/>
              </a:defRPr>
            </a:pPr>
            <a:r>
              <a:rPr sz="2100" b="0">
                <a:solidFill>
                  <a:srgbClr val="193646"/>
                </a:solidFill>
                <a:latin typeface="DejaVu Sans"/>
                <a:ea typeface="DejaVu Sans"/>
                <a:cs typeface="DejaVu Sans"/>
              </a:rPr>
              <a:t>Ch. 7: Newton’s laws.</a:t>
            </a:r>
          </a:p>
          <a:p xmlns:a="http://schemas.openxmlformats.org/drawingml/2006/main">
            <a:pPr>
              <a:buNone/>
              <a:defRPr sz="2100" b="0">
                <a:solidFill>
                  <a:srgbClr val="193646"/>
                </a:solidFill>
                <a:latin typeface="DejaVu Sans"/>
                <a:ea typeface="DejaVu Sans"/>
                <a:cs typeface="DejaVu Sans"/>
              </a:defRPr>
            </a:pPr>
            <a:r>
              <a:rPr sz="2100" b="0">
                <a:solidFill>
                  <a:srgbClr val="193646"/>
                </a:solidFill>
                <a:latin typeface="DejaVu Sans"/>
                <a:ea typeface="DejaVu Sans"/>
                <a:cs typeface="DejaVu Sans"/>
              </a:rPr>
              <a:t>Ch. 13: kinetic energy, work and power.</a:t>
            </a:r>
          </a:p>
          <a:p xmlns:a="http://schemas.openxmlformats.org/drawingml/2006/main">
            <a:r>
              <a:t/>
            </a:r>
          </a:p>
          <a:p xmlns:a="http://schemas.openxmlformats.org/drawingml/2006/main">
            <a:pPr>
              <a:buNone/>
              <a:defRPr sz="2100" b="0">
                <a:solidFill>
                  <a:srgbClr val="193646"/>
                </a:solidFill>
                <a:latin typeface="DejaVu Sans"/>
                <a:ea typeface="DejaVu Sans"/>
                <a:cs typeface="DejaVu Sans"/>
              </a:defRPr>
            </a:pPr>
            <a:r>
              <a:rPr sz="2100" b="0">
                <a:solidFill>
                  <a:srgbClr val="193646"/>
                </a:solidFill>
                <a:latin typeface="DejaVu Sans"/>
                <a:ea typeface="DejaVu Sans"/>
                <a:cs typeface="DejaVu Sans"/>
              </a:rPr>
              <a:t>Keep concept prose and basic equations.</a:t>
            </a:r>
          </a:p>
          <a:p xmlns:a="http://schemas.openxmlformats.org/drawingml/2006/main">
            <a:pPr>
              <a:buNone/>
              <a:defRPr sz="2100" b="0">
                <a:solidFill>
                  <a:srgbClr val="193646"/>
                </a:solidFill>
                <a:latin typeface="DejaVu Sans"/>
                <a:ea typeface="DejaVu Sans"/>
                <a:cs typeface="DejaVu Sans"/>
              </a:defRPr>
            </a:pPr>
            <a:r>
              <a:rPr sz="2100" b="0">
                <a:solidFill>
                  <a:srgbClr val="193646"/>
                </a:solidFill>
                <a:latin typeface="DejaVu Sans"/>
                <a:ea typeface="DejaVu Sans"/>
                <a:cs typeface="DejaVu Sans"/>
              </a:rPr>
              <a:t>Review PDF extraction before indexing.</a:t>
            </a:r>
          </a:p>
        </p:txBody>
      </p:sp>
      <p:sp>
        <p:nvSpPr>
          <p:cNvPr id="9" name="context-note">
            <a:extLst xmlns:a="http://schemas.openxmlformats.org/drawingml/2006/main">
              <a:ext uri="{FF2B5EF4-FFF2-40B4-BE49-F238E27FC236}">
                <a16:creationId xmlns:a16="http://schemas.microsoft.com/office/drawing/2014/main" id="{29DE898D-C3E4-437D-AE68-253DAC1DD499}"/>
              </a:ext>
            </a:extLst>
          </p:cNvPr>
          <p:cNvSpPr>
            <a:spLocks xmlns:a="http://schemas.openxmlformats.org/drawingml/2006/main" noGrp="1"/>
          </p:cNvSpPr>
          <p:nvPr/>
        </p:nvSpPr>
        <p:spPr>
          <a:xfrm xmlns:a="http://schemas.openxmlformats.org/drawingml/2006/main">
            <a:off x="762000" y="7458075"/>
            <a:ext cx="13049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0">
                <a:solidFill>
                  <a:srgbClr val="526975"/>
                </a:solidFill>
                <a:latin typeface="DejaVu Sans"/>
                <a:ea typeface="DejaVu Sans"/>
                <a:cs typeface="DejaVu Sans"/>
              </a:defRPr>
            </a:defPPr>
            <a:lvl1pPr>
              <a:buNone/>
              <a:defRPr sz="1575" b="0">
                <a:solidFill>
                  <a:srgbClr val="526975"/>
                </a:solidFill>
                <a:latin typeface="DejaVu Sans"/>
                <a:ea typeface="DejaVu Sans"/>
                <a:cs typeface="DejaVu Sans"/>
              </a:defRPr>
            </a:lvl1pPr>
            <a:lvl2pPr>
              <a:buNone/>
              <a:defRPr sz="1575" b="0">
                <a:solidFill>
                  <a:srgbClr val="526975"/>
                </a:solidFill>
                <a:latin typeface="DejaVu Sans"/>
                <a:ea typeface="DejaVu Sans"/>
                <a:cs typeface="DejaVu Sans"/>
              </a:defRPr>
            </a:lvl2pPr>
            <a:lvl3pPr>
              <a:buNone/>
              <a:defRPr sz="1575" b="0">
                <a:solidFill>
                  <a:srgbClr val="526975"/>
                </a:solidFill>
                <a:latin typeface="DejaVu Sans"/>
                <a:ea typeface="DejaVu Sans"/>
                <a:cs typeface="DejaVu Sans"/>
              </a:defRPr>
            </a:lvl3pPr>
            <a:lvl4pPr>
              <a:buNone/>
              <a:defRPr sz="1575" b="0">
                <a:solidFill>
                  <a:srgbClr val="526975"/>
                </a:solidFill>
                <a:latin typeface="DejaVu Sans"/>
                <a:ea typeface="DejaVu Sans"/>
                <a:cs typeface="DejaVu Sans"/>
              </a:defRPr>
            </a:lvl4pPr>
            <a:lvl5pPr>
              <a:buNone/>
              <a:defRPr sz="1575" b="0">
                <a:solidFill>
                  <a:srgbClr val="526975"/>
                </a:solidFill>
                <a:latin typeface="DejaVu Sans"/>
                <a:ea typeface="DejaVu Sans"/>
                <a:cs typeface="DejaVu Sans"/>
              </a:defRPr>
            </a:lvl5pPr>
            <a:lvl6pPr>
              <a:buNone/>
              <a:defRPr sz="1575" b="0">
                <a:solidFill>
                  <a:srgbClr val="526975"/>
                </a:solidFill>
                <a:latin typeface="DejaVu Sans"/>
                <a:ea typeface="DejaVu Sans"/>
                <a:cs typeface="DejaVu Sans"/>
              </a:defRPr>
            </a:lvl6pPr>
            <a:lvl7pPr>
              <a:buNone/>
              <a:defRPr sz="1575" b="0">
                <a:solidFill>
                  <a:srgbClr val="526975"/>
                </a:solidFill>
                <a:latin typeface="DejaVu Sans"/>
                <a:ea typeface="DejaVu Sans"/>
                <a:cs typeface="DejaVu Sans"/>
              </a:defRPr>
            </a:lvl7pPr>
            <a:lvl8pPr>
              <a:buNone/>
              <a:defRPr sz="1575" b="0">
                <a:solidFill>
                  <a:srgbClr val="526975"/>
                </a:solidFill>
                <a:latin typeface="DejaVu Sans"/>
                <a:ea typeface="DejaVu Sans"/>
                <a:cs typeface="DejaVu Sans"/>
              </a:defRPr>
            </a:lvl8pPr>
            <a:lvl9pPr>
              <a:buNone/>
              <a:defRPr sz="1575" b="0">
                <a:solidFill>
                  <a:srgbClr val="526975"/>
                </a:solidFill>
                <a:latin typeface="DejaVu Sans"/>
                <a:ea typeface="DejaVu Sans"/>
                <a:cs typeface="DejaVu Sans"/>
              </a:defRPr>
            </a:lvl9pPr>
          </a:lstStyle>
          <a:p xmlns:a="http://schemas.openxmlformats.org/drawingml/2006/main">
            <a:pPr>
              <a:buNone/>
              <a:defRPr sz="1575" b="0">
                <a:solidFill>
                  <a:srgbClr val="526975"/>
                </a:solidFill>
                <a:latin typeface="DejaVu Sans"/>
                <a:ea typeface="DejaVu Sans"/>
                <a:cs typeface="DejaVu Sans"/>
              </a:defRPr>
            </a:pPr>
            <a:r>
              <a:rPr sz="1575" b="0">
                <a:solidFill>
                  <a:srgbClr val="526975"/>
                </a:solidFill>
                <a:latin typeface="DejaVu Sans"/>
                <a:ea typeface="DejaVu Sans"/>
                <a:cs typeface="DejaVu Sans"/>
              </a:rPr>
              <a:t>Source: Peter Dourmashkin, MIT OCW. Retain attribution and CC BY-NC-SA terms for this educational project.</a:t>
            </a:r>
          </a:p>
        </p:txBody>
      </p:sp>
    </p:spTree>
    <p:extLst>
      <p:ext uri="{BB962C8B-B14F-4D97-AF65-F5344CB8AC3E}">
        <p14:creationId xmlns:p14="http://schemas.microsoft.com/office/powerpoint/2010/main" val="196400479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539793E7-55B0-44ED-B703-02DA65A39ABB}"/>
              </a:ext>
            </a:extLst>
          </p:cNvPr>
          <p:cNvSpPr>
            <a:spLocks xmlns:a="http://schemas.openxmlformats.org/drawingml/2006/main" noGrp="1"/>
          </p:cNvSpPr>
          <p:nvPr/>
        </p:nvSpPr>
        <p:spPr>
          <a:xfrm xmlns:a="http://schemas.openxmlformats.org/drawingml/2006/main">
            <a:off x="762000" y="571500"/>
            <a:ext cx="13620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450" b="1">
                <a:solidFill>
                  <a:srgbClr val="102B3A"/>
                </a:solidFill>
                <a:latin typeface="DejaVu Sans"/>
                <a:ea typeface="DejaVu Sans"/>
                <a:cs typeface="DejaVu Sans"/>
              </a:defRPr>
            </a:defPPr>
            <a:lvl1pPr>
              <a:buNone/>
              <a:defRPr sz="3450" b="1">
                <a:solidFill>
                  <a:srgbClr val="102B3A"/>
                </a:solidFill>
                <a:latin typeface="DejaVu Sans"/>
                <a:ea typeface="DejaVu Sans"/>
                <a:cs typeface="DejaVu Sans"/>
              </a:defRPr>
            </a:lvl1pPr>
            <a:lvl2pPr>
              <a:buNone/>
              <a:defRPr sz="3450" b="1">
                <a:solidFill>
                  <a:srgbClr val="102B3A"/>
                </a:solidFill>
                <a:latin typeface="DejaVu Sans"/>
                <a:ea typeface="DejaVu Sans"/>
                <a:cs typeface="DejaVu Sans"/>
              </a:defRPr>
            </a:lvl2pPr>
            <a:lvl3pPr>
              <a:buNone/>
              <a:defRPr sz="3450" b="1">
                <a:solidFill>
                  <a:srgbClr val="102B3A"/>
                </a:solidFill>
                <a:latin typeface="DejaVu Sans"/>
                <a:ea typeface="DejaVu Sans"/>
                <a:cs typeface="DejaVu Sans"/>
              </a:defRPr>
            </a:lvl3pPr>
            <a:lvl4pPr>
              <a:buNone/>
              <a:defRPr sz="3450" b="1">
                <a:solidFill>
                  <a:srgbClr val="102B3A"/>
                </a:solidFill>
                <a:latin typeface="DejaVu Sans"/>
                <a:ea typeface="DejaVu Sans"/>
                <a:cs typeface="DejaVu Sans"/>
              </a:defRPr>
            </a:lvl4pPr>
            <a:lvl5pPr>
              <a:buNone/>
              <a:defRPr sz="3450" b="1">
                <a:solidFill>
                  <a:srgbClr val="102B3A"/>
                </a:solidFill>
                <a:latin typeface="DejaVu Sans"/>
                <a:ea typeface="DejaVu Sans"/>
                <a:cs typeface="DejaVu Sans"/>
              </a:defRPr>
            </a:lvl5pPr>
            <a:lvl6pPr>
              <a:buNone/>
              <a:defRPr sz="3450" b="1">
                <a:solidFill>
                  <a:srgbClr val="102B3A"/>
                </a:solidFill>
                <a:latin typeface="DejaVu Sans"/>
                <a:ea typeface="DejaVu Sans"/>
                <a:cs typeface="DejaVu Sans"/>
              </a:defRPr>
            </a:lvl6pPr>
            <a:lvl7pPr>
              <a:buNone/>
              <a:defRPr sz="3450" b="1">
                <a:solidFill>
                  <a:srgbClr val="102B3A"/>
                </a:solidFill>
                <a:latin typeface="DejaVu Sans"/>
                <a:ea typeface="DejaVu Sans"/>
                <a:cs typeface="DejaVu Sans"/>
              </a:defRPr>
            </a:lvl7pPr>
            <a:lvl8pPr>
              <a:buNone/>
              <a:defRPr sz="3450" b="1">
                <a:solidFill>
                  <a:srgbClr val="102B3A"/>
                </a:solidFill>
                <a:latin typeface="DejaVu Sans"/>
                <a:ea typeface="DejaVu Sans"/>
                <a:cs typeface="DejaVu Sans"/>
              </a:defRPr>
            </a:lvl8pPr>
            <a:lvl9pPr>
              <a:buNone/>
              <a:defRPr sz="3450" b="1">
                <a:solidFill>
                  <a:srgbClr val="102B3A"/>
                </a:solidFill>
                <a:latin typeface="DejaVu Sans"/>
                <a:ea typeface="DejaVu Sans"/>
                <a:cs typeface="DejaVu Sans"/>
              </a:defRPr>
            </a:lvl9pPr>
          </a:lstStyle>
          <a:p xmlns:a="http://schemas.openxmlformats.org/drawingml/2006/main">
            <a:pPr>
              <a:buNone/>
              <a:defRPr sz="3450" b="1">
                <a:solidFill>
                  <a:srgbClr val="102B3A"/>
                </a:solidFill>
                <a:latin typeface="DejaVu Sans"/>
                <a:ea typeface="DejaVu Sans"/>
                <a:cs typeface="DejaVu Sans"/>
              </a:defRPr>
            </a:pPr>
            <a:r>
              <a:rPr sz="3450" b="1">
                <a:solidFill>
                  <a:srgbClr val="102B3A"/>
                </a:solidFill>
                <a:latin typeface="DejaVu Sans"/>
                <a:ea typeface="DejaVu Sans"/>
                <a:cs typeface="DejaVu Sans"/>
              </a:rPr>
              <a:t>Features and their relevance to the dataset</a:t>
            </a:r>
          </a:p>
        </p:txBody>
      </p:sp>
      <p:sp>
        <p:nvSpPr>
          <p:cNvPr id="2" name="slide-number">
            <a:extLst xmlns:a="http://schemas.openxmlformats.org/drawingml/2006/main">
              <a:ext uri="{FF2B5EF4-FFF2-40B4-BE49-F238E27FC236}">
                <a16:creationId xmlns:a16="http://schemas.microsoft.com/office/drawing/2014/main" id="{1BB3D58A-76F3-4AD0-89D7-AD32B6FF0923}"/>
              </a:ext>
            </a:extLst>
          </p:cNvPr>
          <p:cNvSpPr>
            <a:spLocks xmlns:a="http://schemas.openxmlformats.org/drawingml/2006/main" noGrp="1"/>
          </p:cNvSpPr>
          <p:nvPr/>
        </p:nvSpPr>
        <p:spPr>
          <a:xfrm xmlns:a="http://schemas.openxmlformats.org/drawingml/2006/main">
            <a:off x="13906500" y="795337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0">
                <a:solidFill>
                  <a:srgbClr val="526975"/>
                </a:solidFill>
                <a:latin typeface="DejaVu Sans"/>
                <a:ea typeface="DejaVu Sans"/>
                <a:cs typeface="DejaVu Sans"/>
              </a:defRPr>
            </a:defPPr>
            <a:lvl1pPr>
              <a:buNone/>
              <a:defRPr sz="1575" b="0">
                <a:solidFill>
                  <a:srgbClr val="526975"/>
                </a:solidFill>
                <a:latin typeface="DejaVu Sans"/>
                <a:ea typeface="DejaVu Sans"/>
                <a:cs typeface="DejaVu Sans"/>
              </a:defRPr>
            </a:lvl1pPr>
            <a:lvl2pPr>
              <a:buNone/>
              <a:defRPr sz="1575" b="0">
                <a:solidFill>
                  <a:srgbClr val="526975"/>
                </a:solidFill>
                <a:latin typeface="DejaVu Sans"/>
                <a:ea typeface="DejaVu Sans"/>
                <a:cs typeface="DejaVu Sans"/>
              </a:defRPr>
            </a:lvl2pPr>
            <a:lvl3pPr>
              <a:buNone/>
              <a:defRPr sz="1575" b="0">
                <a:solidFill>
                  <a:srgbClr val="526975"/>
                </a:solidFill>
                <a:latin typeface="DejaVu Sans"/>
                <a:ea typeface="DejaVu Sans"/>
                <a:cs typeface="DejaVu Sans"/>
              </a:defRPr>
            </a:lvl3pPr>
            <a:lvl4pPr>
              <a:buNone/>
              <a:defRPr sz="1575" b="0">
                <a:solidFill>
                  <a:srgbClr val="526975"/>
                </a:solidFill>
                <a:latin typeface="DejaVu Sans"/>
                <a:ea typeface="DejaVu Sans"/>
                <a:cs typeface="DejaVu Sans"/>
              </a:defRPr>
            </a:lvl4pPr>
            <a:lvl5pPr>
              <a:buNone/>
              <a:defRPr sz="1575" b="0">
                <a:solidFill>
                  <a:srgbClr val="526975"/>
                </a:solidFill>
                <a:latin typeface="DejaVu Sans"/>
                <a:ea typeface="DejaVu Sans"/>
                <a:cs typeface="DejaVu Sans"/>
              </a:defRPr>
            </a:lvl5pPr>
            <a:lvl6pPr>
              <a:buNone/>
              <a:defRPr sz="1575" b="0">
                <a:solidFill>
                  <a:srgbClr val="526975"/>
                </a:solidFill>
                <a:latin typeface="DejaVu Sans"/>
                <a:ea typeface="DejaVu Sans"/>
                <a:cs typeface="DejaVu Sans"/>
              </a:defRPr>
            </a:lvl6pPr>
            <a:lvl7pPr>
              <a:buNone/>
              <a:defRPr sz="1575" b="0">
                <a:solidFill>
                  <a:srgbClr val="526975"/>
                </a:solidFill>
                <a:latin typeface="DejaVu Sans"/>
                <a:ea typeface="DejaVu Sans"/>
                <a:cs typeface="DejaVu Sans"/>
              </a:defRPr>
            </a:lvl7pPr>
            <a:lvl8pPr>
              <a:buNone/>
              <a:defRPr sz="1575" b="0">
                <a:solidFill>
                  <a:srgbClr val="526975"/>
                </a:solidFill>
                <a:latin typeface="DejaVu Sans"/>
                <a:ea typeface="DejaVu Sans"/>
                <a:cs typeface="DejaVu Sans"/>
              </a:defRPr>
            </a:lvl8pPr>
            <a:lvl9pPr>
              <a:buNone/>
              <a:defRPr sz="1575" b="0">
                <a:solidFill>
                  <a:srgbClr val="526975"/>
                </a:solidFill>
                <a:latin typeface="DejaVu Sans"/>
                <a:ea typeface="DejaVu Sans"/>
                <a:cs typeface="DejaVu Sans"/>
              </a:defRPr>
            </a:lvl9pPr>
          </a:lstStyle>
          <a:p xmlns:a="http://schemas.openxmlformats.org/drawingml/2006/main">
            <a:pPr>
              <a:buNone/>
              <a:defRPr sz="1575" b="0">
                <a:solidFill>
                  <a:srgbClr val="526975"/>
                </a:solidFill>
                <a:latin typeface="DejaVu Sans"/>
                <a:ea typeface="DejaVu Sans"/>
                <a:cs typeface="DejaVu Sans"/>
              </a:defRPr>
            </a:pPr>
            <a:r>
              <a:rPr sz="1575" b="0">
                <a:solidFill>
                  <a:srgbClr val="526975"/>
                </a:solidFill>
                <a:latin typeface="DejaVu Sans"/>
                <a:ea typeface="DejaVu Sans"/>
                <a:cs typeface="DejaVu Sans"/>
              </a:rPr>
              <a:t>04</a:t>
            </a:r>
          </a:p>
        </p:txBody>
      </p:sp>
      <p:graphicFrame>
        <p:nvGraphicFramePr>
          <p:cNvPr id="3" name="">
            <a:extLst xmlns:a="http://schemas.openxmlformats.org/drawingml/2006/main">
              <a:ext uri="{FF2B5EF4-FFF2-40B4-BE49-F238E27FC236}">
                <a16:creationId xmlns:a16="http://schemas.microsoft.com/office/drawing/2014/main" id="{B485037C-AE60-47F5-AF16-AD64C83E79F3}"/>
              </a:ext>
            </a:extLst>
          </p:cNvPr>
          <p:cNvGraphicFramePr/>
          <p:nvPr/>
        </p:nvGraphicFramePr>
        <p:xfrm>
          <a:off xmlns:a="http://schemas.openxmlformats.org/drawingml/2006/main" x="762000" y="1847850"/>
          <a:ext xmlns:a="http://schemas.openxmlformats.org/drawingml/2006/main" cx="13716000" cy="5162550"/>
        </p:xfrm>
        <a:graphic xmlns:a="http://schemas.openxmlformats.org/drawingml/2006/main">
          <a:graphicData uri="http://schemas.openxmlformats.org/drawingml/2006/table">
            <a:tbl>
              <a:tblPr firstRow="1" bandRow="0"/>
              <a:tblGrid>
                <a:gridCol w="3143250"/>
                <a:gridCol w="5238750"/>
                <a:gridCol w="5334000"/>
              </a:tblGrid>
              <a:tr h="590550">
                <a:tc>
                  <a:txBody>
                    <a:bodyPr wrap="square" lIns="152400" tIns="95250" rIns="152400" bIns="95250">
                      <a:noAutofit/>
                    </a:bodyPr>
                    <a:lstStyle/>
                    <a:p>
                      <a:r>
                        <a:rPr sz="1875" b="1">
                          <a:solidFill>
                            <a:srgbClr val="FFFFFF"/>
                          </a:solidFill>
                          <a:latin typeface="DejaVu Sans"/>
                          <a:ea typeface="DejaVu Sans"/>
                          <a:cs typeface="DejaVu Sans"/>
                        </a:rPr>
                        <a:t>Feature or field</a:t>
                      </a:r>
                    </a:p>
                  </a:txBody>
                  <a:tcPr marL="91440" marR="91440" marT="45720" marB="45720" anchor="ctr">
                    <a:lnL w="7620">
                      <a:solidFill>
                        <a:srgbClr val="CCDADC"/>
                      </a:solidFill>
                      <a:prstDash val="solid"/>
                    </a:lnL>
                    <a:lnR w="7620">
                      <a:solidFill>
                        <a:srgbClr val="CCDADC"/>
                      </a:solidFill>
                      <a:prstDash val="solid"/>
                    </a:lnR>
                    <a:lnT w="7620">
                      <a:solidFill>
                        <a:srgbClr val="CCDADC"/>
                      </a:solidFill>
                      <a:prstDash val="solid"/>
                    </a:lnT>
                    <a:lnB w="7620">
                      <a:solidFill>
                        <a:srgbClr val="CCDADC"/>
                      </a:solidFill>
                      <a:prstDash val="solid"/>
                    </a:lnB>
                    <a:solidFill>
                      <a:srgbClr val="102B3A"/>
                    </a:solidFill>
                  </a:tcPr>
                </a:tc>
                <a:tc>
                  <a:txBody>
                    <a:bodyPr wrap="square" lIns="152400" tIns="95250" rIns="152400" bIns="95250">
                      <a:noAutofit/>
                    </a:bodyPr>
                    <a:lstStyle/>
                    <a:p>
                      <a:r>
                        <a:rPr sz="1875" b="1">
                          <a:solidFill>
                            <a:srgbClr val="FFFFFF"/>
                          </a:solidFill>
                          <a:latin typeface="DejaVu Sans"/>
                          <a:ea typeface="DejaVu Sans"/>
                          <a:cs typeface="DejaVu Sans"/>
                        </a:rPr>
                        <a:t>How we use it</a:t>
                      </a:r>
                    </a:p>
                  </a:txBody>
                  <a:tcPr marL="91440" marR="91440" marT="45720" marB="45720" anchor="ctr">
                    <a:lnR w="7620">
                      <a:solidFill>
                        <a:srgbClr val="CCDADC"/>
                      </a:solidFill>
                      <a:prstDash val="solid"/>
                    </a:lnR>
                    <a:lnT w="7620">
                      <a:solidFill>
                        <a:srgbClr val="CCDADC"/>
                      </a:solidFill>
                      <a:prstDash val="solid"/>
                    </a:lnT>
                    <a:lnB w="7620">
                      <a:solidFill>
                        <a:srgbClr val="CCDADC"/>
                      </a:solidFill>
                      <a:prstDash val="solid"/>
                    </a:lnB>
                    <a:solidFill>
                      <a:srgbClr val="102B3A"/>
                    </a:solidFill>
                  </a:tcPr>
                </a:tc>
                <a:tc>
                  <a:txBody>
                    <a:bodyPr wrap="square" lIns="152400" tIns="95250" rIns="152400" bIns="95250">
                      <a:noAutofit/>
                    </a:bodyPr>
                    <a:lstStyle/>
                    <a:p>
                      <a:r>
                        <a:rPr sz="1875" b="1">
                          <a:solidFill>
                            <a:srgbClr val="FFFFFF"/>
                          </a:solidFill>
                          <a:latin typeface="DejaVu Sans"/>
                          <a:ea typeface="DejaVu Sans"/>
                          <a:cs typeface="DejaVu Sans"/>
                        </a:rPr>
                        <a:t>Why it matters</a:t>
                      </a:r>
                    </a:p>
                  </a:txBody>
                  <a:tcPr marL="91440" marR="91440" marT="45720" marB="45720" anchor="ctr">
                    <a:lnR w="7620">
                      <a:solidFill>
                        <a:srgbClr val="CCDADC"/>
                      </a:solidFill>
                      <a:prstDash val="solid"/>
                    </a:lnR>
                    <a:lnT w="7620">
                      <a:solidFill>
                        <a:srgbClr val="CCDADC"/>
                      </a:solidFill>
                      <a:prstDash val="solid"/>
                    </a:lnT>
                    <a:lnB w="7620">
                      <a:solidFill>
                        <a:srgbClr val="CCDADC"/>
                      </a:solidFill>
                      <a:prstDash val="solid"/>
                    </a:lnB>
                    <a:solidFill>
                      <a:srgbClr val="102B3A"/>
                    </a:solidFill>
                  </a:tcPr>
                </a:tc>
              </a:tr>
              <a:tr h="762000">
                <a:tc>
                  <a:txBody>
                    <a:bodyPr wrap="square" lIns="152400" tIns="95250" rIns="152400" bIns="95250">
                      <a:noAutofit/>
                    </a:bodyPr>
                    <a:lstStyle/>
                    <a:p>
                      <a:r>
                        <a:rPr sz="1875" b="1">
                          <a:solidFill>
                            <a:srgbClr val="102B3A"/>
                          </a:solidFill>
                          <a:latin typeface="DejaVu Sans"/>
                          <a:ea typeface="DejaVu Sans"/>
                          <a:cs typeface="DejaVu Sans"/>
                        </a:rPr>
                        <a:t>Section title + text</a:t>
                      </a:r>
                    </a:p>
                  </a:txBody>
                  <a:tcPr marL="91440" marR="91440" marT="45720" marB="45720" anchor="ctr">
                    <a:lnL w="7620">
                      <a:solidFill>
                        <a:srgbClr val="CCDADC"/>
                      </a:solidFill>
                      <a:prstDash val="solid"/>
                    </a:lnL>
                    <a:lnR w="7620">
                      <a:solidFill>
                        <a:srgbClr val="CCDADC"/>
                      </a:solidFill>
                      <a:prstDash val="solid"/>
                    </a:lnR>
                    <a:lnB w="7620">
                      <a:solidFill>
                        <a:srgbClr val="CCDADC"/>
                      </a:solidFill>
                      <a:prstDash val="solid"/>
                    </a:lnB>
                    <a:solidFill>
                      <a:srgbClr val="FFFFFF"/>
                    </a:solidFill>
                  </a:tcPr>
                </a:tc>
                <a:tc>
                  <a:txBody>
                    <a:bodyPr wrap="square" lIns="152400" tIns="95250" rIns="152400" bIns="95250">
                      <a:noAutofit/>
                    </a:bodyPr>
                    <a:lstStyle/>
                    <a:p>
                      <a:r>
                        <a:rPr sz="1875" b="0">
                          <a:solidFill>
                            <a:srgbClr val="193646"/>
                          </a:solidFill>
                          <a:latin typeface="DejaVu Sans"/>
                          <a:ea typeface="DejaVu Sans"/>
                          <a:cs typeface="DejaVu Sans"/>
                        </a:rPr>
                        <a:t>Split concept text into short passages.</a:t>
                      </a:r>
                    </a:p>
                    <a:p>
                      <a:r>
                        <a:rPr sz="1875" b="0">
                          <a:solidFill>
                            <a:srgbClr val="193646"/>
                          </a:solidFill>
                          <a:latin typeface="DejaVu Sans"/>
                          <a:ea typeface="DejaVu Sans"/>
                          <a:cs typeface="DejaVu Sans"/>
                        </a:rPr>
                        <a:t>Include the section title in each.</a:t>
                      </a:r>
                    </a:p>
                  </a:txBody>
                  <a:tcPr marL="91440" marR="91440" marT="45720" marB="45720" anchor="ctr">
                    <a:lnR w="7620">
                      <a:solidFill>
                        <a:srgbClr val="CCDADC"/>
                      </a:solidFill>
                      <a:prstDash val="solid"/>
                    </a:lnR>
                    <a:lnB w="7620">
                      <a:solidFill>
                        <a:srgbClr val="CCDADC"/>
                      </a:solidFill>
                      <a:prstDash val="solid"/>
                    </a:lnB>
                    <a:solidFill>
                      <a:srgbClr val="FFFFFF"/>
                    </a:solidFill>
                  </a:tcPr>
                </a:tc>
                <a:tc>
                  <a:txBody>
                    <a:bodyPr wrap="square" lIns="152400" tIns="95250" rIns="152400" bIns="95250">
                      <a:noAutofit/>
                    </a:bodyPr>
                    <a:lstStyle/>
                    <a:p>
                      <a:r>
                        <a:rPr sz="1875" b="0">
                          <a:solidFill>
                            <a:srgbClr val="193646"/>
                          </a:solidFill>
                          <a:latin typeface="DejaVu Sans"/>
                          <a:ea typeface="DejaVu Sans"/>
                          <a:cs typeface="DejaVu Sans"/>
                        </a:rPr>
                        <a:t>Provides the facts and preserves the</a:t>
                      </a:r>
                    </a:p>
                    <a:p>
                      <a:r>
                        <a:rPr sz="1875" b="0">
                          <a:solidFill>
                            <a:srgbClr val="193646"/>
                          </a:solidFill>
                          <a:latin typeface="DejaVu Sans"/>
                          <a:ea typeface="DejaVu Sans"/>
                          <a:cs typeface="DejaVu Sans"/>
                        </a:rPr>
                        <a:t>topic when a passage appears alone.</a:t>
                      </a:r>
                    </a:p>
                  </a:txBody>
                  <a:tcPr marL="91440" marR="91440" marT="45720" marB="45720" anchor="ctr">
                    <a:lnR w="7620">
                      <a:solidFill>
                        <a:srgbClr val="CCDADC"/>
                      </a:solidFill>
                      <a:prstDash val="solid"/>
                    </a:lnR>
                    <a:lnB w="7620">
                      <a:solidFill>
                        <a:srgbClr val="CCDADC"/>
                      </a:solidFill>
                      <a:prstDash val="solid"/>
                    </a:lnB>
                    <a:solidFill>
                      <a:srgbClr val="FFFFFF"/>
                    </a:solidFill>
                  </a:tcPr>
                </a:tc>
              </a:tr>
              <a:tr h="762000">
                <a:tc>
                  <a:txBody>
                    <a:bodyPr wrap="square" lIns="152400" tIns="95250" rIns="152400" bIns="95250">
                      <a:noAutofit/>
                    </a:bodyPr>
                    <a:lstStyle/>
                    <a:p>
                      <a:r>
                        <a:rPr sz="1875" b="1">
                          <a:solidFill>
                            <a:srgbClr val="102B3A"/>
                          </a:solidFill>
                          <a:latin typeface="DejaVu Sans"/>
                          <a:ea typeface="DejaVu Sans"/>
                          <a:cs typeface="DejaVu Sans"/>
                        </a:rPr>
                        <a:t>Chapter, page, URL</a:t>
                      </a:r>
                    </a:p>
                  </a:txBody>
                  <a:tcPr marL="91440" marR="91440" marT="45720" marB="45720" anchor="ctr">
                    <a:lnL w="7620">
                      <a:solidFill>
                        <a:srgbClr val="CCDADC"/>
                      </a:solidFill>
                      <a:prstDash val="solid"/>
                    </a:lnL>
                    <a:lnR w="7620">
                      <a:solidFill>
                        <a:srgbClr val="CCDADC"/>
                      </a:solidFill>
                      <a:prstDash val="solid"/>
                    </a:lnR>
                    <a:lnB w="7620">
                      <a:solidFill>
                        <a:srgbClr val="CCDADC"/>
                      </a:solidFill>
                      <a:prstDash val="solid"/>
                    </a:lnB>
                    <a:solidFill>
                      <a:srgbClr val="F5F9F9"/>
                    </a:solidFill>
                  </a:tcPr>
                </a:tc>
                <a:tc>
                  <a:txBody>
                    <a:bodyPr wrap="square" lIns="152400" tIns="95250" rIns="152400" bIns="95250">
                      <a:noAutofit/>
                    </a:bodyPr>
                    <a:lstStyle/>
                    <a:p>
                      <a:r>
                        <a:rPr sz="1875" b="0">
                          <a:solidFill>
                            <a:srgbClr val="193646"/>
                          </a:solidFill>
                          <a:latin typeface="DejaVu Sans"/>
                          <a:ea typeface="DejaVu Sans"/>
                          <a:cs typeface="DejaVu Sans"/>
                        </a:rPr>
                        <a:t>Store source location and a stable</a:t>
                      </a:r>
                    </a:p>
                    <a:p>
                      <a:r>
                        <a:rPr sz="1875" b="0">
                          <a:solidFill>
                            <a:srgbClr val="193646"/>
                          </a:solidFill>
                          <a:latin typeface="DejaVu Sans"/>
                          <a:ea typeface="DejaVu Sans"/>
                          <a:cs typeface="DejaVu Sans"/>
                        </a:rPr>
                        <a:t>chunk ID for every passage.</a:t>
                      </a:r>
                    </a:p>
                  </a:txBody>
                  <a:tcPr marL="91440" marR="91440" marT="45720" marB="45720" anchor="ctr">
                    <a:lnR w="7620">
                      <a:solidFill>
                        <a:srgbClr val="CCDADC"/>
                      </a:solidFill>
                      <a:prstDash val="solid"/>
                    </a:lnR>
                    <a:lnB w="7620">
                      <a:solidFill>
                        <a:srgbClr val="CCDADC"/>
                      </a:solidFill>
                      <a:prstDash val="solid"/>
                    </a:lnB>
                    <a:solidFill>
                      <a:srgbClr val="F5F9F9"/>
                    </a:solidFill>
                  </a:tcPr>
                </a:tc>
                <a:tc>
                  <a:txBody>
                    <a:bodyPr wrap="square" lIns="152400" tIns="95250" rIns="152400" bIns="95250">
                      <a:noAutofit/>
                    </a:bodyPr>
                    <a:lstStyle/>
                    <a:p>
                      <a:r>
                        <a:rPr sz="1875" b="0">
                          <a:solidFill>
                            <a:srgbClr val="193646"/>
                          </a:solidFill>
                          <a:latin typeface="DejaVu Sans"/>
                          <a:ea typeface="DejaVu Sans"/>
                          <a:cs typeface="DejaVu Sans"/>
                        </a:rPr>
                        <a:t>Lets students verify the answer in</a:t>
                      </a:r>
                    </a:p>
                    <a:p>
                      <a:r>
                        <a:rPr sz="1875" b="0">
                          <a:solidFill>
                            <a:srgbClr val="193646"/>
                          </a:solidFill>
                          <a:latin typeface="DejaVu Sans"/>
                          <a:ea typeface="DejaVu Sans"/>
                          <a:cs typeface="DejaVu Sans"/>
                        </a:rPr>
                        <a:t>the exact local PDF passage.</a:t>
                      </a:r>
                    </a:p>
                  </a:txBody>
                  <a:tcPr marL="91440" marR="91440" marT="45720" marB="45720" anchor="ctr">
                    <a:lnR w="7620">
                      <a:solidFill>
                        <a:srgbClr val="CCDADC"/>
                      </a:solidFill>
                      <a:prstDash val="solid"/>
                    </a:lnR>
                    <a:lnB w="7620">
                      <a:solidFill>
                        <a:srgbClr val="CCDADC"/>
                      </a:solidFill>
                      <a:prstDash val="solid"/>
                    </a:lnB>
                    <a:solidFill>
                      <a:srgbClr val="F5F9F9"/>
                    </a:solidFill>
                  </a:tcPr>
                </a:tc>
              </a:tr>
              <a:tr h="762000">
                <a:tc>
                  <a:txBody>
                    <a:bodyPr wrap="square" lIns="152400" tIns="95250" rIns="152400" bIns="95250">
                      <a:noAutofit/>
                    </a:bodyPr>
                    <a:lstStyle/>
                    <a:p>
                      <a:r>
                        <a:rPr sz="1875" b="1">
                          <a:solidFill>
                            <a:srgbClr val="102B3A"/>
                          </a:solidFill>
                          <a:latin typeface="DejaVu Sans"/>
                          <a:ea typeface="DejaVu Sans"/>
                          <a:cs typeface="DejaVu Sans"/>
                        </a:rPr>
                        <a:t>384-value embedding</a:t>
                      </a:r>
                    </a:p>
                  </a:txBody>
                  <a:tcPr marL="91440" marR="91440" marT="45720" marB="45720" anchor="ctr">
                    <a:lnL w="7620">
                      <a:solidFill>
                        <a:srgbClr val="CCDADC"/>
                      </a:solidFill>
                      <a:prstDash val="solid"/>
                    </a:lnL>
                    <a:lnR w="7620">
                      <a:solidFill>
                        <a:srgbClr val="CCDADC"/>
                      </a:solidFill>
                      <a:prstDash val="solid"/>
                    </a:lnR>
                    <a:lnB w="7620">
                      <a:solidFill>
                        <a:srgbClr val="CCDADC"/>
                      </a:solidFill>
                      <a:prstDash val="solid"/>
                    </a:lnB>
                    <a:solidFill>
                      <a:srgbClr val="FFFFFF"/>
                    </a:solidFill>
                  </a:tcPr>
                </a:tc>
                <a:tc>
                  <a:txBody>
                    <a:bodyPr wrap="square" lIns="152400" tIns="95250" rIns="152400" bIns="95250">
                      <a:noAutofit/>
                    </a:bodyPr>
                    <a:lstStyle/>
                    <a:p>
                      <a:r>
                        <a:rPr sz="1875" b="0">
                          <a:solidFill>
                            <a:srgbClr val="193646"/>
                          </a:solidFill>
                          <a:latin typeface="DejaVu Sans"/>
                          <a:ea typeface="DejaVu Sans"/>
                          <a:cs typeface="DejaVu Sans"/>
                        </a:rPr>
                        <a:t>Encode passage and question</a:t>
                      </a:r>
                    </a:p>
                    <a:p>
                      <a:r>
                        <a:rPr sz="1875" b="0">
                          <a:solidFill>
                            <a:srgbClr val="193646"/>
                          </a:solidFill>
                          <a:latin typeface="DejaVu Sans"/>
                          <a:ea typeface="DejaVu Sans"/>
                          <a:cs typeface="DejaVu Sans"/>
                        </a:rPr>
                        <a:t>with all-MiniLM-L6-v2.</a:t>
                      </a:r>
                    </a:p>
                  </a:txBody>
                  <a:tcPr marL="91440" marR="91440" marT="45720" marB="45720" anchor="ctr">
                    <a:lnR w="7620">
                      <a:solidFill>
                        <a:srgbClr val="CCDADC"/>
                      </a:solidFill>
                      <a:prstDash val="solid"/>
                    </a:lnR>
                    <a:lnB w="7620">
                      <a:solidFill>
                        <a:srgbClr val="CCDADC"/>
                      </a:solidFill>
                      <a:prstDash val="solid"/>
                    </a:lnB>
                    <a:solidFill>
                      <a:srgbClr val="FFFFFF"/>
                    </a:solidFill>
                  </a:tcPr>
                </a:tc>
                <a:tc>
                  <a:txBody>
                    <a:bodyPr wrap="square" lIns="152400" tIns="95250" rIns="152400" bIns="95250">
                      <a:noAutofit/>
                    </a:bodyPr>
                    <a:lstStyle/>
                    <a:p>
                      <a:r>
                        <a:rPr sz="1875" b="0">
                          <a:solidFill>
                            <a:srgbClr val="193646"/>
                          </a:solidFill>
                          <a:latin typeface="DejaVu Sans"/>
                          <a:ea typeface="DejaVu Sans"/>
                          <a:cs typeface="DejaVu Sans"/>
                        </a:rPr>
                        <a:t>Matches paraphrased questions to</a:t>
                      </a:r>
                    </a:p>
                    <a:p>
                      <a:r>
                        <a:rPr sz="1875" b="0">
                          <a:solidFill>
                            <a:srgbClr val="193646"/>
                          </a:solidFill>
                          <a:latin typeface="DejaVu Sans"/>
                          <a:ea typeface="DejaVu Sans"/>
                          <a:cs typeface="DejaVu Sans"/>
                        </a:rPr>
                        <a:t>concepts in the mechanics notes.</a:t>
                      </a:r>
                    </a:p>
                  </a:txBody>
                  <a:tcPr marL="91440" marR="91440" marT="45720" marB="45720" anchor="ctr">
                    <a:lnR w="7620">
                      <a:solidFill>
                        <a:srgbClr val="CCDADC"/>
                      </a:solidFill>
                      <a:prstDash val="solid"/>
                    </a:lnR>
                    <a:lnB w="7620">
                      <a:solidFill>
                        <a:srgbClr val="CCDADC"/>
                      </a:solidFill>
                      <a:prstDash val="solid"/>
                    </a:lnB>
                    <a:solidFill>
                      <a:srgbClr val="FFFFFF"/>
                    </a:solidFill>
                  </a:tcPr>
                </a:tc>
              </a:tr>
              <a:tr h="762000">
                <a:tc>
                  <a:txBody>
                    <a:bodyPr wrap="square" lIns="152400" tIns="95250" rIns="152400" bIns="95250">
                      <a:noAutofit/>
                    </a:bodyPr>
                    <a:lstStyle/>
                    <a:p>
                      <a:r>
                        <a:rPr sz="1875" b="1">
                          <a:solidFill>
                            <a:srgbClr val="102B3A"/>
                          </a:solidFill>
                          <a:latin typeface="DejaVu Sans"/>
                          <a:ea typeface="DejaVu Sans"/>
                          <a:cs typeface="DejaVu Sans"/>
                        </a:rPr>
                        <a:t>Token count + offsets</a:t>
                      </a:r>
                    </a:p>
                  </a:txBody>
                  <a:tcPr marL="91440" marR="91440" marT="45720" marB="45720" anchor="ctr">
                    <a:lnL w="7620">
                      <a:solidFill>
                        <a:srgbClr val="CCDADC"/>
                      </a:solidFill>
                      <a:prstDash val="solid"/>
                    </a:lnL>
                    <a:lnR w="7620">
                      <a:solidFill>
                        <a:srgbClr val="CCDADC"/>
                      </a:solidFill>
                      <a:prstDash val="solid"/>
                    </a:lnR>
                    <a:lnB w="7620">
                      <a:solidFill>
                        <a:srgbClr val="CCDADC"/>
                      </a:solidFill>
                      <a:prstDash val="solid"/>
                    </a:lnB>
                    <a:solidFill>
                      <a:srgbClr val="F5F9F9"/>
                    </a:solidFill>
                  </a:tcPr>
                </a:tc>
                <a:tc>
                  <a:txBody>
                    <a:bodyPr wrap="square" lIns="152400" tIns="95250" rIns="152400" bIns="95250">
                      <a:noAutofit/>
                    </a:bodyPr>
                    <a:lstStyle/>
                    <a:p>
                      <a:r>
                        <a:rPr sz="1875" b="0">
                          <a:solidFill>
                            <a:srgbClr val="193646"/>
                          </a:solidFill>
                          <a:latin typeface="DejaVu Sans"/>
                          <a:ea typeface="DejaVu Sans"/>
                          <a:cs typeface="DejaVu Sans"/>
                        </a:rPr>
                        <a:t>Start with 80-token chunks and</a:t>
                      </a:r>
                    </a:p>
                    <a:p>
                      <a:r>
                        <a:rPr sz="1875" b="0">
                          <a:solidFill>
                            <a:srgbClr val="193646"/>
                          </a:solidFill>
                          <a:latin typeface="DejaVu Sans"/>
                          <a:ea typeface="DejaVu Sans"/>
                          <a:cs typeface="DejaVu Sans"/>
                        </a:rPr>
                        <a:t>16-token overlap. Save boundaries.</a:t>
                      </a:r>
                    </a:p>
                  </a:txBody>
                  <a:tcPr marL="91440" marR="91440" marT="45720" marB="45720" anchor="ctr">
                    <a:lnR w="7620">
                      <a:solidFill>
                        <a:srgbClr val="CCDADC"/>
                      </a:solidFill>
                      <a:prstDash val="solid"/>
                    </a:lnR>
                    <a:lnB w="7620">
                      <a:solidFill>
                        <a:srgbClr val="CCDADC"/>
                      </a:solidFill>
                      <a:prstDash val="solid"/>
                    </a:lnB>
                    <a:solidFill>
                      <a:srgbClr val="F5F9F9"/>
                    </a:solidFill>
                  </a:tcPr>
                </a:tc>
                <a:tc>
                  <a:txBody>
                    <a:bodyPr wrap="square" lIns="152400" tIns="95250" rIns="152400" bIns="95250">
                      <a:noAutofit/>
                    </a:bodyPr>
                    <a:lstStyle/>
                    <a:p>
                      <a:r>
                        <a:rPr sz="1875" b="0">
                          <a:solidFill>
                            <a:srgbClr val="193646"/>
                          </a:solidFill>
                          <a:latin typeface="DejaVu Sans"/>
                          <a:ea typeface="DejaVu Sans"/>
                          <a:cs typeface="DejaVu Sans"/>
                        </a:rPr>
                        <a:t>Fits the generator budget and keeps</a:t>
                      </a:r>
                    </a:p>
                    <a:p>
                      <a:r>
                        <a:rPr sz="1875" b="0">
                          <a:solidFill>
                            <a:srgbClr val="193646"/>
                          </a:solidFill>
                          <a:latin typeface="DejaVu Sans"/>
                          <a:ea typeface="DejaVu Sans"/>
                          <a:cs typeface="DejaVu Sans"/>
                        </a:rPr>
                        <a:t>evidence linked to source spans.</a:t>
                      </a:r>
                    </a:p>
                  </a:txBody>
                  <a:tcPr marL="91440" marR="91440" marT="45720" marB="45720" anchor="ctr">
                    <a:lnR w="7620">
                      <a:solidFill>
                        <a:srgbClr val="CCDADC"/>
                      </a:solidFill>
                      <a:prstDash val="solid"/>
                    </a:lnR>
                    <a:lnB w="7620">
                      <a:solidFill>
                        <a:srgbClr val="CCDADC"/>
                      </a:solidFill>
                      <a:prstDash val="solid"/>
                    </a:lnB>
                    <a:solidFill>
                      <a:srgbClr val="F5F9F9"/>
                    </a:solidFill>
                  </a:tcPr>
                </a:tc>
              </a:tr>
              <a:tr h="762000">
                <a:tc>
                  <a:txBody>
                    <a:bodyPr wrap="square" lIns="152400" tIns="95250" rIns="152400" bIns="95250">
                      <a:noAutofit/>
                    </a:bodyPr>
                    <a:lstStyle/>
                    <a:p>
                      <a:r>
                        <a:rPr sz="1875" b="1">
                          <a:solidFill>
                            <a:srgbClr val="102B3A"/>
                          </a:solidFill>
                          <a:latin typeface="DejaVu Sans"/>
                          <a:ea typeface="DejaVu Sans"/>
                          <a:cs typeface="DejaVu Sans"/>
                        </a:rPr>
                        <a:t>Cosine similarity</a:t>
                      </a:r>
                    </a:p>
                  </a:txBody>
                  <a:tcPr marL="91440" marR="91440" marT="45720" marB="45720" anchor="ctr">
                    <a:lnL w="7620">
                      <a:solidFill>
                        <a:srgbClr val="CCDADC"/>
                      </a:solidFill>
                      <a:prstDash val="solid"/>
                    </a:lnL>
                    <a:lnR w="7620">
                      <a:solidFill>
                        <a:srgbClr val="CCDADC"/>
                      </a:solidFill>
                      <a:prstDash val="solid"/>
                    </a:lnR>
                    <a:lnB w="7620">
                      <a:solidFill>
                        <a:srgbClr val="CCDADC"/>
                      </a:solidFill>
                      <a:prstDash val="solid"/>
                    </a:lnB>
                    <a:solidFill>
                      <a:srgbClr val="FFFFFF"/>
                    </a:solidFill>
                  </a:tcPr>
                </a:tc>
                <a:tc>
                  <a:txBody>
                    <a:bodyPr wrap="square" lIns="152400" tIns="95250" rIns="152400" bIns="95250">
                      <a:noAutofit/>
                    </a:bodyPr>
                    <a:lstStyle/>
                    <a:p>
                      <a:r>
                        <a:rPr sz="1875" b="0">
                          <a:solidFill>
                            <a:srgbClr val="193646"/>
                          </a:solidFill>
                          <a:latin typeface="DejaVu Sans"/>
                          <a:ea typeface="DejaVu Sans"/>
                          <a:cs typeface="DejaVu Sans"/>
                        </a:rPr>
                        <a:t>Rank passages and, for evidence</a:t>
                      </a:r>
                    </a:p>
                    <a:p>
                      <a:r>
                        <a:rPr sz="1875" b="0">
                          <a:solidFill>
                            <a:srgbClr val="193646"/>
                          </a:solidFill>
                          <a:latin typeface="DejaVu Sans"/>
                          <a:ea typeface="DejaVu Sans"/>
                          <a:cs typeface="DejaVu Sans"/>
                        </a:rPr>
                        <a:t>fusion, rank source sentences.</a:t>
                      </a:r>
                    </a:p>
                  </a:txBody>
                  <a:tcPr marL="91440" marR="91440" marT="45720" marB="45720" anchor="ctr">
                    <a:lnR w="7620">
                      <a:solidFill>
                        <a:srgbClr val="CCDADC"/>
                      </a:solidFill>
                      <a:prstDash val="solid"/>
                    </a:lnR>
                    <a:lnB w="7620">
                      <a:solidFill>
                        <a:srgbClr val="CCDADC"/>
                      </a:solidFill>
                      <a:prstDash val="solid"/>
                    </a:lnB>
                    <a:solidFill>
                      <a:srgbClr val="FFFFFF"/>
                    </a:solidFill>
                  </a:tcPr>
                </a:tc>
                <a:tc>
                  <a:txBody>
                    <a:bodyPr wrap="square" lIns="152400" tIns="95250" rIns="152400" bIns="95250">
                      <a:noAutofit/>
                    </a:bodyPr>
                    <a:lstStyle/>
                    <a:p>
                      <a:r>
                        <a:rPr sz="1875" b="0">
                          <a:solidFill>
                            <a:srgbClr val="193646"/>
                          </a:solidFill>
                          <a:latin typeface="DejaVu Sans"/>
                          <a:ea typeface="DejaVu Sans"/>
                          <a:cs typeface="DejaVu Sans"/>
                        </a:rPr>
                        <a:t>Selects relevant text. A high score</a:t>
                      </a:r>
                    </a:p>
                    <a:p>
                      <a:r>
                        <a:rPr sz="1875" b="0">
                          <a:solidFill>
                            <a:srgbClr val="193646"/>
                          </a:solidFill>
                          <a:latin typeface="DejaVu Sans"/>
                          <a:ea typeface="DejaVu Sans"/>
                          <a:cs typeface="DejaVu Sans"/>
                        </a:rPr>
                        <a:t>alone does not establish truth.</a:t>
                      </a:r>
                    </a:p>
                  </a:txBody>
                  <a:tcPr marL="91440" marR="91440" marT="45720" marB="45720" anchor="ctr">
                    <a:lnR w="7620">
                      <a:solidFill>
                        <a:srgbClr val="CCDADC"/>
                      </a:solidFill>
                      <a:prstDash val="solid"/>
                    </a:lnR>
                    <a:lnB w="7620">
                      <a:solidFill>
                        <a:srgbClr val="CCDADC"/>
                      </a:solidFill>
                      <a:prstDash val="solid"/>
                    </a:lnB>
                    <a:solidFill>
                      <a:srgbClr val="FFFFFF"/>
                    </a:solidFill>
                  </a:tcPr>
                </a:tc>
              </a:tr>
              <a:tr h="762000">
                <a:tc>
                  <a:txBody>
                    <a:bodyPr wrap="square" lIns="152400" tIns="95250" rIns="152400" bIns="95250">
                      <a:noAutofit/>
                    </a:bodyPr>
                    <a:lstStyle/>
                    <a:p>
                      <a:r>
                        <a:rPr sz="1875" b="1">
                          <a:solidFill>
                            <a:srgbClr val="102B3A"/>
                          </a:solidFill>
                          <a:latin typeface="DejaVu Sans"/>
                          <a:ea typeface="DejaVu Sans"/>
                          <a:cs typeface="DejaVu Sans"/>
                        </a:rPr>
                        <a:t>Gold answer + evidence</a:t>
                      </a:r>
                    </a:p>
                  </a:txBody>
                  <a:tcPr marL="91440" marR="91440" marT="45720" marB="45720" anchor="ctr">
                    <a:lnL w="7620">
                      <a:solidFill>
                        <a:srgbClr val="CCDADC"/>
                      </a:solidFill>
                      <a:prstDash val="solid"/>
                    </a:lnL>
                    <a:lnR w="7620">
                      <a:solidFill>
                        <a:srgbClr val="CCDADC"/>
                      </a:solidFill>
                      <a:prstDash val="solid"/>
                    </a:lnR>
                    <a:lnB w="7620">
                      <a:solidFill>
                        <a:srgbClr val="CCDADC"/>
                      </a:solidFill>
                      <a:prstDash val="solid"/>
                    </a:lnB>
                    <a:solidFill>
                      <a:srgbClr val="F5F9F9"/>
                    </a:solidFill>
                  </a:tcPr>
                </a:tc>
                <a:tc>
                  <a:txBody>
                    <a:bodyPr wrap="square" lIns="152400" tIns="95250" rIns="152400" bIns="95250">
                      <a:noAutofit/>
                    </a:bodyPr>
                    <a:lstStyle/>
                    <a:p>
                      <a:r>
                        <a:rPr sz="1875" b="0">
                          <a:solidFill>
                            <a:srgbClr val="193646"/>
                          </a:solidFill>
                          <a:latin typeface="DejaVu Sans"/>
                          <a:ea typeface="DejaVu Sans"/>
                          <a:cs typeface="DejaVu Sans"/>
                        </a:rPr>
                        <a:t>Keep answers, key points and</a:t>
                      </a:r>
                    </a:p>
                    <a:p>
                      <a:r>
                        <a:rPr sz="1875" b="0">
                          <a:solidFill>
                            <a:srgbClr val="193646"/>
                          </a:solidFill>
                          <a:latin typeface="DejaVu Sans"/>
                          <a:ea typeface="DejaVu Sans"/>
                          <a:cs typeface="DejaVu Sans"/>
                        </a:rPr>
                        <a:t>supporting spans outside the index.</a:t>
                      </a:r>
                    </a:p>
                  </a:txBody>
                  <a:tcPr marL="91440" marR="91440" marT="45720" marB="45720" anchor="ctr">
                    <a:lnR w="7620">
                      <a:solidFill>
                        <a:srgbClr val="CCDADC"/>
                      </a:solidFill>
                      <a:prstDash val="solid"/>
                    </a:lnR>
                    <a:lnB w="7620">
                      <a:solidFill>
                        <a:srgbClr val="CCDADC"/>
                      </a:solidFill>
                      <a:prstDash val="solid"/>
                    </a:lnB>
                    <a:solidFill>
                      <a:srgbClr val="F5F9F9"/>
                    </a:solidFill>
                  </a:tcPr>
                </a:tc>
                <a:tc>
                  <a:txBody>
                    <a:bodyPr wrap="square" lIns="152400" tIns="95250" rIns="152400" bIns="95250">
                      <a:noAutofit/>
                    </a:bodyPr>
                    <a:lstStyle/>
                    <a:p>
                      <a:r>
                        <a:rPr sz="1875" b="0">
                          <a:solidFill>
                            <a:srgbClr val="193646"/>
                          </a:solidFill>
                          <a:latin typeface="DejaVu Sans"/>
                          <a:ea typeface="DejaVu Sans"/>
                          <a:cs typeface="DejaVu Sans"/>
                        </a:rPr>
                        <a:t>Tests physics correctness, source</a:t>
                      </a:r>
                    </a:p>
                    <a:p>
                      <a:r>
                        <a:rPr sz="1875" b="0">
                          <a:solidFill>
                            <a:srgbClr val="193646"/>
                          </a:solidFill>
                          <a:latin typeface="DejaVu Sans"/>
                          <a:ea typeface="DejaVu Sans"/>
                          <a:cs typeface="DejaVu Sans"/>
                        </a:rPr>
                        <a:t>support and appropriate abstention.</a:t>
                      </a:r>
                    </a:p>
                  </a:txBody>
                  <a:tcPr marL="91440" marR="91440" marT="45720" marB="45720" anchor="ctr">
                    <a:lnR w="7620">
                      <a:solidFill>
                        <a:srgbClr val="CCDADC"/>
                      </a:solidFill>
                      <a:prstDash val="solid"/>
                    </a:lnR>
                    <a:lnB w="7620">
                      <a:solidFill>
                        <a:srgbClr val="CCDADC"/>
                      </a:solidFill>
                      <a:prstDash val="solid"/>
                    </a:lnB>
                    <a:solidFill>
                      <a:srgbClr val="F5F9F9"/>
                    </a:solidFill>
                  </a:tcPr>
                </a:tc>
              </a:tr>
            </a:tbl>
          </a:graphicData>
        </a:graphic>
      </p:graphicFrame>
      <p:sp>
        <p:nvSpPr>
          <p:cNvPr id="4" name="context-note">
            <a:extLst xmlns:a="http://schemas.openxmlformats.org/drawingml/2006/main">
              <a:ext uri="{FF2B5EF4-FFF2-40B4-BE49-F238E27FC236}">
                <a16:creationId xmlns:a16="http://schemas.microsoft.com/office/drawing/2014/main" id="{32B4CEA8-618F-40BD-91C7-FB583A81F338}"/>
              </a:ext>
            </a:extLst>
          </p:cNvPr>
          <p:cNvSpPr>
            <a:spLocks xmlns:a="http://schemas.openxmlformats.org/drawingml/2006/main" noGrp="1"/>
          </p:cNvSpPr>
          <p:nvPr/>
        </p:nvSpPr>
        <p:spPr>
          <a:xfrm xmlns:a="http://schemas.openxmlformats.org/drawingml/2006/main">
            <a:off x="762000" y="7458075"/>
            <a:ext cx="13049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0">
                <a:solidFill>
                  <a:srgbClr val="526975"/>
                </a:solidFill>
                <a:latin typeface="DejaVu Sans"/>
                <a:ea typeface="DejaVu Sans"/>
                <a:cs typeface="DejaVu Sans"/>
              </a:defRPr>
            </a:defPPr>
            <a:lvl1pPr>
              <a:buNone/>
              <a:defRPr sz="1575" b="0">
                <a:solidFill>
                  <a:srgbClr val="526975"/>
                </a:solidFill>
                <a:latin typeface="DejaVu Sans"/>
                <a:ea typeface="DejaVu Sans"/>
                <a:cs typeface="DejaVu Sans"/>
              </a:defRPr>
            </a:lvl1pPr>
            <a:lvl2pPr>
              <a:buNone/>
              <a:defRPr sz="1575" b="0">
                <a:solidFill>
                  <a:srgbClr val="526975"/>
                </a:solidFill>
                <a:latin typeface="DejaVu Sans"/>
                <a:ea typeface="DejaVu Sans"/>
                <a:cs typeface="DejaVu Sans"/>
              </a:defRPr>
            </a:lvl2pPr>
            <a:lvl3pPr>
              <a:buNone/>
              <a:defRPr sz="1575" b="0">
                <a:solidFill>
                  <a:srgbClr val="526975"/>
                </a:solidFill>
                <a:latin typeface="DejaVu Sans"/>
                <a:ea typeface="DejaVu Sans"/>
                <a:cs typeface="DejaVu Sans"/>
              </a:defRPr>
            </a:lvl3pPr>
            <a:lvl4pPr>
              <a:buNone/>
              <a:defRPr sz="1575" b="0">
                <a:solidFill>
                  <a:srgbClr val="526975"/>
                </a:solidFill>
                <a:latin typeface="DejaVu Sans"/>
                <a:ea typeface="DejaVu Sans"/>
                <a:cs typeface="DejaVu Sans"/>
              </a:defRPr>
            </a:lvl4pPr>
            <a:lvl5pPr>
              <a:buNone/>
              <a:defRPr sz="1575" b="0">
                <a:solidFill>
                  <a:srgbClr val="526975"/>
                </a:solidFill>
                <a:latin typeface="DejaVu Sans"/>
                <a:ea typeface="DejaVu Sans"/>
                <a:cs typeface="DejaVu Sans"/>
              </a:defRPr>
            </a:lvl5pPr>
            <a:lvl6pPr>
              <a:buNone/>
              <a:defRPr sz="1575" b="0">
                <a:solidFill>
                  <a:srgbClr val="526975"/>
                </a:solidFill>
                <a:latin typeface="DejaVu Sans"/>
                <a:ea typeface="DejaVu Sans"/>
                <a:cs typeface="DejaVu Sans"/>
              </a:defRPr>
            </a:lvl6pPr>
            <a:lvl7pPr>
              <a:buNone/>
              <a:defRPr sz="1575" b="0">
                <a:solidFill>
                  <a:srgbClr val="526975"/>
                </a:solidFill>
                <a:latin typeface="DejaVu Sans"/>
                <a:ea typeface="DejaVu Sans"/>
                <a:cs typeface="DejaVu Sans"/>
              </a:defRPr>
            </a:lvl7pPr>
            <a:lvl8pPr>
              <a:buNone/>
              <a:defRPr sz="1575" b="0">
                <a:solidFill>
                  <a:srgbClr val="526975"/>
                </a:solidFill>
                <a:latin typeface="DejaVu Sans"/>
                <a:ea typeface="DejaVu Sans"/>
                <a:cs typeface="DejaVu Sans"/>
              </a:defRPr>
            </a:lvl8pPr>
            <a:lvl9pPr>
              <a:buNone/>
              <a:defRPr sz="1575" b="0">
                <a:solidFill>
                  <a:srgbClr val="526975"/>
                </a:solidFill>
                <a:latin typeface="DejaVu Sans"/>
                <a:ea typeface="DejaVu Sans"/>
                <a:cs typeface="DejaVu Sans"/>
              </a:defRPr>
            </a:lvl9pPr>
          </a:lstStyle>
          <a:p xmlns:a="http://schemas.openxmlformats.org/drawingml/2006/main">
            <a:pPr>
              <a:buNone/>
              <a:defRPr sz="1575" b="0">
                <a:solidFill>
                  <a:srgbClr val="526975"/>
                </a:solidFill>
                <a:latin typeface="DejaVu Sans"/>
                <a:ea typeface="DejaVu Sans"/>
                <a:cs typeface="DejaVu Sans"/>
              </a:defRPr>
            </a:pPr>
            <a:r>
              <a:rPr sz="1575" b="0">
                <a:solidFill>
                  <a:srgbClr val="526975"/>
                </a:solidFill>
                <a:latin typeface="DejaVu Sans"/>
                <a:ea typeface="DejaVu Sans"/>
                <a:cs typeface="DejaVu Sans"/>
              </a:rPr>
              <a:t>PDF text and source metadata form the corpus. Chunk fields and vectors are derived. Gold labels are for evaluation.</a:t>
            </a:r>
          </a:p>
        </p:txBody>
      </p:sp>
    </p:spTree>
    <p:extLst>
      <p:ext uri="{BB962C8B-B14F-4D97-AF65-F5344CB8AC3E}">
        <p14:creationId xmlns:p14="http://schemas.microsoft.com/office/powerpoint/2010/main" val="79009335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0E286F09-A514-4F94-AF34-17DDB6BC1E20}"/>
              </a:ext>
            </a:extLst>
          </p:cNvPr>
          <p:cNvSpPr>
            <a:spLocks xmlns:a="http://schemas.openxmlformats.org/drawingml/2006/main" noGrp="1"/>
          </p:cNvSpPr>
          <p:nvPr/>
        </p:nvSpPr>
        <p:spPr>
          <a:xfrm xmlns:a="http://schemas.openxmlformats.org/drawingml/2006/main">
            <a:off x="762000" y="571500"/>
            <a:ext cx="13620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450" b="1">
                <a:solidFill>
                  <a:srgbClr val="102B3A"/>
                </a:solidFill>
                <a:latin typeface="DejaVu Sans"/>
                <a:ea typeface="DejaVu Sans"/>
                <a:cs typeface="DejaVu Sans"/>
              </a:defRPr>
            </a:defPPr>
            <a:lvl1pPr>
              <a:buNone/>
              <a:defRPr sz="3450" b="1">
                <a:solidFill>
                  <a:srgbClr val="102B3A"/>
                </a:solidFill>
                <a:latin typeface="DejaVu Sans"/>
                <a:ea typeface="DejaVu Sans"/>
                <a:cs typeface="DejaVu Sans"/>
              </a:defRPr>
            </a:lvl1pPr>
            <a:lvl2pPr>
              <a:buNone/>
              <a:defRPr sz="3450" b="1">
                <a:solidFill>
                  <a:srgbClr val="102B3A"/>
                </a:solidFill>
                <a:latin typeface="DejaVu Sans"/>
                <a:ea typeface="DejaVu Sans"/>
                <a:cs typeface="DejaVu Sans"/>
              </a:defRPr>
            </a:lvl2pPr>
            <a:lvl3pPr>
              <a:buNone/>
              <a:defRPr sz="3450" b="1">
                <a:solidFill>
                  <a:srgbClr val="102B3A"/>
                </a:solidFill>
                <a:latin typeface="DejaVu Sans"/>
                <a:ea typeface="DejaVu Sans"/>
                <a:cs typeface="DejaVu Sans"/>
              </a:defRPr>
            </a:lvl3pPr>
            <a:lvl4pPr>
              <a:buNone/>
              <a:defRPr sz="3450" b="1">
                <a:solidFill>
                  <a:srgbClr val="102B3A"/>
                </a:solidFill>
                <a:latin typeface="DejaVu Sans"/>
                <a:ea typeface="DejaVu Sans"/>
                <a:cs typeface="DejaVu Sans"/>
              </a:defRPr>
            </a:lvl4pPr>
            <a:lvl5pPr>
              <a:buNone/>
              <a:defRPr sz="3450" b="1">
                <a:solidFill>
                  <a:srgbClr val="102B3A"/>
                </a:solidFill>
                <a:latin typeface="DejaVu Sans"/>
                <a:ea typeface="DejaVu Sans"/>
                <a:cs typeface="DejaVu Sans"/>
              </a:defRPr>
            </a:lvl5pPr>
            <a:lvl6pPr>
              <a:buNone/>
              <a:defRPr sz="3450" b="1">
                <a:solidFill>
                  <a:srgbClr val="102B3A"/>
                </a:solidFill>
                <a:latin typeface="DejaVu Sans"/>
                <a:ea typeface="DejaVu Sans"/>
                <a:cs typeface="DejaVu Sans"/>
              </a:defRPr>
            </a:lvl6pPr>
            <a:lvl7pPr>
              <a:buNone/>
              <a:defRPr sz="3450" b="1">
                <a:solidFill>
                  <a:srgbClr val="102B3A"/>
                </a:solidFill>
                <a:latin typeface="DejaVu Sans"/>
                <a:ea typeface="DejaVu Sans"/>
                <a:cs typeface="DejaVu Sans"/>
              </a:defRPr>
            </a:lvl7pPr>
            <a:lvl8pPr>
              <a:buNone/>
              <a:defRPr sz="3450" b="1">
                <a:solidFill>
                  <a:srgbClr val="102B3A"/>
                </a:solidFill>
                <a:latin typeface="DejaVu Sans"/>
                <a:ea typeface="DejaVu Sans"/>
                <a:cs typeface="DejaVu Sans"/>
              </a:defRPr>
            </a:lvl8pPr>
            <a:lvl9pPr>
              <a:buNone/>
              <a:defRPr sz="3450" b="1">
                <a:solidFill>
                  <a:srgbClr val="102B3A"/>
                </a:solidFill>
                <a:latin typeface="DejaVu Sans"/>
                <a:ea typeface="DejaVu Sans"/>
                <a:cs typeface="DejaVu Sans"/>
              </a:defRPr>
            </a:lvl9pPr>
          </a:lstStyle>
          <a:p xmlns:a="http://schemas.openxmlformats.org/drawingml/2006/main">
            <a:pPr>
              <a:buNone/>
              <a:defRPr sz="3450" b="1">
                <a:solidFill>
                  <a:srgbClr val="102B3A"/>
                </a:solidFill>
                <a:latin typeface="DejaVu Sans"/>
                <a:ea typeface="DejaVu Sans"/>
                <a:cs typeface="DejaVu Sans"/>
              </a:defRPr>
            </a:pPr>
            <a:r>
              <a:rPr sz="3450" b="1">
                <a:solidFill>
                  <a:srgbClr val="102B3A"/>
                </a:solidFill>
                <a:latin typeface="DejaVu Sans"/>
                <a:ea typeface="DejaVu Sans"/>
                <a:cs typeface="DejaVu Sans"/>
              </a:rPr>
              <a:t>Algorithms and the Deep Learning contribution</a:t>
            </a:r>
          </a:p>
        </p:txBody>
      </p:sp>
      <p:sp>
        <p:nvSpPr>
          <p:cNvPr id="2" name="slide-number">
            <a:extLst xmlns:a="http://schemas.openxmlformats.org/drawingml/2006/main">
              <a:ext uri="{FF2B5EF4-FFF2-40B4-BE49-F238E27FC236}">
                <a16:creationId xmlns:a16="http://schemas.microsoft.com/office/drawing/2014/main" id="{93E4C1AE-2D12-4287-A248-8EC27867F44C}"/>
              </a:ext>
            </a:extLst>
          </p:cNvPr>
          <p:cNvSpPr>
            <a:spLocks xmlns:a="http://schemas.openxmlformats.org/drawingml/2006/main" noGrp="1"/>
          </p:cNvSpPr>
          <p:nvPr/>
        </p:nvSpPr>
        <p:spPr>
          <a:xfrm xmlns:a="http://schemas.openxmlformats.org/drawingml/2006/main">
            <a:off x="13906500" y="795337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0">
                <a:solidFill>
                  <a:srgbClr val="526975"/>
                </a:solidFill>
                <a:latin typeface="DejaVu Sans"/>
                <a:ea typeface="DejaVu Sans"/>
                <a:cs typeface="DejaVu Sans"/>
              </a:defRPr>
            </a:defPPr>
            <a:lvl1pPr>
              <a:buNone/>
              <a:defRPr sz="1575" b="0">
                <a:solidFill>
                  <a:srgbClr val="526975"/>
                </a:solidFill>
                <a:latin typeface="DejaVu Sans"/>
                <a:ea typeface="DejaVu Sans"/>
                <a:cs typeface="DejaVu Sans"/>
              </a:defRPr>
            </a:lvl1pPr>
            <a:lvl2pPr>
              <a:buNone/>
              <a:defRPr sz="1575" b="0">
                <a:solidFill>
                  <a:srgbClr val="526975"/>
                </a:solidFill>
                <a:latin typeface="DejaVu Sans"/>
                <a:ea typeface="DejaVu Sans"/>
                <a:cs typeface="DejaVu Sans"/>
              </a:defRPr>
            </a:lvl2pPr>
            <a:lvl3pPr>
              <a:buNone/>
              <a:defRPr sz="1575" b="0">
                <a:solidFill>
                  <a:srgbClr val="526975"/>
                </a:solidFill>
                <a:latin typeface="DejaVu Sans"/>
                <a:ea typeface="DejaVu Sans"/>
                <a:cs typeface="DejaVu Sans"/>
              </a:defRPr>
            </a:lvl3pPr>
            <a:lvl4pPr>
              <a:buNone/>
              <a:defRPr sz="1575" b="0">
                <a:solidFill>
                  <a:srgbClr val="526975"/>
                </a:solidFill>
                <a:latin typeface="DejaVu Sans"/>
                <a:ea typeface="DejaVu Sans"/>
                <a:cs typeface="DejaVu Sans"/>
              </a:defRPr>
            </a:lvl4pPr>
            <a:lvl5pPr>
              <a:buNone/>
              <a:defRPr sz="1575" b="0">
                <a:solidFill>
                  <a:srgbClr val="526975"/>
                </a:solidFill>
                <a:latin typeface="DejaVu Sans"/>
                <a:ea typeface="DejaVu Sans"/>
                <a:cs typeface="DejaVu Sans"/>
              </a:defRPr>
            </a:lvl5pPr>
            <a:lvl6pPr>
              <a:buNone/>
              <a:defRPr sz="1575" b="0">
                <a:solidFill>
                  <a:srgbClr val="526975"/>
                </a:solidFill>
                <a:latin typeface="DejaVu Sans"/>
                <a:ea typeface="DejaVu Sans"/>
                <a:cs typeface="DejaVu Sans"/>
              </a:defRPr>
            </a:lvl6pPr>
            <a:lvl7pPr>
              <a:buNone/>
              <a:defRPr sz="1575" b="0">
                <a:solidFill>
                  <a:srgbClr val="526975"/>
                </a:solidFill>
                <a:latin typeface="DejaVu Sans"/>
                <a:ea typeface="DejaVu Sans"/>
                <a:cs typeface="DejaVu Sans"/>
              </a:defRPr>
            </a:lvl7pPr>
            <a:lvl8pPr>
              <a:buNone/>
              <a:defRPr sz="1575" b="0">
                <a:solidFill>
                  <a:srgbClr val="526975"/>
                </a:solidFill>
                <a:latin typeface="DejaVu Sans"/>
                <a:ea typeface="DejaVu Sans"/>
                <a:cs typeface="DejaVu Sans"/>
              </a:defRPr>
            </a:lvl8pPr>
            <a:lvl9pPr>
              <a:buNone/>
              <a:defRPr sz="1575" b="0">
                <a:solidFill>
                  <a:srgbClr val="526975"/>
                </a:solidFill>
                <a:latin typeface="DejaVu Sans"/>
                <a:ea typeface="DejaVu Sans"/>
                <a:cs typeface="DejaVu Sans"/>
              </a:defRPr>
            </a:lvl9pPr>
          </a:lstStyle>
          <a:p xmlns:a="http://schemas.openxmlformats.org/drawingml/2006/main">
            <a:pPr>
              <a:buNone/>
              <a:defRPr sz="1575" b="0">
                <a:solidFill>
                  <a:srgbClr val="526975"/>
                </a:solidFill>
                <a:latin typeface="DejaVu Sans"/>
                <a:ea typeface="DejaVu Sans"/>
                <a:cs typeface="DejaVu Sans"/>
              </a:defRPr>
            </a:pPr>
            <a:r>
              <a:rPr sz="1575" b="0">
                <a:solidFill>
                  <a:srgbClr val="526975"/>
                </a:solidFill>
                <a:latin typeface="DejaVu Sans"/>
                <a:ea typeface="DejaVu Sans"/>
                <a:cs typeface="DejaVu Sans"/>
              </a:rPr>
              <a:t>05</a:t>
            </a:r>
          </a:p>
        </p:txBody>
      </p:sp>
      <p:graphicFrame>
        <p:nvGraphicFramePr>
          <p:cNvPr id="3" name="">
            <a:extLst xmlns:a="http://schemas.openxmlformats.org/drawingml/2006/main">
              <a:ext uri="{FF2B5EF4-FFF2-40B4-BE49-F238E27FC236}">
                <a16:creationId xmlns:a16="http://schemas.microsoft.com/office/drawing/2014/main" id="{050B3CCD-D2E2-469D-8F1A-11B0AA877053}"/>
              </a:ext>
            </a:extLst>
          </p:cNvPr>
          <p:cNvGraphicFramePr/>
          <p:nvPr/>
        </p:nvGraphicFramePr>
        <p:xfrm>
          <a:off xmlns:a="http://schemas.openxmlformats.org/drawingml/2006/main" x="762000" y="1819275"/>
          <a:ext xmlns:a="http://schemas.openxmlformats.org/drawingml/2006/main" cx="13716000" cy="4629150"/>
        </p:xfrm>
        <a:graphic xmlns:a="http://schemas.openxmlformats.org/drawingml/2006/main">
          <a:graphicData uri="http://schemas.openxmlformats.org/drawingml/2006/table">
            <a:tbl>
              <a:tblPr firstRow="1" bandRow="0"/>
              <a:tblGrid>
                <a:gridCol w="2857500"/>
                <a:gridCol w="5429250"/>
                <a:gridCol w="5429250"/>
              </a:tblGrid>
              <a:tr h="590550">
                <a:tc>
                  <a:txBody>
                    <a:bodyPr wrap="square" lIns="152400" tIns="95250" rIns="152400" bIns="95250">
                      <a:noAutofit/>
                    </a:bodyPr>
                    <a:lstStyle/>
                    <a:p>
                      <a:r>
                        <a:rPr sz="1875" b="1">
                          <a:solidFill>
                            <a:srgbClr val="FFFFFF"/>
                          </a:solidFill>
                          <a:latin typeface="DejaVu Sans"/>
                          <a:ea typeface="DejaVu Sans"/>
                          <a:cs typeface="DejaVu Sans"/>
                        </a:rPr>
                        <a:t>Stage</a:t>
                      </a:r>
                    </a:p>
                  </a:txBody>
                  <a:tcPr marL="91440" marR="91440" marT="45720" marB="45720" anchor="ctr">
                    <a:lnL w="7620">
                      <a:solidFill>
                        <a:srgbClr val="CCDADC"/>
                      </a:solidFill>
                      <a:prstDash val="solid"/>
                    </a:lnL>
                    <a:lnR w="7620">
                      <a:solidFill>
                        <a:srgbClr val="CCDADC"/>
                      </a:solidFill>
                      <a:prstDash val="solid"/>
                    </a:lnR>
                    <a:lnT w="7620">
                      <a:solidFill>
                        <a:srgbClr val="CCDADC"/>
                      </a:solidFill>
                      <a:prstDash val="solid"/>
                    </a:lnT>
                    <a:lnB w="7620">
                      <a:solidFill>
                        <a:srgbClr val="CCDADC"/>
                      </a:solidFill>
                      <a:prstDash val="solid"/>
                    </a:lnB>
                    <a:solidFill>
                      <a:srgbClr val="102B3A"/>
                    </a:solidFill>
                  </a:tcPr>
                </a:tc>
                <a:tc>
                  <a:txBody>
                    <a:bodyPr wrap="square" lIns="152400" tIns="95250" rIns="152400" bIns="95250">
                      <a:noAutofit/>
                    </a:bodyPr>
                    <a:lstStyle/>
                    <a:p>
                      <a:r>
                        <a:rPr sz="1875" b="1">
                          <a:solidFill>
                            <a:srgbClr val="FFFFFF"/>
                          </a:solidFill>
                          <a:latin typeface="DejaVu Sans"/>
                          <a:ea typeface="DejaVu Sans"/>
                          <a:cs typeface="DejaVu Sans"/>
                        </a:rPr>
                        <a:t>Algorithm or model</a:t>
                      </a:r>
                    </a:p>
                  </a:txBody>
                  <a:tcPr marL="91440" marR="91440" marT="45720" marB="45720" anchor="ctr">
                    <a:lnR w="7620">
                      <a:solidFill>
                        <a:srgbClr val="CCDADC"/>
                      </a:solidFill>
                      <a:prstDash val="solid"/>
                    </a:lnR>
                    <a:lnT w="7620">
                      <a:solidFill>
                        <a:srgbClr val="CCDADC"/>
                      </a:solidFill>
                      <a:prstDash val="solid"/>
                    </a:lnT>
                    <a:lnB w="7620">
                      <a:solidFill>
                        <a:srgbClr val="CCDADC"/>
                      </a:solidFill>
                      <a:prstDash val="solid"/>
                    </a:lnB>
                    <a:solidFill>
                      <a:srgbClr val="102B3A"/>
                    </a:solidFill>
                  </a:tcPr>
                </a:tc>
                <a:tc>
                  <a:txBody>
                    <a:bodyPr wrap="square" lIns="152400" tIns="95250" rIns="152400" bIns="95250">
                      <a:noAutofit/>
                    </a:bodyPr>
                    <a:lstStyle/>
                    <a:p>
                      <a:r>
                        <a:rPr sz="1875" b="1">
                          <a:solidFill>
                            <a:srgbClr val="FFFFFF"/>
                          </a:solidFill>
                          <a:latin typeface="DejaVu Sans"/>
                          <a:ea typeface="DejaVu Sans"/>
                          <a:cs typeface="DejaVu Sans"/>
                        </a:rPr>
                        <a:t>Purpose in this project</a:t>
                      </a:r>
                    </a:p>
                  </a:txBody>
                  <a:tcPr marL="91440" marR="91440" marT="45720" marB="45720" anchor="ctr">
                    <a:lnR w="7620">
                      <a:solidFill>
                        <a:srgbClr val="CCDADC"/>
                      </a:solidFill>
                      <a:prstDash val="solid"/>
                    </a:lnR>
                    <a:lnT w="7620">
                      <a:solidFill>
                        <a:srgbClr val="CCDADC"/>
                      </a:solidFill>
                      <a:prstDash val="solid"/>
                    </a:lnT>
                    <a:lnB w="7620">
                      <a:solidFill>
                        <a:srgbClr val="CCDADC"/>
                      </a:solidFill>
                      <a:prstDash val="solid"/>
                    </a:lnB>
                    <a:solidFill>
                      <a:srgbClr val="102B3A"/>
                    </a:solidFill>
                  </a:tcPr>
                </a:tc>
              </a:tr>
              <a:tr h="1009650">
                <a:tc>
                  <a:txBody>
                    <a:bodyPr wrap="square" lIns="152400" tIns="95250" rIns="152400" bIns="95250">
                      <a:noAutofit/>
                    </a:bodyPr>
                    <a:lstStyle/>
                    <a:p>
                      <a:r>
                        <a:rPr sz="2025" b="1">
                          <a:solidFill>
                            <a:srgbClr val="102B3A"/>
                          </a:solidFill>
                          <a:latin typeface="DejaVu Sans"/>
                          <a:ea typeface="DejaVu Sans"/>
                          <a:cs typeface="DejaVu Sans"/>
                        </a:rPr>
                        <a:t>Text preparation</a:t>
                      </a:r>
                    </a:p>
                  </a:txBody>
                  <a:tcPr marL="91440" marR="91440" marT="45720" marB="45720" anchor="ctr">
                    <a:lnL w="7620">
                      <a:solidFill>
                        <a:srgbClr val="CCDADC"/>
                      </a:solidFill>
                      <a:prstDash val="solid"/>
                    </a:lnL>
                    <a:lnR w="7620">
                      <a:solidFill>
                        <a:srgbClr val="CCDADC"/>
                      </a:solidFill>
                      <a:prstDash val="solid"/>
                    </a:lnR>
                    <a:lnB w="7620">
                      <a:solidFill>
                        <a:srgbClr val="CCDADC"/>
                      </a:solidFill>
                      <a:prstDash val="solid"/>
                    </a:lnB>
                    <a:solidFill>
                      <a:srgbClr val="FFFFFF"/>
                    </a:solidFill>
                  </a:tcPr>
                </a:tc>
                <a:tc>
                  <a:txBody>
                    <a:bodyPr wrap="square" lIns="152400" tIns="95250" rIns="152400" bIns="95250">
                      <a:noAutofit/>
                    </a:bodyPr>
                    <a:lstStyle/>
                    <a:p>
                      <a:r>
                        <a:rPr sz="2025" b="0">
                          <a:solidFill>
                            <a:srgbClr val="193646"/>
                          </a:solidFill>
                          <a:latin typeface="DejaVu Sans"/>
                          <a:ea typeface="DejaVu Sans"/>
                          <a:cs typeface="DejaVu Sans"/>
                        </a:rPr>
                        <a:t>Overlapping passage chunking</a:t>
                      </a:r>
                    </a:p>
                    <a:p>
                      <a:r>
                        <a:rPr sz="2025" b="0">
                          <a:solidFill>
                            <a:srgbClr val="193646"/>
                          </a:solidFill>
                          <a:latin typeface="DejaVu Sans"/>
                          <a:ea typeface="DejaVu Sans"/>
                          <a:cs typeface="DejaVu Sans"/>
                        </a:rPr>
                        <a:t>with sentence boundaries where possible</a:t>
                      </a:r>
                    </a:p>
                  </a:txBody>
                  <a:tcPr marL="91440" marR="91440" marT="45720" marB="45720" anchor="ctr">
                    <a:lnR w="7620">
                      <a:solidFill>
                        <a:srgbClr val="CCDADC"/>
                      </a:solidFill>
                      <a:prstDash val="solid"/>
                    </a:lnR>
                    <a:lnB w="7620">
                      <a:solidFill>
                        <a:srgbClr val="CCDADC"/>
                      </a:solidFill>
                      <a:prstDash val="solid"/>
                    </a:lnB>
                    <a:solidFill>
                      <a:srgbClr val="FFFFFF"/>
                    </a:solidFill>
                  </a:tcPr>
                </a:tc>
                <a:tc>
                  <a:txBody>
                    <a:bodyPr wrap="square" lIns="152400" tIns="95250" rIns="152400" bIns="95250">
                      <a:noAutofit/>
                    </a:bodyPr>
                    <a:lstStyle/>
                    <a:p>
                      <a:r>
                        <a:rPr sz="2025" b="0">
                          <a:solidFill>
                            <a:srgbClr val="193646"/>
                          </a:solidFill>
                          <a:latin typeface="DejaVu Sans"/>
                          <a:ea typeface="DejaVu Sans"/>
                          <a:cs typeface="DejaVu Sans"/>
                        </a:rPr>
                        <a:t>Converts long note sections into units</a:t>
                      </a:r>
                    </a:p>
                    <a:p>
                      <a:r>
                        <a:rPr sz="2025" b="0">
                          <a:solidFill>
                            <a:srgbClr val="193646"/>
                          </a:solidFill>
                          <a:latin typeface="DejaVu Sans"/>
                          <a:ea typeface="DejaVu Sans"/>
                          <a:cs typeface="DejaVu Sans"/>
                        </a:rPr>
                        <a:t>that fit the small text-to-text generator.</a:t>
                      </a:r>
                    </a:p>
                  </a:txBody>
                  <a:tcPr marL="91440" marR="91440" marT="45720" marB="45720" anchor="ctr">
                    <a:lnR w="7620">
                      <a:solidFill>
                        <a:srgbClr val="CCDADC"/>
                      </a:solidFill>
                      <a:prstDash val="solid"/>
                    </a:lnR>
                    <a:lnB w="7620">
                      <a:solidFill>
                        <a:srgbClr val="CCDADC"/>
                      </a:solidFill>
                      <a:prstDash val="solid"/>
                    </a:lnB>
                    <a:solidFill>
                      <a:srgbClr val="FFFFFF"/>
                    </a:solidFill>
                  </a:tcPr>
                </a:tc>
              </a:tr>
              <a:tr h="1009650">
                <a:tc>
                  <a:txBody>
                    <a:bodyPr wrap="square" lIns="152400" tIns="95250" rIns="152400" bIns="95250">
                      <a:noAutofit/>
                    </a:bodyPr>
                    <a:lstStyle/>
                    <a:p>
                      <a:r>
                        <a:rPr sz="2025" b="1">
                          <a:solidFill>
                            <a:srgbClr val="102B3A"/>
                          </a:solidFill>
                          <a:latin typeface="DejaVu Sans"/>
                          <a:ea typeface="DejaVu Sans"/>
                          <a:cs typeface="DejaVu Sans"/>
                        </a:rPr>
                        <a:t>Dense retrieval</a:t>
                      </a:r>
                    </a:p>
                  </a:txBody>
                  <a:tcPr marL="91440" marR="91440" marT="45720" marB="45720" anchor="ctr">
                    <a:lnL w="7620">
                      <a:solidFill>
                        <a:srgbClr val="CCDADC"/>
                      </a:solidFill>
                      <a:prstDash val="solid"/>
                    </a:lnL>
                    <a:lnR w="7620">
                      <a:solidFill>
                        <a:srgbClr val="CCDADC"/>
                      </a:solidFill>
                      <a:prstDash val="solid"/>
                    </a:lnR>
                    <a:lnB w="7620">
                      <a:solidFill>
                        <a:srgbClr val="CCDADC"/>
                      </a:solidFill>
                      <a:prstDash val="solid"/>
                    </a:lnB>
                    <a:solidFill>
                      <a:srgbClr val="F5F9F9"/>
                    </a:solidFill>
                  </a:tcPr>
                </a:tc>
                <a:tc>
                  <a:txBody>
                    <a:bodyPr wrap="square" lIns="152400" tIns="95250" rIns="152400" bIns="95250">
                      <a:noAutofit/>
                    </a:bodyPr>
                    <a:lstStyle/>
                    <a:p>
                      <a:r>
                        <a:rPr sz="2025" b="0">
                          <a:solidFill>
                            <a:srgbClr val="193646"/>
                          </a:solidFill>
                          <a:latin typeface="DejaVu Sans"/>
                          <a:ea typeface="DejaVu Sans"/>
                          <a:cs typeface="DejaVu Sans"/>
                        </a:rPr>
                        <a:t>all-MiniLM-L6-v2</a:t>
                      </a:r>
                    </a:p>
                    <a:p>
                      <a:r>
                        <a:rPr sz="2025" b="0">
                          <a:solidFill>
                            <a:srgbClr val="193646"/>
                          </a:solidFill>
                          <a:latin typeface="DejaVu Sans"/>
                          <a:ea typeface="DejaVu Sans"/>
                          <a:cs typeface="DejaVu Sans"/>
                        </a:rPr>
                        <a:t>Transformer sentence encoder</a:t>
                      </a:r>
                    </a:p>
                  </a:txBody>
                  <a:tcPr marL="91440" marR="91440" marT="45720" marB="45720" anchor="ctr">
                    <a:lnR w="7620">
                      <a:solidFill>
                        <a:srgbClr val="CCDADC"/>
                      </a:solidFill>
                      <a:prstDash val="solid"/>
                    </a:lnR>
                    <a:lnB w="7620">
                      <a:solidFill>
                        <a:srgbClr val="CCDADC"/>
                      </a:solidFill>
                      <a:prstDash val="solid"/>
                    </a:lnB>
                    <a:solidFill>
                      <a:srgbClr val="F5F9F9"/>
                    </a:solidFill>
                  </a:tcPr>
                </a:tc>
                <a:tc>
                  <a:txBody>
                    <a:bodyPr wrap="square" lIns="152400" tIns="95250" rIns="152400" bIns="95250">
                      <a:noAutofit/>
                    </a:bodyPr>
                    <a:lstStyle/>
                    <a:p>
                      <a:r>
                        <a:rPr sz="2025" b="0">
                          <a:solidFill>
                            <a:srgbClr val="193646"/>
                          </a:solidFill>
                          <a:latin typeface="DejaVu Sans"/>
                          <a:ea typeface="DejaVu Sans"/>
                          <a:cs typeface="DejaVu Sans"/>
                        </a:rPr>
                        <a:t>Creates semantic vectors for questions</a:t>
                      </a:r>
                    </a:p>
                    <a:p>
                      <a:r>
                        <a:rPr sz="2025" b="0">
                          <a:solidFill>
                            <a:srgbClr val="193646"/>
                          </a:solidFill>
                          <a:latin typeface="DejaVu Sans"/>
                          <a:ea typeface="DejaVu Sans"/>
                          <a:cs typeface="DejaVu Sans"/>
                        </a:rPr>
                        <a:t>and passages. This is the neural retriever.</a:t>
                      </a:r>
                    </a:p>
                  </a:txBody>
                  <a:tcPr marL="91440" marR="91440" marT="45720" marB="45720" anchor="ctr">
                    <a:lnR w="7620">
                      <a:solidFill>
                        <a:srgbClr val="CCDADC"/>
                      </a:solidFill>
                      <a:prstDash val="solid"/>
                    </a:lnR>
                    <a:lnB w="7620">
                      <a:solidFill>
                        <a:srgbClr val="CCDADC"/>
                      </a:solidFill>
                      <a:prstDash val="solid"/>
                    </a:lnB>
                    <a:solidFill>
                      <a:srgbClr val="F5F9F9"/>
                    </a:solidFill>
                  </a:tcPr>
                </a:tc>
              </a:tr>
              <a:tr h="1009650">
                <a:tc>
                  <a:txBody>
                    <a:bodyPr wrap="square" lIns="152400" tIns="95250" rIns="152400" bIns="95250">
                      <a:noAutofit/>
                    </a:bodyPr>
                    <a:lstStyle/>
                    <a:p>
                      <a:r>
                        <a:rPr sz="2025" b="1">
                          <a:solidFill>
                            <a:srgbClr val="102B3A"/>
                          </a:solidFill>
                          <a:latin typeface="DejaVu Sans"/>
                          <a:ea typeface="DejaVu Sans"/>
                          <a:cs typeface="DejaVu Sans"/>
                        </a:rPr>
                        <a:t>Ranking</a:t>
                      </a:r>
                    </a:p>
                  </a:txBody>
                  <a:tcPr marL="91440" marR="91440" marT="45720" marB="45720" anchor="ctr">
                    <a:lnL w="7620">
                      <a:solidFill>
                        <a:srgbClr val="CCDADC"/>
                      </a:solidFill>
                      <a:prstDash val="solid"/>
                    </a:lnL>
                    <a:lnR w="7620">
                      <a:solidFill>
                        <a:srgbClr val="CCDADC"/>
                      </a:solidFill>
                      <a:prstDash val="solid"/>
                    </a:lnR>
                    <a:lnB w="7620">
                      <a:solidFill>
                        <a:srgbClr val="CCDADC"/>
                      </a:solidFill>
                      <a:prstDash val="solid"/>
                    </a:lnB>
                    <a:solidFill>
                      <a:srgbClr val="FFFFFF"/>
                    </a:solidFill>
                  </a:tcPr>
                </a:tc>
                <a:tc>
                  <a:txBody>
                    <a:bodyPr wrap="square" lIns="152400" tIns="95250" rIns="152400" bIns="95250">
                      <a:noAutofit/>
                    </a:bodyPr>
                    <a:lstStyle/>
                    <a:p>
                      <a:r>
                        <a:rPr sz="2025" b="0">
                          <a:solidFill>
                            <a:srgbClr val="193646"/>
                          </a:solidFill>
                          <a:latin typeface="DejaVu Sans"/>
                          <a:ea typeface="DejaVu Sans"/>
                          <a:cs typeface="DejaVu Sans"/>
                        </a:rPr>
                        <a:t>Normalized cosine similarity</a:t>
                      </a:r>
                    </a:p>
                    <a:p>
                      <a:r>
                        <a:rPr sz="2025" b="0">
                          <a:solidFill>
                            <a:srgbClr val="193646"/>
                          </a:solidFill>
                          <a:latin typeface="DejaVu Sans"/>
                          <a:ea typeface="DejaVu Sans"/>
                          <a:cs typeface="DejaVu Sans"/>
                        </a:rPr>
                        <a:t>with NumPy top-k selection</a:t>
                      </a:r>
                    </a:p>
                  </a:txBody>
                  <a:tcPr marL="91440" marR="91440" marT="45720" marB="45720" anchor="ctr">
                    <a:lnR w="7620">
                      <a:solidFill>
                        <a:srgbClr val="CCDADC"/>
                      </a:solidFill>
                      <a:prstDash val="solid"/>
                    </a:lnR>
                    <a:lnB w="7620">
                      <a:solidFill>
                        <a:srgbClr val="CCDADC"/>
                      </a:solidFill>
                      <a:prstDash val="solid"/>
                    </a:lnB>
                    <a:solidFill>
                      <a:srgbClr val="FFFFFF"/>
                    </a:solidFill>
                  </a:tcPr>
                </a:tc>
                <a:tc>
                  <a:txBody>
                    <a:bodyPr wrap="square" lIns="152400" tIns="95250" rIns="152400" bIns="95250">
                      <a:noAutofit/>
                    </a:bodyPr>
                    <a:lstStyle/>
                    <a:p>
                      <a:r>
                        <a:rPr sz="2025" b="0">
                          <a:solidFill>
                            <a:srgbClr val="193646"/>
                          </a:solidFill>
                          <a:latin typeface="DejaVu Sans"/>
                          <a:ea typeface="DejaVu Sans"/>
                          <a:cs typeface="DejaVu Sans"/>
                        </a:rPr>
                        <a:t>Searches the small local collection</a:t>
                      </a:r>
                    </a:p>
                    <a:p>
                      <a:r>
                        <a:rPr sz="2025" b="0">
                          <a:solidFill>
                            <a:srgbClr val="193646"/>
                          </a:solidFill>
                          <a:latin typeface="DejaVu Sans"/>
                          <a:ea typeface="DejaVu Sans"/>
                          <a:cs typeface="DejaVu Sans"/>
                        </a:rPr>
                        <a:t>without a separate vector database.</a:t>
                      </a:r>
                    </a:p>
                  </a:txBody>
                  <a:tcPr marL="91440" marR="91440" marT="45720" marB="45720" anchor="ctr">
                    <a:lnR w="7620">
                      <a:solidFill>
                        <a:srgbClr val="CCDADC"/>
                      </a:solidFill>
                      <a:prstDash val="solid"/>
                    </a:lnR>
                    <a:lnB w="7620">
                      <a:solidFill>
                        <a:srgbClr val="CCDADC"/>
                      </a:solidFill>
                      <a:prstDash val="solid"/>
                    </a:lnB>
                    <a:solidFill>
                      <a:srgbClr val="FFFFFF"/>
                    </a:solidFill>
                  </a:tcPr>
                </a:tc>
              </a:tr>
              <a:tr h="1009650">
                <a:tc>
                  <a:txBody>
                    <a:bodyPr wrap="square" lIns="152400" tIns="95250" rIns="152400" bIns="95250">
                      <a:noAutofit/>
                    </a:bodyPr>
                    <a:lstStyle/>
                    <a:p>
                      <a:r>
                        <a:rPr sz="2025" b="1">
                          <a:solidFill>
                            <a:srgbClr val="102B3A"/>
                          </a:solidFill>
                          <a:latin typeface="DejaVu Sans"/>
                          <a:ea typeface="DejaVu Sans"/>
                          <a:cs typeface="DejaVu Sans"/>
                        </a:rPr>
                        <a:t>Answer generation</a:t>
                      </a:r>
                    </a:p>
                  </a:txBody>
                  <a:tcPr marL="91440" marR="91440" marT="45720" marB="45720" anchor="ctr">
                    <a:lnL w="7620">
                      <a:solidFill>
                        <a:srgbClr val="CCDADC"/>
                      </a:solidFill>
                      <a:prstDash val="solid"/>
                    </a:lnL>
                    <a:lnR w="7620">
                      <a:solidFill>
                        <a:srgbClr val="CCDADC"/>
                      </a:solidFill>
                      <a:prstDash val="solid"/>
                    </a:lnR>
                    <a:lnB w="7620">
                      <a:solidFill>
                        <a:srgbClr val="CCDADC"/>
                      </a:solidFill>
                      <a:prstDash val="solid"/>
                    </a:lnB>
                    <a:solidFill>
                      <a:srgbClr val="F5F9F9"/>
                    </a:solidFill>
                  </a:tcPr>
                </a:tc>
                <a:tc>
                  <a:txBody>
                    <a:bodyPr wrap="square" lIns="152400" tIns="95250" rIns="152400" bIns="95250">
                      <a:noAutofit/>
                    </a:bodyPr>
                    <a:lstStyle/>
                    <a:p>
                      <a:r>
                        <a:rPr sz="2025" b="0">
                          <a:solidFill>
                            <a:srgbClr val="193646"/>
                          </a:solidFill>
                          <a:latin typeface="DejaVu Sans"/>
                          <a:ea typeface="DejaVu Sans"/>
                          <a:cs typeface="DejaVu Sans"/>
                        </a:rPr>
                        <a:t>google/flan-t5-small</a:t>
                      </a:r>
                    </a:p>
                    <a:p>
                      <a:r>
                        <a:rPr sz="2025" b="0">
                          <a:solidFill>
                            <a:srgbClr val="193646"/>
                          </a:solidFill>
                          <a:latin typeface="DejaVu Sans"/>
                          <a:ea typeface="DejaVu Sans"/>
                          <a:cs typeface="DejaVu Sans"/>
                        </a:rPr>
                        <a:t>Instruction-tuned encoder-decoder</a:t>
                      </a:r>
                    </a:p>
                  </a:txBody>
                  <a:tcPr marL="91440" marR="91440" marT="45720" marB="45720" anchor="ctr">
                    <a:lnR w="7620">
                      <a:solidFill>
                        <a:srgbClr val="CCDADC"/>
                      </a:solidFill>
                      <a:prstDash val="solid"/>
                    </a:lnR>
                    <a:lnB w="7620">
                      <a:solidFill>
                        <a:srgbClr val="CCDADC"/>
                      </a:solidFill>
                      <a:prstDash val="solid"/>
                    </a:lnB>
                    <a:solidFill>
                      <a:srgbClr val="F5F9F9"/>
                    </a:solidFill>
                  </a:tcPr>
                </a:tc>
                <a:tc>
                  <a:txBody>
                    <a:bodyPr wrap="square" lIns="152400" tIns="95250" rIns="152400" bIns="95250">
                      <a:noAutofit/>
                    </a:bodyPr>
                    <a:lstStyle/>
                    <a:p>
                      <a:r>
                        <a:rPr sz="2025" b="0">
                          <a:solidFill>
                            <a:srgbClr val="193646"/>
                          </a:solidFill>
                          <a:latin typeface="DejaVu Sans"/>
                          <a:ea typeface="DejaVu Sans"/>
                          <a:cs typeface="DejaVu Sans"/>
                        </a:rPr>
                        <a:t>Generates a short response from the</a:t>
                      </a:r>
                    </a:p>
                    <a:p>
                      <a:r>
                        <a:rPr sz="2025" b="0">
                          <a:solidFill>
                            <a:srgbClr val="193646"/>
                          </a:solidFill>
                          <a:latin typeface="DejaVu Sans"/>
                          <a:ea typeface="DejaVu Sans"/>
                          <a:cs typeface="DejaVu Sans"/>
                        </a:rPr>
                        <a:t>question and retrieved evidence.</a:t>
                      </a:r>
                    </a:p>
                  </a:txBody>
                  <a:tcPr marL="91440" marR="91440" marT="45720" marB="45720" anchor="ctr">
                    <a:lnR w="7620">
                      <a:solidFill>
                        <a:srgbClr val="CCDADC"/>
                      </a:solidFill>
                      <a:prstDash val="solid"/>
                    </a:lnR>
                    <a:lnB w="7620">
                      <a:solidFill>
                        <a:srgbClr val="CCDADC"/>
                      </a:solidFill>
                      <a:prstDash val="solid"/>
                    </a:lnB>
                    <a:solidFill>
                      <a:srgbClr val="F5F9F9"/>
                    </a:solidFill>
                  </a:tcPr>
                </a:tc>
              </a:tr>
            </a:tbl>
          </a:graphicData>
        </a:graphic>
      </p:graphicFrame>
      <p:sp>
        <p:nvSpPr>
          <p:cNvPr id="4" name="similarity-formula">
            <a:extLst xmlns:a="http://schemas.openxmlformats.org/drawingml/2006/main">
              <a:ext uri="{FF2B5EF4-FFF2-40B4-BE49-F238E27FC236}">
                <a16:creationId xmlns:a16="http://schemas.microsoft.com/office/drawing/2014/main" id="{8C75BB5F-3888-41E4-926E-7DEE00A953CB}"/>
              </a:ext>
            </a:extLst>
          </p:cNvPr>
          <p:cNvSpPr>
            <a:spLocks xmlns:a="http://schemas.openxmlformats.org/drawingml/2006/main" noGrp="1"/>
          </p:cNvSpPr>
          <p:nvPr/>
        </p:nvSpPr>
        <p:spPr>
          <a:xfrm xmlns:a="http://schemas.openxmlformats.org/drawingml/2006/main">
            <a:off x="800100" y="6762750"/>
            <a:ext cx="13620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1">
                <a:solidFill>
                  <a:srgbClr val="007D78"/>
                </a:solidFill>
                <a:latin typeface="DejaVu Sans"/>
                <a:ea typeface="DejaVu Sans"/>
                <a:cs typeface="DejaVu Sans"/>
              </a:defRPr>
            </a:defPPr>
            <a:lvl1pPr>
              <a:buNone/>
              <a:defRPr sz="2175" b="1">
                <a:solidFill>
                  <a:srgbClr val="007D78"/>
                </a:solidFill>
                <a:latin typeface="DejaVu Sans"/>
                <a:ea typeface="DejaVu Sans"/>
                <a:cs typeface="DejaVu Sans"/>
              </a:defRPr>
            </a:lvl1pPr>
            <a:lvl2pPr>
              <a:buNone/>
              <a:defRPr sz="2175" b="1">
                <a:solidFill>
                  <a:srgbClr val="007D78"/>
                </a:solidFill>
                <a:latin typeface="DejaVu Sans"/>
                <a:ea typeface="DejaVu Sans"/>
                <a:cs typeface="DejaVu Sans"/>
              </a:defRPr>
            </a:lvl2pPr>
            <a:lvl3pPr>
              <a:buNone/>
              <a:defRPr sz="2175" b="1">
                <a:solidFill>
                  <a:srgbClr val="007D78"/>
                </a:solidFill>
                <a:latin typeface="DejaVu Sans"/>
                <a:ea typeface="DejaVu Sans"/>
                <a:cs typeface="DejaVu Sans"/>
              </a:defRPr>
            </a:lvl3pPr>
            <a:lvl4pPr>
              <a:buNone/>
              <a:defRPr sz="2175" b="1">
                <a:solidFill>
                  <a:srgbClr val="007D78"/>
                </a:solidFill>
                <a:latin typeface="DejaVu Sans"/>
                <a:ea typeface="DejaVu Sans"/>
                <a:cs typeface="DejaVu Sans"/>
              </a:defRPr>
            </a:lvl4pPr>
            <a:lvl5pPr>
              <a:buNone/>
              <a:defRPr sz="2175" b="1">
                <a:solidFill>
                  <a:srgbClr val="007D78"/>
                </a:solidFill>
                <a:latin typeface="DejaVu Sans"/>
                <a:ea typeface="DejaVu Sans"/>
                <a:cs typeface="DejaVu Sans"/>
              </a:defRPr>
            </a:lvl5pPr>
            <a:lvl6pPr>
              <a:buNone/>
              <a:defRPr sz="2175" b="1">
                <a:solidFill>
                  <a:srgbClr val="007D78"/>
                </a:solidFill>
                <a:latin typeface="DejaVu Sans"/>
                <a:ea typeface="DejaVu Sans"/>
                <a:cs typeface="DejaVu Sans"/>
              </a:defRPr>
            </a:lvl6pPr>
            <a:lvl7pPr>
              <a:buNone/>
              <a:defRPr sz="2175" b="1">
                <a:solidFill>
                  <a:srgbClr val="007D78"/>
                </a:solidFill>
                <a:latin typeface="DejaVu Sans"/>
                <a:ea typeface="DejaVu Sans"/>
                <a:cs typeface="DejaVu Sans"/>
              </a:defRPr>
            </a:lvl7pPr>
            <a:lvl8pPr>
              <a:buNone/>
              <a:defRPr sz="2175" b="1">
                <a:solidFill>
                  <a:srgbClr val="007D78"/>
                </a:solidFill>
                <a:latin typeface="DejaVu Sans"/>
                <a:ea typeface="DejaVu Sans"/>
                <a:cs typeface="DejaVu Sans"/>
              </a:defRPr>
            </a:lvl8pPr>
            <a:lvl9pPr>
              <a:buNone/>
              <a:defRPr sz="2175" b="1">
                <a:solidFill>
                  <a:srgbClr val="007D78"/>
                </a:solidFill>
                <a:latin typeface="DejaVu Sans"/>
                <a:ea typeface="DejaVu Sans"/>
                <a:cs typeface="DejaVu Sans"/>
              </a:defRPr>
            </a:lvl9pPr>
          </a:lstStyle>
          <a:p xmlns:a="http://schemas.openxmlformats.org/drawingml/2006/main">
            <a:pPr>
              <a:buNone/>
              <a:defRPr sz="2175" b="1">
                <a:solidFill>
                  <a:srgbClr val="007D78"/>
                </a:solidFill>
                <a:latin typeface="DejaVu Sans"/>
                <a:ea typeface="DejaVu Sans"/>
                <a:cs typeface="DejaVu Sans"/>
              </a:defRPr>
            </a:pPr>
            <a:r>
              <a:rPr sz="2175" b="1">
                <a:solidFill>
                  <a:srgbClr val="007D78"/>
                </a:solidFill>
                <a:latin typeface="DejaVu Sans"/>
                <a:ea typeface="DejaVu Sans"/>
                <a:cs typeface="DejaVu Sans"/>
              </a:rPr>
              <a:t>Similarity(q, p) = cosine(E(q), E(section title + passage))</a:t>
            </a:r>
          </a:p>
        </p:txBody>
      </p:sp>
      <p:sp>
        <p:nvSpPr>
          <p:cNvPr id="5" name="context-note">
            <a:extLst xmlns:a="http://schemas.openxmlformats.org/drawingml/2006/main">
              <a:ext uri="{FF2B5EF4-FFF2-40B4-BE49-F238E27FC236}">
                <a16:creationId xmlns:a16="http://schemas.microsoft.com/office/drawing/2014/main" id="{D6A0DBC5-A0DE-4D4B-A6A5-A9F839070F7B}"/>
              </a:ext>
            </a:extLst>
          </p:cNvPr>
          <p:cNvSpPr>
            <a:spLocks xmlns:a="http://schemas.openxmlformats.org/drawingml/2006/main" noGrp="1"/>
          </p:cNvSpPr>
          <p:nvPr/>
        </p:nvSpPr>
        <p:spPr>
          <a:xfrm xmlns:a="http://schemas.openxmlformats.org/drawingml/2006/main">
            <a:off x="762000" y="7458075"/>
            <a:ext cx="13049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0">
                <a:solidFill>
                  <a:srgbClr val="526975"/>
                </a:solidFill>
                <a:latin typeface="DejaVu Sans"/>
                <a:ea typeface="DejaVu Sans"/>
                <a:cs typeface="DejaVu Sans"/>
              </a:defRPr>
            </a:defPPr>
            <a:lvl1pPr>
              <a:buNone/>
              <a:defRPr sz="1575" b="0">
                <a:solidFill>
                  <a:srgbClr val="526975"/>
                </a:solidFill>
                <a:latin typeface="DejaVu Sans"/>
                <a:ea typeface="DejaVu Sans"/>
                <a:cs typeface="DejaVu Sans"/>
              </a:defRPr>
            </a:lvl1pPr>
            <a:lvl2pPr>
              <a:buNone/>
              <a:defRPr sz="1575" b="0">
                <a:solidFill>
                  <a:srgbClr val="526975"/>
                </a:solidFill>
                <a:latin typeface="DejaVu Sans"/>
                <a:ea typeface="DejaVu Sans"/>
                <a:cs typeface="DejaVu Sans"/>
              </a:defRPr>
            </a:lvl2pPr>
            <a:lvl3pPr>
              <a:buNone/>
              <a:defRPr sz="1575" b="0">
                <a:solidFill>
                  <a:srgbClr val="526975"/>
                </a:solidFill>
                <a:latin typeface="DejaVu Sans"/>
                <a:ea typeface="DejaVu Sans"/>
                <a:cs typeface="DejaVu Sans"/>
              </a:defRPr>
            </a:lvl3pPr>
            <a:lvl4pPr>
              <a:buNone/>
              <a:defRPr sz="1575" b="0">
                <a:solidFill>
                  <a:srgbClr val="526975"/>
                </a:solidFill>
                <a:latin typeface="DejaVu Sans"/>
                <a:ea typeface="DejaVu Sans"/>
                <a:cs typeface="DejaVu Sans"/>
              </a:defRPr>
            </a:lvl4pPr>
            <a:lvl5pPr>
              <a:buNone/>
              <a:defRPr sz="1575" b="0">
                <a:solidFill>
                  <a:srgbClr val="526975"/>
                </a:solidFill>
                <a:latin typeface="DejaVu Sans"/>
                <a:ea typeface="DejaVu Sans"/>
                <a:cs typeface="DejaVu Sans"/>
              </a:defRPr>
            </a:lvl5pPr>
            <a:lvl6pPr>
              <a:buNone/>
              <a:defRPr sz="1575" b="0">
                <a:solidFill>
                  <a:srgbClr val="526975"/>
                </a:solidFill>
                <a:latin typeface="DejaVu Sans"/>
                <a:ea typeface="DejaVu Sans"/>
                <a:cs typeface="DejaVu Sans"/>
              </a:defRPr>
            </a:lvl6pPr>
            <a:lvl7pPr>
              <a:buNone/>
              <a:defRPr sz="1575" b="0">
                <a:solidFill>
                  <a:srgbClr val="526975"/>
                </a:solidFill>
                <a:latin typeface="DejaVu Sans"/>
                <a:ea typeface="DejaVu Sans"/>
                <a:cs typeface="DejaVu Sans"/>
              </a:defRPr>
            </a:lvl7pPr>
            <a:lvl8pPr>
              <a:buNone/>
              <a:defRPr sz="1575" b="0">
                <a:solidFill>
                  <a:srgbClr val="526975"/>
                </a:solidFill>
                <a:latin typeface="DejaVu Sans"/>
                <a:ea typeface="DejaVu Sans"/>
                <a:cs typeface="DejaVu Sans"/>
              </a:defRPr>
            </a:lvl8pPr>
            <a:lvl9pPr>
              <a:buNone/>
              <a:defRPr sz="1575" b="0">
                <a:solidFill>
                  <a:srgbClr val="526975"/>
                </a:solidFill>
                <a:latin typeface="DejaVu Sans"/>
                <a:ea typeface="DejaVu Sans"/>
                <a:cs typeface="DejaVu Sans"/>
              </a:defRPr>
            </a:lvl9pPr>
          </a:lstStyle>
          <a:p xmlns:a="http://schemas.openxmlformats.org/drawingml/2006/main">
            <a:pPr>
              <a:buNone/>
              <a:defRPr sz="1575" b="0">
                <a:solidFill>
                  <a:srgbClr val="526975"/>
                </a:solidFill>
                <a:latin typeface="DejaVu Sans"/>
                <a:ea typeface="DejaVu Sans"/>
                <a:cs typeface="DejaVu Sans"/>
              </a:defRPr>
            </a:pPr>
            <a:r>
              <a:rPr sz="1575" b="0">
                <a:solidFill>
                  <a:srgbClr val="526975"/>
                </a:solidFill>
                <a:latin typeface="DejaVu Sans"/>
                <a:ea typeface="DejaVu Sans"/>
                <a:cs typeface="DejaVu Sans"/>
              </a:rPr>
              <a:t>Both neural models remain pretrained and frozen. The project tests retrieval and evidence fusion.</a:t>
            </a:r>
          </a:p>
        </p:txBody>
      </p:sp>
    </p:spTree>
    <p:extLst>
      <p:ext uri="{BB962C8B-B14F-4D97-AF65-F5344CB8AC3E}">
        <p14:creationId xmlns:p14="http://schemas.microsoft.com/office/powerpoint/2010/main" val="135213006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C86CC647-CDFA-423B-A6F3-56F8B62BF0F1}"/>
              </a:ext>
            </a:extLst>
          </p:cNvPr>
          <p:cNvSpPr>
            <a:spLocks xmlns:a="http://schemas.openxmlformats.org/drawingml/2006/main" noGrp="1"/>
          </p:cNvSpPr>
          <p:nvPr/>
        </p:nvSpPr>
        <p:spPr>
          <a:xfrm xmlns:a="http://schemas.openxmlformats.org/drawingml/2006/main">
            <a:off x="762000" y="571500"/>
            <a:ext cx="13620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450" b="1">
                <a:solidFill>
                  <a:srgbClr val="102B3A"/>
                </a:solidFill>
                <a:latin typeface="DejaVu Sans"/>
                <a:ea typeface="DejaVu Sans"/>
                <a:cs typeface="DejaVu Sans"/>
              </a:defRPr>
            </a:defPPr>
            <a:lvl1pPr>
              <a:buNone/>
              <a:defRPr sz="3450" b="1">
                <a:solidFill>
                  <a:srgbClr val="102B3A"/>
                </a:solidFill>
                <a:latin typeface="DejaVu Sans"/>
                <a:ea typeface="DejaVu Sans"/>
                <a:cs typeface="DejaVu Sans"/>
              </a:defRPr>
            </a:lvl1pPr>
            <a:lvl2pPr>
              <a:buNone/>
              <a:defRPr sz="3450" b="1">
                <a:solidFill>
                  <a:srgbClr val="102B3A"/>
                </a:solidFill>
                <a:latin typeface="DejaVu Sans"/>
                <a:ea typeface="DejaVu Sans"/>
                <a:cs typeface="DejaVu Sans"/>
              </a:defRPr>
            </a:lvl2pPr>
            <a:lvl3pPr>
              <a:buNone/>
              <a:defRPr sz="3450" b="1">
                <a:solidFill>
                  <a:srgbClr val="102B3A"/>
                </a:solidFill>
                <a:latin typeface="DejaVu Sans"/>
                <a:ea typeface="DejaVu Sans"/>
                <a:cs typeface="DejaVu Sans"/>
              </a:defRPr>
            </a:lvl3pPr>
            <a:lvl4pPr>
              <a:buNone/>
              <a:defRPr sz="3450" b="1">
                <a:solidFill>
                  <a:srgbClr val="102B3A"/>
                </a:solidFill>
                <a:latin typeface="DejaVu Sans"/>
                <a:ea typeface="DejaVu Sans"/>
                <a:cs typeface="DejaVu Sans"/>
              </a:defRPr>
            </a:lvl4pPr>
            <a:lvl5pPr>
              <a:buNone/>
              <a:defRPr sz="3450" b="1">
                <a:solidFill>
                  <a:srgbClr val="102B3A"/>
                </a:solidFill>
                <a:latin typeface="DejaVu Sans"/>
                <a:ea typeface="DejaVu Sans"/>
                <a:cs typeface="DejaVu Sans"/>
              </a:defRPr>
            </a:lvl5pPr>
            <a:lvl6pPr>
              <a:buNone/>
              <a:defRPr sz="3450" b="1">
                <a:solidFill>
                  <a:srgbClr val="102B3A"/>
                </a:solidFill>
                <a:latin typeface="DejaVu Sans"/>
                <a:ea typeface="DejaVu Sans"/>
                <a:cs typeface="DejaVu Sans"/>
              </a:defRPr>
            </a:lvl6pPr>
            <a:lvl7pPr>
              <a:buNone/>
              <a:defRPr sz="3450" b="1">
                <a:solidFill>
                  <a:srgbClr val="102B3A"/>
                </a:solidFill>
                <a:latin typeface="DejaVu Sans"/>
                <a:ea typeface="DejaVu Sans"/>
                <a:cs typeface="DejaVu Sans"/>
              </a:defRPr>
            </a:lvl7pPr>
            <a:lvl8pPr>
              <a:buNone/>
              <a:defRPr sz="3450" b="1">
                <a:solidFill>
                  <a:srgbClr val="102B3A"/>
                </a:solidFill>
                <a:latin typeface="DejaVu Sans"/>
                <a:ea typeface="DejaVu Sans"/>
                <a:cs typeface="DejaVu Sans"/>
              </a:defRPr>
            </a:lvl8pPr>
            <a:lvl9pPr>
              <a:buNone/>
              <a:defRPr sz="3450" b="1">
                <a:solidFill>
                  <a:srgbClr val="102B3A"/>
                </a:solidFill>
                <a:latin typeface="DejaVu Sans"/>
                <a:ea typeface="DejaVu Sans"/>
                <a:cs typeface="DejaVu Sans"/>
              </a:defRPr>
            </a:lvl9pPr>
          </a:lstStyle>
          <a:p xmlns:a="http://schemas.openxmlformats.org/drawingml/2006/main">
            <a:pPr>
              <a:buNone/>
              <a:defRPr sz="3450" b="1">
                <a:solidFill>
                  <a:srgbClr val="102B3A"/>
                </a:solidFill>
                <a:latin typeface="DejaVu Sans"/>
                <a:ea typeface="DejaVu Sans"/>
                <a:cs typeface="DejaVu Sans"/>
              </a:defRPr>
            </a:pPr>
            <a:r>
              <a:rPr sz="3450" b="1">
                <a:solidFill>
                  <a:srgbClr val="102B3A"/>
                </a:solidFill>
                <a:latin typeface="DejaVu Sans"/>
                <a:ea typeface="DejaVu Sans"/>
                <a:cs typeface="DejaVu Sans"/>
              </a:rPr>
              <a:t>How offline RAG answers a question</a:t>
            </a:r>
          </a:p>
        </p:txBody>
      </p:sp>
      <p:sp>
        <p:nvSpPr>
          <p:cNvPr id="2" name="slide-number">
            <a:extLst xmlns:a="http://schemas.openxmlformats.org/drawingml/2006/main">
              <a:ext uri="{FF2B5EF4-FFF2-40B4-BE49-F238E27FC236}">
                <a16:creationId xmlns:a16="http://schemas.microsoft.com/office/drawing/2014/main" id="{550F5E4C-CABE-4937-B10F-89EFA126E906}"/>
              </a:ext>
            </a:extLst>
          </p:cNvPr>
          <p:cNvSpPr>
            <a:spLocks xmlns:a="http://schemas.openxmlformats.org/drawingml/2006/main" noGrp="1"/>
          </p:cNvSpPr>
          <p:nvPr/>
        </p:nvSpPr>
        <p:spPr>
          <a:xfrm xmlns:a="http://schemas.openxmlformats.org/drawingml/2006/main">
            <a:off x="13906500" y="795337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0">
                <a:solidFill>
                  <a:srgbClr val="526975"/>
                </a:solidFill>
                <a:latin typeface="DejaVu Sans"/>
                <a:ea typeface="DejaVu Sans"/>
                <a:cs typeface="DejaVu Sans"/>
              </a:defRPr>
            </a:defPPr>
            <a:lvl1pPr>
              <a:buNone/>
              <a:defRPr sz="1575" b="0">
                <a:solidFill>
                  <a:srgbClr val="526975"/>
                </a:solidFill>
                <a:latin typeface="DejaVu Sans"/>
                <a:ea typeface="DejaVu Sans"/>
                <a:cs typeface="DejaVu Sans"/>
              </a:defRPr>
            </a:lvl1pPr>
            <a:lvl2pPr>
              <a:buNone/>
              <a:defRPr sz="1575" b="0">
                <a:solidFill>
                  <a:srgbClr val="526975"/>
                </a:solidFill>
                <a:latin typeface="DejaVu Sans"/>
                <a:ea typeface="DejaVu Sans"/>
                <a:cs typeface="DejaVu Sans"/>
              </a:defRPr>
            </a:lvl2pPr>
            <a:lvl3pPr>
              <a:buNone/>
              <a:defRPr sz="1575" b="0">
                <a:solidFill>
                  <a:srgbClr val="526975"/>
                </a:solidFill>
                <a:latin typeface="DejaVu Sans"/>
                <a:ea typeface="DejaVu Sans"/>
                <a:cs typeface="DejaVu Sans"/>
              </a:defRPr>
            </a:lvl3pPr>
            <a:lvl4pPr>
              <a:buNone/>
              <a:defRPr sz="1575" b="0">
                <a:solidFill>
                  <a:srgbClr val="526975"/>
                </a:solidFill>
                <a:latin typeface="DejaVu Sans"/>
                <a:ea typeface="DejaVu Sans"/>
                <a:cs typeface="DejaVu Sans"/>
              </a:defRPr>
            </a:lvl4pPr>
            <a:lvl5pPr>
              <a:buNone/>
              <a:defRPr sz="1575" b="0">
                <a:solidFill>
                  <a:srgbClr val="526975"/>
                </a:solidFill>
                <a:latin typeface="DejaVu Sans"/>
                <a:ea typeface="DejaVu Sans"/>
                <a:cs typeface="DejaVu Sans"/>
              </a:defRPr>
            </a:lvl5pPr>
            <a:lvl6pPr>
              <a:buNone/>
              <a:defRPr sz="1575" b="0">
                <a:solidFill>
                  <a:srgbClr val="526975"/>
                </a:solidFill>
                <a:latin typeface="DejaVu Sans"/>
                <a:ea typeface="DejaVu Sans"/>
                <a:cs typeface="DejaVu Sans"/>
              </a:defRPr>
            </a:lvl6pPr>
            <a:lvl7pPr>
              <a:buNone/>
              <a:defRPr sz="1575" b="0">
                <a:solidFill>
                  <a:srgbClr val="526975"/>
                </a:solidFill>
                <a:latin typeface="DejaVu Sans"/>
                <a:ea typeface="DejaVu Sans"/>
                <a:cs typeface="DejaVu Sans"/>
              </a:defRPr>
            </a:lvl7pPr>
            <a:lvl8pPr>
              <a:buNone/>
              <a:defRPr sz="1575" b="0">
                <a:solidFill>
                  <a:srgbClr val="526975"/>
                </a:solidFill>
                <a:latin typeface="DejaVu Sans"/>
                <a:ea typeface="DejaVu Sans"/>
                <a:cs typeface="DejaVu Sans"/>
              </a:defRPr>
            </a:lvl8pPr>
            <a:lvl9pPr>
              <a:buNone/>
              <a:defRPr sz="1575" b="0">
                <a:solidFill>
                  <a:srgbClr val="526975"/>
                </a:solidFill>
                <a:latin typeface="DejaVu Sans"/>
                <a:ea typeface="DejaVu Sans"/>
                <a:cs typeface="DejaVu Sans"/>
              </a:defRPr>
            </a:lvl9pPr>
          </a:lstStyle>
          <a:p xmlns:a="http://schemas.openxmlformats.org/drawingml/2006/main">
            <a:pPr>
              <a:buNone/>
              <a:defRPr sz="1575" b="0">
                <a:solidFill>
                  <a:srgbClr val="526975"/>
                </a:solidFill>
                <a:latin typeface="DejaVu Sans"/>
                <a:ea typeface="DejaVu Sans"/>
                <a:cs typeface="DejaVu Sans"/>
              </a:defRPr>
            </a:pPr>
            <a:r>
              <a:rPr sz="1575" b="0">
                <a:solidFill>
                  <a:srgbClr val="526975"/>
                </a:solidFill>
                <a:latin typeface="DejaVu Sans"/>
                <a:ea typeface="DejaVu Sans"/>
                <a:cs typeface="DejaVu Sans"/>
              </a:rPr>
              <a:t>06</a:t>
            </a:r>
          </a:p>
        </p:txBody>
      </p:sp>
      <p:graphicFrame>
        <p:nvGraphicFramePr>
          <p:cNvPr id="3" name="">
            <a:extLst xmlns:a="http://schemas.openxmlformats.org/drawingml/2006/main">
              <a:ext uri="{FF2B5EF4-FFF2-40B4-BE49-F238E27FC236}">
                <a16:creationId xmlns:a16="http://schemas.microsoft.com/office/drawing/2014/main" id="{0D6E4302-C687-47A1-90B2-D233BDD7DCFF}"/>
              </a:ext>
            </a:extLst>
          </p:cNvPr>
          <p:cNvGraphicFramePr/>
          <p:nvPr/>
        </p:nvGraphicFramePr>
        <p:xfrm>
          <a:off xmlns:a="http://schemas.openxmlformats.org/drawingml/2006/main" x="762000" y="1847850"/>
          <a:ext xmlns:a="http://schemas.openxmlformats.org/drawingml/2006/main" cx="13716000" cy="5076825"/>
        </p:xfrm>
        <a:graphic xmlns:a="http://schemas.openxmlformats.org/drawingml/2006/main">
          <a:graphicData uri="http://schemas.openxmlformats.org/drawingml/2006/table">
            <a:tbl>
              <a:tblPr firstRow="1" bandRow="0"/>
              <a:tblGrid>
                <a:gridCol w="2857500"/>
                <a:gridCol w="5905500"/>
                <a:gridCol w="4953000"/>
              </a:tblGrid>
              <a:tr h="590550">
                <a:tc>
                  <a:txBody>
                    <a:bodyPr wrap="square" lIns="152400" tIns="95250" rIns="152400" bIns="95250">
                      <a:noAutofit/>
                    </a:bodyPr>
                    <a:lstStyle/>
                    <a:p>
                      <a:r>
                        <a:rPr sz="1875" b="1">
                          <a:solidFill>
                            <a:srgbClr val="FFFFFF"/>
                          </a:solidFill>
                          <a:latin typeface="DejaVu Sans"/>
                          <a:ea typeface="DejaVu Sans"/>
                          <a:cs typeface="DejaVu Sans"/>
                        </a:rPr>
                        <a:t>When</a:t>
                      </a:r>
                    </a:p>
                  </a:txBody>
                  <a:tcPr marL="91440" marR="91440" marT="45720" marB="45720" anchor="ctr">
                    <a:lnL w="7620">
                      <a:solidFill>
                        <a:srgbClr val="CCDADC"/>
                      </a:solidFill>
                      <a:prstDash val="solid"/>
                    </a:lnL>
                    <a:lnR w="7620">
                      <a:solidFill>
                        <a:srgbClr val="CCDADC"/>
                      </a:solidFill>
                      <a:prstDash val="solid"/>
                    </a:lnR>
                    <a:lnT w="7620">
                      <a:solidFill>
                        <a:srgbClr val="CCDADC"/>
                      </a:solidFill>
                      <a:prstDash val="solid"/>
                    </a:lnT>
                    <a:lnB w="7620">
                      <a:solidFill>
                        <a:srgbClr val="CCDADC"/>
                      </a:solidFill>
                      <a:prstDash val="solid"/>
                    </a:lnB>
                    <a:solidFill>
                      <a:srgbClr val="102B3A"/>
                    </a:solidFill>
                  </a:tcPr>
                </a:tc>
                <a:tc>
                  <a:txBody>
                    <a:bodyPr wrap="square" lIns="152400" tIns="95250" rIns="152400" bIns="95250">
                      <a:noAutofit/>
                    </a:bodyPr>
                    <a:lstStyle/>
                    <a:p>
                      <a:r>
                        <a:rPr sz="1875" b="1">
                          <a:solidFill>
                            <a:srgbClr val="FFFFFF"/>
                          </a:solidFill>
                          <a:latin typeface="DejaVu Sans"/>
                          <a:ea typeface="DejaVu Sans"/>
                          <a:cs typeface="DejaVu Sans"/>
                        </a:rPr>
                        <a:t>Operation</a:t>
                      </a:r>
                    </a:p>
                  </a:txBody>
                  <a:tcPr marL="91440" marR="91440" marT="45720" marB="45720" anchor="ctr">
                    <a:lnR w="7620">
                      <a:solidFill>
                        <a:srgbClr val="CCDADC"/>
                      </a:solidFill>
                      <a:prstDash val="solid"/>
                    </a:lnR>
                    <a:lnT w="7620">
                      <a:solidFill>
                        <a:srgbClr val="CCDADC"/>
                      </a:solidFill>
                      <a:prstDash val="solid"/>
                    </a:lnT>
                    <a:lnB w="7620">
                      <a:solidFill>
                        <a:srgbClr val="CCDADC"/>
                      </a:solidFill>
                      <a:prstDash val="solid"/>
                    </a:lnB>
                    <a:solidFill>
                      <a:srgbClr val="102B3A"/>
                    </a:solidFill>
                  </a:tcPr>
                </a:tc>
                <a:tc>
                  <a:txBody>
                    <a:bodyPr wrap="square" lIns="152400" tIns="95250" rIns="152400" bIns="95250">
                      <a:noAutofit/>
                    </a:bodyPr>
                    <a:lstStyle/>
                    <a:p>
                      <a:r>
                        <a:rPr sz="1875" b="1">
                          <a:solidFill>
                            <a:srgbClr val="FFFFFF"/>
                          </a:solidFill>
                          <a:latin typeface="DejaVu Sans"/>
                          <a:ea typeface="DejaVu Sans"/>
                          <a:cs typeface="DejaVu Sans"/>
                        </a:rPr>
                        <a:t>Output</a:t>
                      </a:r>
                    </a:p>
                  </a:txBody>
                  <a:tcPr marL="91440" marR="91440" marT="45720" marB="45720" anchor="ctr">
                    <a:lnR w="7620">
                      <a:solidFill>
                        <a:srgbClr val="CCDADC"/>
                      </a:solidFill>
                      <a:prstDash val="solid"/>
                    </a:lnR>
                    <a:lnT w="7620">
                      <a:solidFill>
                        <a:srgbClr val="CCDADC"/>
                      </a:solidFill>
                      <a:prstDash val="solid"/>
                    </a:lnT>
                    <a:lnB w="7620">
                      <a:solidFill>
                        <a:srgbClr val="CCDADC"/>
                      </a:solidFill>
                      <a:prstDash val="solid"/>
                    </a:lnB>
                    <a:solidFill>
                      <a:srgbClr val="102B3A"/>
                    </a:solidFill>
                  </a:tcPr>
                </a:tc>
              </a:tr>
              <a:tr h="897255">
                <a:tc>
                  <a:txBody>
                    <a:bodyPr wrap="square" lIns="152400" tIns="95250" rIns="152400" bIns="95250">
                      <a:noAutofit/>
                    </a:bodyPr>
                    <a:lstStyle/>
                    <a:p>
                      <a:r>
                        <a:rPr sz="1950" b="1">
                          <a:solidFill>
                            <a:srgbClr val="102B3A"/>
                          </a:solidFill>
                          <a:latin typeface="DejaVu Sans"/>
                          <a:ea typeface="DejaVu Sans"/>
                          <a:cs typeface="DejaVu Sans"/>
                        </a:rPr>
                        <a:t>One-time setup</a:t>
                      </a:r>
                    </a:p>
                  </a:txBody>
                  <a:tcPr marL="91440" marR="91440" marT="45720" marB="45720" anchor="ctr">
                    <a:lnL w="7620">
                      <a:solidFill>
                        <a:srgbClr val="CCDADC"/>
                      </a:solidFill>
                      <a:prstDash val="solid"/>
                    </a:lnL>
                    <a:lnR w="7620">
                      <a:solidFill>
                        <a:srgbClr val="CCDADC"/>
                      </a:solidFill>
                      <a:prstDash val="solid"/>
                    </a:lnR>
                    <a:lnB w="7620">
                      <a:solidFill>
                        <a:srgbClr val="CCDADC"/>
                      </a:solidFill>
                      <a:prstDash val="solid"/>
                    </a:lnB>
                    <a:solidFill>
                      <a:srgbClr val="FFFFFF"/>
                    </a:solidFill>
                  </a:tcPr>
                </a:tc>
                <a:tc>
                  <a:txBody>
                    <a:bodyPr wrap="square" lIns="152400" tIns="95250" rIns="152400" bIns="95250">
                      <a:noAutofit/>
                    </a:bodyPr>
                    <a:lstStyle/>
                    <a:p>
                      <a:r>
                        <a:rPr sz="1950" b="0">
                          <a:solidFill>
                            <a:srgbClr val="193646"/>
                          </a:solidFill>
                          <a:latin typeface="DejaVu Sans"/>
                          <a:ea typeface="DejaVu Sans"/>
                          <a:cs typeface="DejaVu Sans"/>
                        </a:rPr>
                        <a:t>Cache the notes, models and tokenizers.</a:t>
                      </a:r>
                    </a:p>
                    <a:p>
                      <a:r>
                        <a:rPr sz="1950" b="0">
                          <a:solidFill>
                            <a:srgbClr val="193646"/>
                          </a:solidFill>
                          <a:latin typeface="DejaVu Sans"/>
                          <a:ea typeface="DejaVu Sans"/>
                          <a:cs typeface="DejaVu Sans"/>
                        </a:rPr>
                        <a:t>Chunk text and save passage embeddings.</a:t>
                      </a:r>
                    </a:p>
                  </a:txBody>
                  <a:tcPr marL="91440" marR="91440" marT="45720" marB="45720" anchor="ctr">
                    <a:lnR w="7620">
                      <a:solidFill>
                        <a:srgbClr val="CCDADC"/>
                      </a:solidFill>
                      <a:prstDash val="solid"/>
                    </a:lnR>
                    <a:lnB w="7620">
                      <a:solidFill>
                        <a:srgbClr val="CCDADC"/>
                      </a:solidFill>
                      <a:prstDash val="solid"/>
                    </a:lnB>
                    <a:solidFill>
                      <a:srgbClr val="FFFFFF"/>
                    </a:solidFill>
                  </a:tcPr>
                </a:tc>
                <a:tc>
                  <a:txBody>
                    <a:bodyPr wrap="square" lIns="152400" tIns="95250" rIns="152400" bIns="95250">
                      <a:noAutofit/>
                    </a:bodyPr>
                    <a:lstStyle/>
                    <a:p>
                      <a:r>
                        <a:rPr sz="1950" b="0">
                          <a:solidFill>
                            <a:srgbClr val="193646"/>
                          </a:solidFill>
                          <a:latin typeface="DejaVu Sans"/>
                          <a:ea typeface="DejaVu Sans"/>
                          <a:cs typeface="DejaVu Sans"/>
                        </a:rPr>
                        <a:t>Local text files, a vector matrix</a:t>
                      </a:r>
                    </a:p>
                    <a:p>
                      <a:r>
                        <a:rPr sz="1950" b="0">
                          <a:solidFill>
                            <a:srgbClr val="193646"/>
                          </a:solidFill>
                          <a:latin typeface="DejaVu Sans"/>
                          <a:ea typeface="DejaVu Sans"/>
                          <a:cs typeface="DejaVu Sans"/>
                        </a:rPr>
                        <a:t>and an ID-to-passage map.</a:t>
                      </a:r>
                    </a:p>
                  </a:txBody>
                  <a:tcPr marL="91440" marR="91440" marT="45720" marB="45720" anchor="ctr">
                    <a:lnR w="7620">
                      <a:solidFill>
                        <a:srgbClr val="CCDADC"/>
                      </a:solidFill>
                      <a:prstDash val="solid"/>
                    </a:lnR>
                    <a:lnB w="7620">
                      <a:solidFill>
                        <a:srgbClr val="CCDADC"/>
                      </a:solidFill>
                      <a:prstDash val="solid"/>
                    </a:lnB>
                    <a:solidFill>
                      <a:srgbClr val="FFFFFF"/>
                    </a:solidFill>
                  </a:tcPr>
                </a:tc>
              </a:tr>
              <a:tr h="897255">
                <a:tc>
                  <a:txBody>
                    <a:bodyPr wrap="square" lIns="152400" tIns="95250" rIns="152400" bIns="95250">
                      <a:noAutofit/>
                    </a:bodyPr>
                    <a:lstStyle/>
                    <a:p>
                      <a:r>
                        <a:rPr sz="1950" b="1">
                          <a:solidFill>
                            <a:srgbClr val="102B3A"/>
                          </a:solidFill>
                          <a:latin typeface="DejaVu Sans"/>
                          <a:ea typeface="DejaVu Sans"/>
                          <a:cs typeface="DejaVu Sans"/>
                        </a:rPr>
                        <a:t>1  Retrieve</a:t>
                      </a:r>
                    </a:p>
                  </a:txBody>
                  <a:tcPr marL="91440" marR="91440" marT="45720" marB="45720" anchor="ctr">
                    <a:lnL w="7620">
                      <a:solidFill>
                        <a:srgbClr val="CCDADC"/>
                      </a:solidFill>
                      <a:prstDash val="solid"/>
                    </a:lnL>
                    <a:lnR w="7620">
                      <a:solidFill>
                        <a:srgbClr val="CCDADC"/>
                      </a:solidFill>
                      <a:prstDash val="solid"/>
                    </a:lnR>
                    <a:lnB w="7620">
                      <a:solidFill>
                        <a:srgbClr val="CCDADC"/>
                      </a:solidFill>
                      <a:prstDash val="solid"/>
                    </a:lnB>
                    <a:solidFill>
                      <a:srgbClr val="F5F9F9"/>
                    </a:solidFill>
                  </a:tcPr>
                </a:tc>
                <a:tc>
                  <a:txBody>
                    <a:bodyPr wrap="square" lIns="152400" tIns="95250" rIns="152400" bIns="95250">
                      <a:noAutofit/>
                    </a:bodyPr>
                    <a:lstStyle/>
                    <a:p>
                      <a:r>
                        <a:rPr sz="1950" b="0">
                          <a:solidFill>
                            <a:srgbClr val="193646"/>
                          </a:solidFill>
                          <a:latin typeface="DejaVu Sans"/>
                          <a:ea typeface="DejaVu Sans"/>
                          <a:cs typeface="DejaVu Sans"/>
                        </a:rPr>
                        <a:t>Encode the question and rank all</a:t>
                      </a:r>
                    </a:p>
                    <a:p>
                      <a:r>
                        <a:rPr sz="1950" b="0">
                          <a:solidFill>
                            <a:srgbClr val="193646"/>
                          </a:solidFill>
                          <a:latin typeface="DejaVu Sans"/>
                          <a:ea typeface="DejaVu Sans"/>
                          <a:cs typeface="DejaVu Sans"/>
                        </a:rPr>
                        <a:t>passages using cosine similarity.</a:t>
                      </a:r>
                    </a:p>
                  </a:txBody>
                  <a:tcPr marL="91440" marR="91440" marT="45720" marB="45720" anchor="ctr">
                    <a:lnR w="7620">
                      <a:solidFill>
                        <a:srgbClr val="CCDADC"/>
                      </a:solidFill>
                      <a:prstDash val="solid"/>
                    </a:lnR>
                    <a:lnB w="7620">
                      <a:solidFill>
                        <a:srgbClr val="CCDADC"/>
                      </a:solidFill>
                      <a:prstDash val="solid"/>
                    </a:lnB>
                    <a:solidFill>
                      <a:srgbClr val="F5F9F9"/>
                    </a:solidFill>
                  </a:tcPr>
                </a:tc>
                <a:tc>
                  <a:txBody>
                    <a:bodyPr wrap="square" lIns="152400" tIns="95250" rIns="152400" bIns="95250">
                      <a:noAutofit/>
                    </a:bodyPr>
                    <a:lstStyle/>
                    <a:p>
                      <a:r>
                        <a:rPr sz="1950" b="0">
                          <a:solidFill>
                            <a:srgbClr val="193646"/>
                          </a:solidFill>
                          <a:latin typeface="DejaVu Sans"/>
                          <a:ea typeface="DejaVu Sans"/>
                          <a:cs typeface="DejaVu Sans"/>
                        </a:rPr>
                        <a:t>The top 1, 3 or 5 passages</a:t>
                      </a:r>
                    </a:p>
                    <a:p>
                      <a:r>
                        <a:rPr sz="1950" b="0">
                          <a:solidFill>
                            <a:srgbClr val="193646"/>
                          </a:solidFill>
                          <a:latin typeface="DejaVu Sans"/>
                          <a:ea typeface="DejaVu Sans"/>
                          <a:cs typeface="DejaVu Sans"/>
                        </a:rPr>
                        <a:t>with their source IDs.</a:t>
                      </a:r>
                    </a:p>
                  </a:txBody>
                  <a:tcPr marL="91440" marR="91440" marT="45720" marB="45720" anchor="ctr">
                    <a:lnR w="7620">
                      <a:solidFill>
                        <a:srgbClr val="CCDADC"/>
                      </a:solidFill>
                      <a:prstDash val="solid"/>
                    </a:lnR>
                    <a:lnB w="7620">
                      <a:solidFill>
                        <a:srgbClr val="CCDADC"/>
                      </a:solidFill>
                      <a:prstDash val="solid"/>
                    </a:lnB>
                    <a:solidFill>
                      <a:srgbClr val="F5F9F9"/>
                    </a:solidFill>
                  </a:tcPr>
                </a:tc>
              </a:tr>
              <a:tr h="897255">
                <a:tc>
                  <a:txBody>
                    <a:bodyPr wrap="square" lIns="152400" tIns="95250" rIns="152400" bIns="95250">
                      <a:noAutofit/>
                    </a:bodyPr>
                    <a:lstStyle/>
                    <a:p>
                      <a:r>
                        <a:rPr sz="1950" b="1">
                          <a:solidFill>
                            <a:srgbClr val="102B3A"/>
                          </a:solidFill>
                          <a:latin typeface="DejaVu Sans"/>
                          <a:ea typeface="DejaVu Sans"/>
                          <a:cs typeface="DejaVu Sans"/>
                        </a:rPr>
                        <a:t>2  Augment</a:t>
                      </a:r>
                    </a:p>
                  </a:txBody>
                  <a:tcPr marL="91440" marR="91440" marT="45720" marB="45720" anchor="ctr">
                    <a:lnL w="7620">
                      <a:solidFill>
                        <a:srgbClr val="CCDADC"/>
                      </a:solidFill>
                      <a:prstDash val="solid"/>
                    </a:lnL>
                    <a:lnR w="7620">
                      <a:solidFill>
                        <a:srgbClr val="CCDADC"/>
                      </a:solidFill>
                      <a:prstDash val="solid"/>
                    </a:lnR>
                    <a:lnB w="7620">
                      <a:solidFill>
                        <a:srgbClr val="CCDADC"/>
                      </a:solidFill>
                      <a:prstDash val="solid"/>
                    </a:lnB>
                    <a:solidFill>
                      <a:srgbClr val="FFFFFF"/>
                    </a:solidFill>
                  </a:tcPr>
                </a:tc>
                <a:tc>
                  <a:txBody>
                    <a:bodyPr wrap="square" lIns="152400" tIns="95250" rIns="152400" bIns="95250">
                      <a:noAutofit/>
                    </a:bodyPr>
                    <a:lstStyle/>
                    <a:p>
                      <a:r>
                        <a:rPr sz="1950" b="0">
                          <a:solidFill>
                            <a:srgbClr val="193646"/>
                          </a:solidFill>
                          <a:latin typeface="DejaVu Sans"/>
                          <a:ea typeface="DejaVu Sans"/>
                          <a:cs typeface="DejaVu Sans"/>
                        </a:rPr>
                        <a:t>Build the prompt using full passages</a:t>
                      </a:r>
                    </a:p>
                    <a:p>
                      <a:r>
                        <a:rPr sz="1950" b="0">
                          <a:solidFill>
                            <a:srgbClr val="193646"/>
                          </a:solidFill>
                          <a:latin typeface="DejaVu Sans"/>
                          <a:ea typeface="DejaVu Sans"/>
                          <a:cs typeface="DejaVu Sans"/>
                        </a:rPr>
                        <a:t>or selected evidence sentences.</a:t>
                      </a:r>
                    </a:p>
                  </a:txBody>
                  <a:tcPr marL="91440" marR="91440" marT="45720" marB="45720" anchor="ctr">
                    <a:lnR w="7620">
                      <a:solidFill>
                        <a:srgbClr val="CCDADC"/>
                      </a:solidFill>
                      <a:prstDash val="solid"/>
                    </a:lnR>
                    <a:lnB w="7620">
                      <a:solidFill>
                        <a:srgbClr val="CCDADC"/>
                      </a:solidFill>
                      <a:prstDash val="solid"/>
                    </a:lnB>
                    <a:solidFill>
                      <a:srgbClr val="FFFFFF"/>
                    </a:solidFill>
                  </a:tcPr>
                </a:tc>
                <a:tc>
                  <a:txBody>
                    <a:bodyPr wrap="square" lIns="152400" tIns="95250" rIns="152400" bIns="95250">
                      <a:noAutofit/>
                    </a:bodyPr>
                    <a:lstStyle/>
                    <a:p>
                      <a:r>
                        <a:rPr sz="1950" b="0">
                          <a:solidFill>
                            <a:srgbClr val="193646"/>
                          </a:solidFill>
                          <a:latin typeface="DejaVu Sans"/>
                          <a:ea typeface="DejaVu Sans"/>
                          <a:cs typeface="DejaVu Sans"/>
                        </a:rPr>
                        <a:t>Question + source-labeled evidence</a:t>
                      </a:r>
                    </a:p>
                    <a:p>
                      <a:r>
                        <a:rPr sz="1950" b="0">
                          <a:solidFill>
                            <a:srgbClr val="193646"/>
                          </a:solidFill>
                          <a:latin typeface="DejaVu Sans"/>
                          <a:ea typeface="DejaVu Sans"/>
                          <a:cs typeface="DejaVu Sans"/>
                        </a:rPr>
                        <a:t>within a 512-token input budget.</a:t>
                      </a:r>
                    </a:p>
                  </a:txBody>
                  <a:tcPr marL="91440" marR="91440" marT="45720" marB="45720" anchor="ctr">
                    <a:lnR w="7620">
                      <a:solidFill>
                        <a:srgbClr val="CCDADC"/>
                      </a:solidFill>
                      <a:prstDash val="solid"/>
                    </a:lnR>
                    <a:lnB w="7620">
                      <a:solidFill>
                        <a:srgbClr val="CCDADC"/>
                      </a:solidFill>
                      <a:prstDash val="solid"/>
                    </a:lnB>
                    <a:solidFill>
                      <a:srgbClr val="FFFFFF"/>
                    </a:solidFill>
                  </a:tcPr>
                </a:tc>
              </a:tr>
              <a:tr h="897255">
                <a:tc>
                  <a:txBody>
                    <a:bodyPr wrap="square" lIns="152400" tIns="95250" rIns="152400" bIns="95250">
                      <a:noAutofit/>
                    </a:bodyPr>
                    <a:lstStyle/>
                    <a:p>
                      <a:r>
                        <a:rPr sz="1950" b="1">
                          <a:solidFill>
                            <a:srgbClr val="102B3A"/>
                          </a:solidFill>
                          <a:latin typeface="DejaVu Sans"/>
                          <a:ea typeface="DejaVu Sans"/>
                          <a:cs typeface="DejaVu Sans"/>
                        </a:rPr>
                        <a:t>3  Generate</a:t>
                      </a:r>
                    </a:p>
                  </a:txBody>
                  <a:tcPr marL="91440" marR="91440" marT="45720" marB="45720" anchor="ctr">
                    <a:lnL w="7620">
                      <a:solidFill>
                        <a:srgbClr val="CCDADC"/>
                      </a:solidFill>
                      <a:prstDash val="solid"/>
                    </a:lnL>
                    <a:lnR w="7620">
                      <a:solidFill>
                        <a:srgbClr val="CCDADC"/>
                      </a:solidFill>
                      <a:prstDash val="solid"/>
                    </a:lnR>
                    <a:lnB w="7620">
                      <a:solidFill>
                        <a:srgbClr val="CCDADC"/>
                      </a:solidFill>
                      <a:prstDash val="solid"/>
                    </a:lnB>
                    <a:solidFill>
                      <a:srgbClr val="F5F9F9"/>
                    </a:solidFill>
                  </a:tcPr>
                </a:tc>
                <a:tc>
                  <a:txBody>
                    <a:bodyPr wrap="square" lIns="152400" tIns="95250" rIns="152400" bIns="95250">
                      <a:noAutofit/>
                    </a:bodyPr>
                    <a:lstStyle/>
                    <a:p>
                      <a:r>
                        <a:rPr sz="1950" b="0">
                          <a:solidFill>
                            <a:srgbClr val="193646"/>
                          </a:solidFill>
                          <a:latin typeface="DejaVu Sans"/>
                          <a:ea typeface="DejaVu Sans"/>
                          <a:cs typeface="DejaVu Sans"/>
                        </a:rPr>
                        <a:t>Ask Flan-T5-small to answer only from</a:t>
                      </a:r>
                    </a:p>
                    <a:p>
                      <a:r>
                        <a:rPr sz="1950" b="0">
                          <a:solidFill>
                            <a:srgbClr val="193646"/>
                          </a:solidFill>
                          <a:latin typeface="DejaVu Sans"/>
                          <a:ea typeface="DejaVu Sans"/>
                          <a:cs typeface="DejaVu Sans"/>
                        </a:rPr>
                        <a:t>the supplied evidence, or abstain.</a:t>
                      </a:r>
                    </a:p>
                  </a:txBody>
                  <a:tcPr marL="91440" marR="91440" marT="45720" marB="45720" anchor="ctr">
                    <a:lnR w="7620">
                      <a:solidFill>
                        <a:srgbClr val="CCDADC"/>
                      </a:solidFill>
                      <a:prstDash val="solid"/>
                    </a:lnR>
                    <a:lnB w="7620">
                      <a:solidFill>
                        <a:srgbClr val="CCDADC"/>
                      </a:solidFill>
                      <a:prstDash val="solid"/>
                    </a:lnB>
                    <a:solidFill>
                      <a:srgbClr val="F5F9F9"/>
                    </a:solidFill>
                  </a:tcPr>
                </a:tc>
                <a:tc>
                  <a:txBody>
                    <a:bodyPr wrap="square" lIns="152400" tIns="95250" rIns="152400" bIns="95250">
                      <a:noAutofit/>
                    </a:bodyPr>
                    <a:lstStyle/>
                    <a:p>
                      <a:r>
                        <a:rPr sz="1950" b="0">
                          <a:solidFill>
                            <a:srgbClr val="193646"/>
                          </a:solidFill>
                          <a:latin typeface="DejaVu Sans"/>
                          <a:ea typeface="DejaVu Sans"/>
                          <a:cs typeface="DejaVu Sans"/>
                        </a:rPr>
                        <a:t>A short answer, with a requested</a:t>
                      </a:r>
                    </a:p>
                    <a:p>
                      <a:r>
                        <a:rPr sz="1950" b="0">
                          <a:solidFill>
                            <a:srgbClr val="193646"/>
                          </a:solidFill>
                          <a:latin typeface="DejaVu Sans"/>
                          <a:ea typeface="DejaVu Sans"/>
                          <a:cs typeface="DejaVu Sans"/>
                        </a:rPr>
                        <a:t>“Not found” response if unsupported.</a:t>
                      </a:r>
                    </a:p>
                  </a:txBody>
                  <a:tcPr marL="91440" marR="91440" marT="45720" marB="45720" anchor="ctr">
                    <a:lnR w="7620">
                      <a:solidFill>
                        <a:srgbClr val="CCDADC"/>
                      </a:solidFill>
                      <a:prstDash val="solid"/>
                    </a:lnR>
                    <a:lnB w="7620">
                      <a:solidFill>
                        <a:srgbClr val="CCDADC"/>
                      </a:solidFill>
                      <a:prstDash val="solid"/>
                    </a:lnB>
                    <a:solidFill>
                      <a:srgbClr val="F5F9F9"/>
                    </a:solidFill>
                  </a:tcPr>
                </a:tc>
              </a:tr>
              <a:tr h="897255">
                <a:tc>
                  <a:txBody>
                    <a:bodyPr wrap="square" lIns="152400" tIns="95250" rIns="152400" bIns="95250">
                      <a:noAutofit/>
                    </a:bodyPr>
                    <a:lstStyle/>
                    <a:p>
                      <a:r>
                        <a:rPr sz="1950" b="1">
                          <a:solidFill>
                            <a:srgbClr val="102B3A"/>
                          </a:solidFill>
                          <a:latin typeface="DejaVu Sans"/>
                          <a:ea typeface="DejaVu Sans"/>
                          <a:cs typeface="DejaVu Sans"/>
                        </a:rPr>
                        <a:t>4  Display</a:t>
                      </a:r>
                    </a:p>
                  </a:txBody>
                  <a:tcPr marL="91440" marR="91440" marT="45720" marB="45720" anchor="ctr">
                    <a:lnL w="7620">
                      <a:solidFill>
                        <a:srgbClr val="CCDADC"/>
                      </a:solidFill>
                      <a:prstDash val="solid"/>
                    </a:lnL>
                    <a:lnR w="7620">
                      <a:solidFill>
                        <a:srgbClr val="CCDADC"/>
                      </a:solidFill>
                      <a:prstDash val="solid"/>
                    </a:lnR>
                    <a:lnB w="7620">
                      <a:solidFill>
                        <a:srgbClr val="CCDADC"/>
                      </a:solidFill>
                      <a:prstDash val="solid"/>
                    </a:lnB>
                    <a:solidFill>
                      <a:srgbClr val="FFFFFF"/>
                    </a:solidFill>
                  </a:tcPr>
                </a:tc>
                <a:tc>
                  <a:txBody>
                    <a:bodyPr wrap="square" lIns="152400" tIns="95250" rIns="152400" bIns="95250">
                      <a:noAutofit/>
                    </a:bodyPr>
                    <a:lstStyle/>
                    <a:p>
                      <a:r>
                        <a:rPr sz="1950" b="0">
                          <a:solidFill>
                            <a:srgbClr val="193646"/>
                          </a:solidFill>
                          <a:latin typeface="DejaVu Sans"/>
                          <a:ea typeface="DejaVu Sans"/>
                          <a:cs typeface="DejaVu Sans"/>
                        </a:rPr>
                        <a:t>Show the answer and the exact</a:t>
                      </a:r>
                    </a:p>
                    <a:p>
                      <a:r>
                        <a:rPr sz="1950" b="0">
                          <a:solidFill>
                            <a:srgbClr val="193646"/>
                          </a:solidFill>
                          <a:latin typeface="DejaVu Sans"/>
                          <a:ea typeface="DejaVu Sans"/>
                          <a:cs typeface="DejaVu Sans"/>
                        </a:rPr>
                        <a:t>passages supplied to the generator.</a:t>
                      </a:r>
                    </a:p>
                  </a:txBody>
                  <a:tcPr marL="91440" marR="91440" marT="45720" marB="45720" anchor="ctr">
                    <a:lnR w="7620">
                      <a:solidFill>
                        <a:srgbClr val="CCDADC"/>
                      </a:solidFill>
                      <a:prstDash val="solid"/>
                    </a:lnR>
                    <a:lnB w="7620">
                      <a:solidFill>
                        <a:srgbClr val="CCDADC"/>
                      </a:solidFill>
                      <a:prstDash val="solid"/>
                    </a:lnB>
                    <a:solidFill>
                      <a:srgbClr val="FFFFFF"/>
                    </a:solidFill>
                  </a:tcPr>
                </a:tc>
                <a:tc>
                  <a:txBody>
                    <a:bodyPr wrap="square" lIns="152400" tIns="95250" rIns="152400" bIns="95250">
                      <a:noAutofit/>
                    </a:bodyPr>
                    <a:lstStyle/>
                    <a:p>
                      <a:r>
                        <a:rPr sz="1950" b="0">
                          <a:solidFill>
                            <a:srgbClr val="193646"/>
                          </a:solidFill>
                          <a:latin typeface="DejaVu Sans"/>
                          <a:ea typeface="DejaVu Sans"/>
                          <a:cs typeface="DejaVu Sans"/>
                        </a:rPr>
                        <a:t>A response the student can check</a:t>
                      </a:r>
                    </a:p>
                    <a:p>
                      <a:r>
                        <a:rPr sz="1950" b="0">
                          <a:solidFill>
                            <a:srgbClr val="193646"/>
                          </a:solidFill>
                          <a:latin typeface="DejaVu Sans"/>
                          <a:ea typeface="DejaVu Sans"/>
                          <a:cs typeface="DejaVu Sans"/>
                        </a:rPr>
                        <a:t>against the saved source text.</a:t>
                      </a:r>
                    </a:p>
                  </a:txBody>
                  <a:tcPr marL="91440" marR="91440" marT="45720" marB="45720" anchor="ctr">
                    <a:lnR w="7620">
                      <a:solidFill>
                        <a:srgbClr val="CCDADC"/>
                      </a:solidFill>
                      <a:prstDash val="solid"/>
                    </a:lnR>
                    <a:lnB w="7620">
                      <a:solidFill>
                        <a:srgbClr val="CCDADC"/>
                      </a:solidFill>
                      <a:prstDash val="solid"/>
                    </a:lnB>
                    <a:solidFill>
                      <a:srgbClr val="FFFFFF"/>
                    </a:solidFill>
                  </a:tcPr>
                </a:tc>
              </a:tr>
            </a:tbl>
          </a:graphicData>
        </a:graphic>
      </p:graphicFrame>
      <p:sp>
        <p:nvSpPr>
          <p:cNvPr id="4" name="context-note">
            <a:extLst xmlns:a="http://schemas.openxmlformats.org/drawingml/2006/main">
              <a:ext uri="{FF2B5EF4-FFF2-40B4-BE49-F238E27FC236}">
                <a16:creationId xmlns:a16="http://schemas.microsoft.com/office/drawing/2014/main" id="{281BA8EB-BBC0-46D3-B387-596045089612}"/>
              </a:ext>
            </a:extLst>
          </p:cNvPr>
          <p:cNvSpPr>
            <a:spLocks xmlns:a="http://schemas.openxmlformats.org/drawingml/2006/main" noGrp="1"/>
          </p:cNvSpPr>
          <p:nvPr/>
        </p:nvSpPr>
        <p:spPr>
          <a:xfrm xmlns:a="http://schemas.openxmlformats.org/drawingml/2006/main">
            <a:off x="762000" y="7458075"/>
            <a:ext cx="13049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0">
                <a:solidFill>
                  <a:srgbClr val="526975"/>
                </a:solidFill>
                <a:latin typeface="DejaVu Sans"/>
                <a:ea typeface="DejaVu Sans"/>
                <a:cs typeface="DejaVu Sans"/>
              </a:defRPr>
            </a:defPPr>
            <a:lvl1pPr>
              <a:buNone/>
              <a:defRPr sz="1575" b="0">
                <a:solidFill>
                  <a:srgbClr val="526975"/>
                </a:solidFill>
                <a:latin typeface="DejaVu Sans"/>
                <a:ea typeface="DejaVu Sans"/>
                <a:cs typeface="DejaVu Sans"/>
              </a:defRPr>
            </a:lvl1pPr>
            <a:lvl2pPr>
              <a:buNone/>
              <a:defRPr sz="1575" b="0">
                <a:solidFill>
                  <a:srgbClr val="526975"/>
                </a:solidFill>
                <a:latin typeface="DejaVu Sans"/>
                <a:ea typeface="DejaVu Sans"/>
                <a:cs typeface="DejaVu Sans"/>
              </a:defRPr>
            </a:lvl2pPr>
            <a:lvl3pPr>
              <a:buNone/>
              <a:defRPr sz="1575" b="0">
                <a:solidFill>
                  <a:srgbClr val="526975"/>
                </a:solidFill>
                <a:latin typeface="DejaVu Sans"/>
                <a:ea typeface="DejaVu Sans"/>
                <a:cs typeface="DejaVu Sans"/>
              </a:defRPr>
            </a:lvl3pPr>
            <a:lvl4pPr>
              <a:buNone/>
              <a:defRPr sz="1575" b="0">
                <a:solidFill>
                  <a:srgbClr val="526975"/>
                </a:solidFill>
                <a:latin typeface="DejaVu Sans"/>
                <a:ea typeface="DejaVu Sans"/>
                <a:cs typeface="DejaVu Sans"/>
              </a:defRPr>
            </a:lvl4pPr>
            <a:lvl5pPr>
              <a:buNone/>
              <a:defRPr sz="1575" b="0">
                <a:solidFill>
                  <a:srgbClr val="526975"/>
                </a:solidFill>
                <a:latin typeface="DejaVu Sans"/>
                <a:ea typeface="DejaVu Sans"/>
                <a:cs typeface="DejaVu Sans"/>
              </a:defRPr>
            </a:lvl5pPr>
            <a:lvl6pPr>
              <a:buNone/>
              <a:defRPr sz="1575" b="0">
                <a:solidFill>
                  <a:srgbClr val="526975"/>
                </a:solidFill>
                <a:latin typeface="DejaVu Sans"/>
                <a:ea typeface="DejaVu Sans"/>
                <a:cs typeface="DejaVu Sans"/>
              </a:defRPr>
            </a:lvl6pPr>
            <a:lvl7pPr>
              <a:buNone/>
              <a:defRPr sz="1575" b="0">
                <a:solidFill>
                  <a:srgbClr val="526975"/>
                </a:solidFill>
                <a:latin typeface="DejaVu Sans"/>
                <a:ea typeface="DejaVu Sans"/>
                <a:cs typeface="DejaVu Sans"/>
              </a:defRPr>
            </a:lvl7pPr>
            <a:lvl8pPr>
              <a:buNone/>
              <a:defRPr sz="1575" b="0">
                <a:solidFill>
                  <a:srgbClr val="526975"/>
                </a:solidFill>
                <a:latin typeface="DejaVu Sans"/>
                <a:ea typeface="DejaVu Sans"/>
                <a:cs typeface="DejaVu Sans"/>
              </a:defRPr>
            </a:lvl8pPr>
            <a:lvl9pPr>
              <a:buNone/>
              <a:defRPr sz="1575" b="0">
                <a:solidFill>
                  <a:srgbClr val="526975"/>
                </a:solidFill>
                <a:latin typeface="DejaVu Sans"/>
                <a:ea typeface="DejaVu Sans"/>
                <a:cs typeface="DejaVu Sans"/>
              </a:defRPr>
            </a:lvl9pPr>
          </a:lstStyle>
          <a:p xmlns:a="http://schemas.openxmlformats.org/drawingml/2006/main">
            <a:pPr>
              <a:buNone/>
              <a:defRPr sz="1575" b="0">
                <a:solidFill>
                  <a:srgbClr val="526975"/>
                </a:solidFill>
                <a:latin typeface="DejaVu Sans"/>
                <a:ea typeface="DejaVu Sans"/>
                <a:cs typeface="DejaVu Sans"/>
              </a:defRPr>
            </a:pPr>
            <a:r>
              <a:rPr sz="1575" b="0">
                <a:solidFill>
                  <a:srgbClr val="526975"/>
                </a:solidFill>
                <a:latin typeface="DejaVu Sans"/>
                <a:ea typeface="DejaVu Sans"/>
                <a:cs typeface="DejaVu Sans"/>
              </a:rPr>
              <a:t>After setup, the demo loads local files and runs with the network disconnected.</a:t>
            </a:r>
          </a:p>
        </p:txBody>
      </p:sp>
    </p:spTree>
    <p:extLst>
      <p:ext uri="{BB962C8B-B14F-4D97-AF65-F5344CB8AC3E}">
        <p14:creationId xmlns:p14="http://schemas.microsoft.com/office/powerpoint/2010/main" val="141376059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61F93C15-D9AE-4B4B-B4FD-9415CD31E369}"/>
              </a:ext>
            </a:extLst>
          </p:cNvPr>
          <p:cNvSpPr>
            <a:spLocks xmlns:a="http://schemas.openxmlformats.org/drawingml/2006/main" noGrp="1"/>
          </p:cNvSpPr>
          <p:nvPr/>
        </p:nvSpPr>
        <p:spPr>
          <a:xfrm xmlns:a="http://schemas.openxmlformats.org/drawingml/2006/main">
            <a:off x="762000" y="571500"/>
            <a:ext cx="13620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450" b="1">
                <a:solidFill>
                  <a:srgbClr val="102B3A"/>
                </a:solidFill>
                <a:latin typeface="DejaVu Sans"/>
                <a:ea typeface="DejaVu Sans"/>
                <a:cs typeface="DejaVu Sans"/>
              </a:defRPr>
            </a:defPPr>
            <a:lvl1pPr>
              <a:buNone/>
              <a:defRPr sz="3450" b="1">
                <a:solidFill>
                  <a:srgbClr val="102B3A"/>
                </a:solidFill>
                <a:latin typeface="DejaVu Sans"/>
                <a:ea typeface="DejaVu Sans"/>
                <a:cs typeface="DejaVu Sans"/>
              </a:defRPr>
            </a:lvl1pPr>
            <a:lvl2pPr>
              <a:buNone/>
              <a:defRPr sz="3450" b="1">
                <a:solidFill>
                  <a:srgbClr val="102B3A"/>
                </a:solidFill>
                <a:latin typeface="DejaVu Sans"/>
                <a:ea typeface="DejaVu Sans"/>
                <a:cs typeface="DejaVu Sans"/>
              </a:defRPr>
            </a:lvl2pPr>
            <a:lvl3pPr>
              <a:buNone/>
              <a:defRPr sz="3450" b="1">
                <a:solidFill>
                  <a:srgbClr val="102B3A"/>
                </a:solidFill>
                <a:latin typeface="DejaVu Sans"/>
                <a:ea typeface="DejaVu Sans"/>
                <a:cs typeface="DejaVu Sans"/>
              </a:defRPr>
            </a:lvl3pPr>
            <a:lvl4pPr>
              <a:buNone/>
              <a:defRPr sz="3450" b="1">
                <a:solidFill>
                  <a:srgbClr val="102B3A"/>
                </a:solidFill>
                <a:latin typeface="DejaVu Sans"/>
                <a:ea typeface="DejaVu Sans"/>
                <a:cs typeface="DejaVu Sans"/>
              </a:defRPr>
            </a:lvl4pPr>
            <a:lvl5pPr>
              <a:buNone/>
              <a:defRPr sz="3450" b="1">
                <a:solidFill>
                  <a:srgbClr val="102B3A"/>
                </a:solidFill>
                <a:latin typeface="DejaVu Sans"/>
                <a:ea typeface="DejaVu Sans"/>
                <a:cs typeface="DejaVu Sans"/>
              </a:defRPr>
            </a:lvl5pPr>
            <a:lvl6pPr>
              <a:buNone/>
              <a:defRPr sz="3450" b="1">
                <a:solidFill>
                  <a:srgbClr val="102B3A"/>
                </a:solidFill>
                <a:latin typeface="DejaVu Sans"/>
                <a:ea typeface="DejaVu Sans"/>
                <a:cs typeface="DejaVu Sans"/>
              </a:defRPr>
            </a:lvl6pPr>
            <a:lvl7pPr>
              <a:buNone/>
              <a:defRPr sz="3450" b="1">
                <a:solidFill>
                  <a:srgbClr val="102B3A"/>
                </a:solidFill>
                <a:latin typeface="DejaVu Sans"/>
                <a:ea typeface="DejaVu Sans"/>
                <a:cs typeface="DejaVu Sans"/>
              </a:defRPr>
            </a:lvl7pPr>
            <a:lvl8pPr>
              <a:buNone/>
              <a:defRPr sz="3450" b="1">
                <a:solidFill>
                  <a:srgbClr val="102B3A"/>
                </a:solidFill>
                <a:latin typeface="DejaVu Sans"/>
                <a:ea typeface="DejaVu Sans"/>
                <a:cs typeface="DejaVu Sans"/>
              </a:defRPr>
            </a:lvl8pPr>
            <a:lvl9pPr>
              <a:buNone/>
              <a:defRPr sz="3450" b="1">
                <a:solidFill>
                  <a:srgbClr val="102B3A"/>
                </a:solidFill>
                <a:latin typeface="DejaVu Sans"/>
                <a:ea typeface="DejaVu Sans"/>
                <a:cs typeface="DejaVu Sans"/>
              </a:defRPr>
            </a:lvl9pPr>
          </a:lstStyle>
          <a:p xmlns:a="http://schemas.openxmlformats.org/drawingml/2006/main">
            <a:pPr>
              <a:buNone/>
              <a:defRPr sz="3450" b="1">
                <a:solidFill>
                  <a:srgbClr val="102B3A"/>
                </a:solidFill>
                <a:latin typeface="DejaVu Sans"/>
                <a:ea typeface="DejaVu Sans"/>
                <a:cs typeface="DejaVu Sans"/>
              </a:defRPr>
            </a:pPr>
            <a:r>
              <a:rPr sz="3450" b="1">
                <a:solidFill>
                  <a:srgbClr val="102B3A"/>
                </a:solidFill>
                <a:latin typeface="DejaVu Sans"/>
                <a:ea typeface="DejaVu Sans"/>
                <a:cs typeface="DejaVu Sans"/>
              </a:rPr>
              <a:t>Two simple evidence-fusion methods</a:t>
            </a:r>
          </a:p>
        </p:txBody>
      </p:sp>
      <p:sp>
        <p:nvSpPr>
          <p:cNvPr id="2" name="slide-number">
            <a:extLst xmlns:a="http://schemas.openxmlformats.org/drawingml/2006/main">
              <a:ext uri="{FF2B5EF4-FFF2-40B4-BE49-F238E27FC236}">
                <a16:creationId xmlns:a16="http://schemas.microsoft.com/office/drawing/2014/main" id="{550A5A65-3520-4B39-8A06-CA1BA6AB6E73}"/>
              </a:ext>
            </a:extLst>
          </p:cNvPr>
          <p:cNvSpPr>
            <a:spLocks xmlns:a="http://schemas.openxmlformats.org/drawingml/2006/main" noGrp="1"/>
          </p:cNvSpPr>
          <p:nvPr/>
        </p:nvSpPr>
        <p:spPr>
          <a:xfrm xmlns:a="http://schemas.openxmlformats.org/drawingml/2006/main">
            <a:off x="13906500" y="795337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0">
                <a:solidFill>
                  <a:srgbClr val="526975"/>
                </a:solidFill>
                <a:latin typeface="DejaVu Sans"/>
                <a:ea typeface="DejaVu Sans"/>
                <a:cs typeface="DejaVu Sans"/>
              </a:defRPr>
            </a:defPPr>
            <a:lvl1pPr>
              <a:buNone/>
              <a:defRPr sz="1575" b="0">
                <a:solidFill>
                  <a:srgbClr val="526975"/>
                </a:solidFill>
                <a:latin typeface="DejaVu Sans"/>
                <a:ea typeface="DejaVu Sans"/>
                <a:cs typeface="DejaVu Sans"/>
              </a:defRPr>
            </a:lvl1pPr>
            <a:lvl2pPr>
              <a:buNone/>
              <a:defRPr sz="1575" b="0">
                <a:solidFill>
                  <a:srgbClr val="526975"/>
                </a:solidFill>
                <a:latin typeface="DejaVu Sans"/>
                <a:ea typeface="DejaVu Sans"/>
                <a:cs typeface="DejaVu Sans"/>
              </a:defRPr>
            </a:lvl2pPr>
            <a:lvl3pPr>
              <a:buNone/>
              <a:defRPr sz="1575" b="0">
                <a:solidFill>
                  <a:srgbClr val="526975"/>
                </a:solidFill>
                <a:latin typeface="DejaVu Sans"/>
                <a:ea typeface="DejaVu Sans"/>
                <a:cs typeface="DejaVu Sans"/>
              </a:defRPr>
            </a:lvl3pPr>
            <a:lvl4pPr>
              <a:buNone/>
              <a:defRPr sz="1575" b="0">
                <a:solidFill>
                  <a:srgbClr val="526975"/>
                </a:solidFill>
                <a:latin typeface="DejaVu Sans"/>
                <a:ea typeface="DejaVu Sans"/>
                <a:cs typeface="DejaVu Sans"/>
              </a:defRPr>
            </a:lvl4pPr>
            <a:lvl5pPr>
              <a:buNone/>
              <a:defRPr sz="1575" b="0">
                <a:solidFill>
                  <a:srgbClr val="526975"/>
                </a:solidFill>
                <a:latin typeface="DejaVu Sans"/>
                <a:ea typeface="DejaVu Sans"/>
                <a:cs typeface="DejaVu Sans"/>
              </a:defRPr>
            </a:lvl5pPr>
            <a:lvl6pPr>
              <a:buNone/>
              <a:defRPr sz="1575" b="0">
                <a:solidFill>
                  <a:srgbClr val="526975"/>
                </a:solidFill>
                <a:latin typeface="DejaVu Sans"/>
                <a:ea typeface="DejaVu Sans"/>
                <a:cs typeface="DejaVu Sans"/>
              </a:defRPr>
            </a:lvl6pPr>
            <a:lvl7pPr>
              <a:buNone/>
              <a:defRPr sz="1575" b="0">
                <a:solidFill>
                  <a:srgbClr val="526975"/>
                </a:solidFill>
                <a:latin typeface="DejaVu Sans"/>
                <a:ea typeface="DejaVu Sans"/>
                <a:cs typeface="DejaVu Sans"/>
              </a:defRPr>
            </a:lvl7pPr>
            <a:lvl8pPr>
              <a:buNone/>
              <a:defRPr sz="1575" b="0">
                <a:solidFill>
                  <a:srgbClr val="526975"/>
                </a:solidFill>
                <a:latin typeface="DejaVu Sans"/>
                <a:ea typeface="DejaVu Sans"/>
                <a:cs typeface="DejaVu Sans"/>
              </a:defRPr>
            </a:lvl8pPr>
            <a:lvl9pPr>
              <a:buNone/>
              <a:defRPr sz="1575" b="0">
                <a:solidFill>
                  <a:srgbClr val="526975"/>
                </a:solidFill>
                <a:latin typeface="DejaVu Sans"/>
                <a:ea typeface="DejaVu Sans"/>
                <a:cs typeface="DejaVu Sans"/>
              </a:defRPr>
            </a:lvl9pPr>
          </a:lstStyle>
          <a:p xmlns:a="http://schemas.openxmlformats.org/drawingml/2006/main">
            <a:pPr>
              <a:buNone/>
              <a:defRPr sz="1575" b="0">
                <a:solidFill>
                  <a:srgbClr val="526975"/>
                </a:solidFill>
                <a:latin typeface="DejaVu Sans"/>
                <a:ea typeface="DejaVu Sans"/>
                <a:cs typeface="DejaVu Sans"/>
              </a:defRPr>
            </a:pPr>
            <a:r>
              <a:rPr sz="1575" b="0">
                <a:solidFill>
                  <a:srgbClr val="526975"/>
                </a:solidFill>
                <a:latin typeface="DejaVu Sans"/>
                <a:ea typeface="DejaVu Sans"/>
                <a:cs typeface="DejaVu Sans"/>
              </a:rPr>
              <a:t>07</a:t>
            </a:r>
          </a:p>
        </p:txBody>
      </p:sp>
      <p:sp>
        <p:nvSpPr>
          <p:cNvPr id="3" name="concat-label">
            <a:extLst xmlns:a="http://schemas.openxmlformats.org/drawingml/2006/main">
              <a:ext uri="{FF2B5EF4-FFF2-40B4-BE49-F238E27FC236}">
                <a16:creationId xmlns:a16="http://schemas.microsoft.com/office/drawing/2014/main" id="{F50DC40D-49BE-4AF3-9956-ED4F856AF709}"/>
              </a:ext>
            </a:extLst>
          </p:cNvPr>
          <p:cNvSpPr>
            <a:spLocks xmlns:a="http://schemas.openxmlformats.org/drawingml/2006/main" noGrp="1"/>
          </p:cNvSpPr>
          <p:nvPr/>
        </p:nvSpPr>
        <p:spPr>
          <a:xfrm xmlns:a="http://schemas.openxmlformats.org/drawingml/2006/main">
            <a:off x="762000" y="1752600"/>
            <a:ext cx="6381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1">
                <a:solidFill>
                  <a:srgbClr val="007D78"/>
                </a:solidFill>
                <a:latin typeface="DejaVu Sans"/>
                <a:ea typeface="DejaVu Sans"/>
                <a:cs typeface="DejaVu Sans"/>
              </a:defRPr>
            </a:defPPr>
            <a:lvl1pPr>
              <a:buNone/>
              <a:defRPr sz="2250" b="1">
                <a:solidFill>
                  <a:srgbClr val="007D78"/>
                </a:solidFill>
                <a:latin typeface="DejaVu Sans"/>
                <a:ea typeface="DejaVu Sans"/>
                <a:cs typeface="DejaVu Sans"/>
              </a:defRPr>
            </a:lvl1pPr>
            <a:lvl2pPr>
              <a:buNone/>
              <a:defRPr sz="2250" b="1">
                <a:solidFill>
                  <a:srgbClr val="007D78"/>
                </a:solidFill>
                <a:latin typeface="DejaVu Sans"/>
                <a:ea typeface="DejaVu Sans"/>
                <a:cs typeface="DejaVu Sans"/>
              </a:defRPr>
            </a:lvl2pPr>
            <a:lvl3pPr>
              <a:buNone/>
              <a:defRPr sz="2250" b="1">
                <a:solidFill>
                  <a:srgbClr val="007D78"/>
                </a:solidFill>
                <a:latin typeface="DejaVu Sans"/>
                <a:ea typeface="DejaVu Sans"/>
                <a:cs typeface="DejaVu Sans"/>
              </a:defRPr>
            </a:lvl3pPr>
            <a:lvl4pPr>
              <a:buNone/>
              <a:defRPr sz="2250" b="1">
                <a:solidFill>
                  <a:srgbClr val="007D78"/>
                </a:solidFill>
                <a:latin typeface="DejaVu Sans"/>
                <a:ea typeface="DejaVu Sans"/>
                <a:cs typeface="DejaVu Sans"/>
              </a:defRPr>
            </a:lvl4pPr>
            <a:lvl5pPr>
              <a:buNone/>
              <a:defRPr sz="2250" b="1">
                <a:solidFill>
                  <a:srgbClr val="007D78"/>
                </a:solidFill>
                <a:latin typeface="DejaVu Sans"/>
                <a:ea typeface="DejaVu Sans"/>
                <a:cs typeface="DejaVu Sans"/>
              </a:defRPr>
            </a:lvl5pPr>
            <a:lvl6pPr>
              <a:buNone/>
              <a:defRPr sz="2250" b="1">
                <a:solidFill>
                  <a:srgbClr val="007D78"/>
                </a:solidFill>
                <a:latin typeface="DejaVu Sans"/>
                <a:ea typeface="DejaVu Sans"/>
                <a:cs typeface="DejaVu Sans"/>
              </a:defRPr>
            </a:lvl6pPr>
            <a:lvl7pPr>
              <a:buNone/>
              <a:defRPr sz="2250" b="1">
                <a:solidFill>
                  <a:srgbClr val="007D78"/>
                </a:solidFill>
                <a:latin typeface="DejaVu Sans"/>
                <a:ea typeface="DejaVu Sans"/>
                <a:cs typeface="DejaVu Sans"/>
              </a:defRPr>
            </a:lvl7pPr>
            <a:lvl8pPr>
              <a:buNone/>
              <a:defRPr sz="2250" b="1">
                <a:solidFill>
                  <a:srgbClr val="007D78"/>
                </a:solidFill>
                <a:latin typeface="DejaVu Sans"/>
                <a:ea typeface="DejaVu Sans"/>
                <a:cs typeface="DejaVu Sans"/>
              </a:defRPr>
            </a:lvl8pPr>
            <a:lvl9pPr>
              <a:buNone/>
              <a:defRPr sz="2250" b="1">
                <a:solidFill>
                  <a:srgbClr val="007D78"/>
                </a:solidFill>
                <a:latin typeface="DejaVu Sans"/>
                <a:ea typeface="DejaVu Sans"/>
                <a:cs typeface="DejaVu Sans"/>
              </a:defRPr>
            </a:lvl9pPr>
          </a:lstStyle>
          <a:p xmlns:a="http://schemas.openxmlformats.org/drawingml/2006/main">
            <a:pPr>
              <a:buNone/>
              <a:defRPr sz="2250" b="1">
                <a:solidFill>
                  <a:srgbClr val="007D78"/>
                </a:solidFill>
                <a:latin typeface="DejaVu Sans"/>
                <a:ea typeface="DejaVu Sans"/>
                <a:cs typeface="DejaVu Sans"/>
              </a:defRPr>
            </a:pPr>
            <a:r>
              <a:rPr sz="2250" b="1">
                <a:solidFill>
                  <a:srgbClr val="007D78"/>
                </a:solidFill>
                <a:latin typeface="DejaVu Sans"/>
                <a:ea typeface="DejaVu Sans"/>
                <a:cs typeface="DejaVu Sans"/>
              </a:rPr>
              <a:t>A  Concatenate passages</a:t>
            </a:r>
          </a:p>
        </p:txBody>
      </p:sp>
      <p:sp>
        <p:nvSpPr>
          <p:cNvPr id="4" name="concat-flow">
            <a:extLst xmlns:a="http://schemas.openxmlformats.org/drawingml/2006/main">
              <a:ext uri="{FF2B5EF4-FFF2-40B4-BE49-F238E27FC236}">
                <a16:creationId xmlns:a16="http://schemas.microsoft.com/office/drawing/2014/main" id="{021C4E19-5A4D-42F7-A4B6-189E32848A2A}"/>
              </a:ext>
            </a:extLst>
          </p:cNvPr>
          <p:cNvSpPr>
            <a:spLocks xmlns:a="http://schemas.openxmlformats.org/drawingml/2006/main" noGrp="1"/>
          </p:cNvSpPr>
          <p:nvPr/>
        </p:nvSpPr>
        <p:spPr>
          <a:xfrm xmlns:a="http://schemas.openxmlformats.org/drawingml/2006/main">
            <a:off x="762000" y="2409825"/>
            <a:ext cx="6477000" cy="2705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0">
                <a:solidFill>
                  <a:srgbClr val="193646"/>
                </a:solidFill>
                <a:latin typeface="DejaVu Sans"/>
                <a:ea typeface="DejaVu Sans"/>
                <a:cs typeface="DejaVu Sans"/>
              </a:defRPr>
            </a:defPPr>
            <a:lvl1pPr>
              <a:buNone/>
              <a:defRPr sz="2250" b="0">
                <a:solidFill>
                  <a:srgbClr val="193646"/>
                </a:solidFill>
                <a:latin typeface="DejaVu Sans"/>
                <a:ea typeface="DejaVu Sans"/>
                <a:cs typeface="DejaVu Sans"/>
              </a:defRPr>
            </a:lvl1pPr>
            <a:lvl2pPr>
              <a:buNone/>
              <a:defRPr sz="2250" b="0">
                <a:solidFill>
                  <a:srgbClr val="193646"/>
                </a:solidFill>
                <a:latin typeface="DejaVu Sans"/>
                <a:ea typeface="DejaVu Sans"/>
                <a:cs typeface="DejaVu Sans"/>
              </a:defRPr>
            </a:lvl2pPr>
            <a:lvl3pPr>
              <a:buNone/>
              <a:defRPr sz="2250" b="0">
                <a:solidFill>
                  <a:srgbClr val="193646"/>
                </a:solidFill>
                <a:latin typeface="DejaVu Sans"/>
                <a:ea typeface="DejaVu Sans"/>
                <a:cs typeface="DejaVu Sans"/>
              </a:defRPr>
            </a:lvl3pPr>
            <a:lvl4pPr>
              <a:buNone/>
              <a:defRPr sz="2250" b="0">
                <a:solidFill>
                  <a:srgbClr val="193646"/>
                </a:solidFill>
                <a:latin typeface="DejaVu Sans"/>
                <a:ea typeface="DejaVu Sans"/>
                <a:cs typeface="DejaVu Sans"/>
              </a:defRPr>
            </a:lvl4pPr>
            <a:lvl5pPr>
              <a:buNone/>
              <a:defRPr sz="2250" b="0">
                <a:solidFill>
                  <a:srgbClr val="193646"/>
                </a:solidFill>
                <a:latin typeface="DejaVu Sans"/>
                <a:ea typeface="DejaVu Sans"/>
                <a:cs typeface="DejaVu Sans"/>
              </a:defRPr>
            </a:lvl5pPr>
            <a:lvl6pPr>
              <a:buNone/>
              <a:defRPr sz="2250" b="0">
                <a:solidFill>
                  <a:srgbClr val="193646"/>
                </a:solidFill>
                <a:latin typeface="DejaVu Sans"/>
                <a:ea typeface="DejaVu Sans"/>
                <a:cs typeface="DejaVu Sans"/>
              </a:defRPr>
            </a:lvl6pPr>
            <a:lvl7pPr>
              <a:buNone/>
              <a:defRPr sz="2250" b="0">
                <a:solidFill>
                  <a:srgbClr val="193646"/>
                </a:solidFill>
                <a:latin typeface="DejaVu Sans"/>
                <a:ea typeface="DejaVu Sans"/>
                <a:cs typeface="DejaVu Sans"/>
              </a:defRPr>
            </a:lvl7pPr>
            <a:lvl8pPr>
              <a:buNone/>
              <a:defRPr sz="2250" b="0">
                <a:solidFill>
                  <a:srgbClr val="193646"/>
                </a:solidFill>
                <a:latin typeface="DejaVu Sans"/>
                <a:ea typeface="DejaVu Sans"/>
                <a:cs typeface="DejaVu Sans"/>
              </a:defRPr>
            </a:lvl8pPr>
            <a:lvl9pPr>
              <a:buNone/>
              <a:defRPr sz="2250" b="0">
                <a:solidFill>
                  <a:srgbClr val="193646"/>
                </a:solidFill>
                <a:latin typeface="DejaVu Sans"/>
                <a:ea typeface="DejaVu Sans"/>
                <a:cs typeface="DejaVu Sans"/>
              </a:defRPr>
            </a:lvl9pPr>
          </a:lstStyle>
          <a:p xmlns:a="http://schemas.openxmlformats.org/drawingml/2006/main">
            <a:pPr>
              <a:buNone/>
              <a:defRPr sz="2250" b="0">
                <a:solidFill>
                  <a:srgbClr val="193646"/>
                </a:solidFill>
                <a:latin typeface="DejaVu Sans"/>
                <a:ea typeface="DejaVu Sans"/>
                <a:cs typeface="DejaVu Sans"/>
              </a:defRPr>
            </a:pPr>
            <a:r>
              <a:rPr sz="2250" b="0">
                <a:solidFill>
                  <a:srgbClr val="193646"/>
                </a:solidFill>
                <a:latin typeface="DejaVu Sans"/>
                <a:ea typeface="DejaVu Sans"/>
                <a:cs typeface="DejaVu Sans"/>
              </a:rPr>
              <a:t>1  Retrieve the top-k passages.</a:t>
            </a:r>
          </a:p>
          <a:p xmlns:a="http://schemas.openxmlformats.org/drawingml/2006/main">
            <a:r>
              <a:t/>
            </a:r>
          </a:p>
          <a:p xmlns:a="http://schemas.openxmlformats.org/drawingml/2006/main">
            <a:pPr>
              <a:buNone/>
              <a:defRPr sz="2250" b="0">
                <a:solidFill>
                  <a:srgbClr val="193646"/>
                </a:solidFill>
                <a:latin typeface="DejaVu Sans"/>
                <a:ea typeface="DejaVu Sans"/>
                <a:cs typeface="DejaVu Sans"/>
              </a:defRPr>
            </a:pPr>
            <a:r>
              <a:rPr sz="2250" b="0">
                <a:solidFill>
                  <a:srgbClr val="193646"/>
                </a:solidFill>
                <a:latin typeface="DejaVu Sans"/>
                <a:ea typeface="DejaVu Sans"/>
                <a:cs typeface="DejaVu Sans"/>
              </a:rPr>
              <a:t>2  Join the passages in rank order</a:t>
            </a:r>
          </a:p>
          <a:p xmlns:a="http://schemas.openxmlformats.org/drawingml/2006/main">
            <a:pPr>
              <a:buNone/>
              <a:defRPr sz="2250" b="0">
                <a:solidFill>
                  <a:srgbClr val="193646"/>
                </a:solidFill>
                <a:latin typeface="DejaVu Sans"/>
                <a:ea typeface="DejaVu Sans"/>
                <a:cs typeface="DejaVu Sans"/>
              </a:defRPr>
            </a:pPr>
            <a:r>
              <a:rPr sz="2250" b="0">
                <a:solidFill>
                  <a:srgbClr val="193646"/>
                </a:solidFill>
                <a:latin typeface="DejaVu Sans"/>
                <a:ea typeface="DejaVu Sans"/>
                <a:cs typeface="DejaVu Sans"/>
              </a:rPr>
              <a:t>    with source labels.</a:t>
            </a:r>
          </a:p>
          <a:p xmlns:a="http://schemas.openxmlformats.org/drawingml/2006/main">
            <a:r>
              <a:t/>
            </a:r>
          </a:p>
          <a:p xmlns:a="http://schemas.openxmlformats.org/drawingml/2006/main">
            <a:pPr>
              <a:buNone/>
              <a:defRPr sz="2250" b="0">
                <a:solidFill>
                  <a:srgbClr val="193646"/>
                </a:solidFill>
                <a:latin typeface="DejaVu Sans"/>
                <a:ea typeface="DejaVu Sans"/>
                <a:cs typeface="DejaVu Sans"/>
              </a:defRPr>
            </a:pPr>
            <a:r>
              <a:rPr sz="2250" b="0">
                <a:solidFill>
                  <a:srgbClr val="193646"/>
                </a:solidFill>
                <a:latin typeface="DejaVu Sans"/>
                <a:ea typeface="DejaVu Sans"/>
                <a:cs typeface="DejaVu Sans"/>
              </a:rPr>
              <a:t>3  Generate one answer with Flan-T5.</a:t>
            </a:r>
          </a:p>
        </p:txBody>
      </p:sp>
      <p:sp>
        <p:nvSpPr>
          <p:cNvPr id="5" name="concat-effect">
            <a:extLst xmlns:a="http://schemas.openxmlformats.org/drawingml/2006/main">
              <a:ext uri="{FF2B5EF4-FFF2-40B4-BE49-F238E27FC236}">
                <a16:creationId xmlns:a16="http://schemas.microsoft.com/office/drawing/2014/main" id="{F917F5E6-1228-42F0-805A-75313F065DC6}"/>
              </a:ext>
            </a:extLst>
          </p:cNvPr>
          <p:cNvSpPr>
            <a:spLocks xmlns:a="http://schemas.openxmlformats.org/drawingml/2006/main" noGrp="1"/>
          </p:cNvSpPr>
          <p:nvPr/>
        </p:nvSpPr>
        <p:spPr>
          <a:xfrm xmlns:a="http://schemas.openxmlformats.org/drawingml/2006/main">
            <a:off x="762000" y="5591175"/>
            <a:ext cx="6429375"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325" b="1">
                <a:solidFill>
                  <a:srgbClr val="102B3A"/>
                </a:solidFill>
                <a:latin typeface="DejaVu Sans"/>
                <a:ea typeface="DejaVu Sans"/>
                <a:cs typeface="DejaVu Sans"/>
              </a:defRPr>
            </a:defPPr>
            <a:lvl1pPr>
              <a:buNone/>
              <a:defRPr sz="2325" b="1">
                <a:solidFill>
                  <a:srgbClr val="102B3A"/>
                </a:solidFill>
                <a:latin typeface="DejaVu Sans"/>
                <a:ea typeface="DejaVu Sans"/>
                <a:cs typeface="DejaVu Sans"/>
              </a:defRPr>
            </a:lvl1pPr>
            <a:lvl2pPr>
              <a:buNone/>
              <a:defRPr sz="2325" b="1">
                <a:solidFill>
                  <a:srgbClr val="102B3A"/>
                </a:solidFill>
                <a:latin typeface="DejaVu Sans"/>
                <a:ea typeface="DejaVu Sans"/>
                <a:cs typeface="DejaVu Sans"/>
              </a:defRPr>
            </a:lvl2pPr>
            <a:lvl3pPr>
              <a:buNone/>
              <a:defRPr sz="2325" b="1">
                <a:solidFill>
                  <a:srgbClr val="102B3A"/>
                </a:solidFill>
                <a:latin typeface="DejaVu Sans"/>
                <a:ea typeface="DejaVu Sans"/>
                <a:cs typeface="DejaVu Sans"/>
              </a:defRPr>
            </a:lvl3pPr>
            <a:lvl4pPr>
              <a:buNone/>
              <a:defRPr sz="2325" b="1">
                <a:solidFill>
                  <a:srgbClr val="102B3A"/>
                </a:solidFill>
                <a:latin typeface="DejaVu Sans"/>
                <a:ea typeface="DejaVu Sans"/>
                <a:cs typeface="DejaVu Sans"/>
              </a:defRPr>
            </a:lvl4pPr>
            <a:lvl5pPr>
              <a:buNone/>
              <a:defRPr sz="2325" b="1">
                <a:solidFill>
                  <a:srgbClr val="102B3A"/>
                </a:solidFill>
                <a:latin typeface="DejaVu Sans"/>
                <a:ea typeface="DejaVu Sans"/>
                <a:cs typeface="DejaVu Sans"/>
              </a:defRPr>
            </a:lvl5pPr>
            <a:lvl6pPr>
              <a:buNone/>
              <a:defRPr sz="2325" b="1">
                <a:solidFill>
                  <a:srgbClr val="102B3A"/>
                </a:solidFill>
                <a:latin typeface="DejaVu Sans"/>
                <a:ea typeface="DejaVu Sans"/>
                <a:cs typeface="DejaVu Sans"/>
              </a:defRPr>
            </a:lvl6pPr>
            <a:lvl7pPr>
              <a:buNone/>
              <a:defRPr sz="2325" b="1">
                <a:solidFill>
                  <a:srgbClr val="102B3A"/>
                </a:solidFill>
                <a:latin typeface="DejaVu Sans"/>
                <a:ea typeface="DejaVu Sans"/>
                <a:cs typeface="DejaVu Sans"/>
              </a:defRPr>
            </a:lvl7pPr>
            <a:lvl8pPr>
              <a:buNone/>
              <a:defRPr sz="2325" b="1">
                <a:solidFill>
                  <a:srgbClr val="102B3A"/>
                </a:solidFill>
                <a:latin typeface="DejaVu Sans"/>
                <a:ea typeface="DejaVu Sans"/>
                <a:cs typeface="DejaVu Sans"/>
              </a:defRPr>
            </a:lvl8pPr>
            <a:lvl9pPr>
              <a:buNone/>
              <a:defRPr sz="2325" b="1">
                <a:solidFill>
                  <a:srgbClr val="102B3A"/>
                </a:solidFill>
                <a:latin typeface="DejaVu Sans"/>
                <a:ea typeface="DejaVu Sans"/>
                <a:cs typeface="DejaVu Sans"/>
              </a:defRPr>
            </a:lvl9pPr>
          </a:lstStyle>
          <a:p xmlns:a="http://schemas.openxmlformats.org/drawingml/2006/main">
            <a:pPr>
              <a:buNone/>
              <a:defRPr sz="2325" b="1">
                <a:solidFill>
                  <a:srgbClr val="102B3A"/>
                </a:solidFill>
                <a:latin typeface="DejaVu Sans"/>
                <a:ea typeface="DejaVu Sans"/>
                <a:cs typeface="DejaVu Sans"/>
              </a:defRPr>
            </a:pPr>
            <a:r>
              <a:rPr sz="2325" b="1">
                <a:solidFill>
                  <a:srgbClr val="102B3A"/>
                </a:solidFill>
                <a:latin typeface="DejaVu Sans"/>
                <a:ea typeface="DejaVu Sans"/>
                <a:cs typeface="DejaVu Sans"/>
              </a:rPr>
              <a:t>Keeps more context, but may include irrelevant sentences.</a:t>
            </a:r>
          </a:p>
        </p:txBody>
      </p:sp>
      <p:sp>
        <p:nvSpPr>
          <p:cNvPr id="6" name="evidence-label">
            <a:extLst xmlns:a="http://schemas.openxmlformats.org/drawingml/2006/main">
              <a:ext uri="{FF2B5EF4-FFF2-40B4-BE49-F238E27FC236}">
                <a16:creationId xmlns:a16="http://schemas.microsoft.com/office/drawing/2014/main" id="{667CCDB2-51EB-45F7-9FE1-820A7B06A141}"/>
              </a:ext>
            </a:extLst>
          </p:cNvPr>
          <p:cNvSpPr>
            <a:spLocks xmlns:a="http://schemas.openxmlformats.org/drawingml/2006/main" noGrp="1"/>
          </p:cNvSpPr>
          <p:nvPr/>
        </p:nvSpPr>
        <p:spPr>
          <a:xfrm xmlns:a="http://schemas.openxmlformats.org/drawingml/2006/main">
            <a:off x="8001000" y="1752600"/>
            <a:ext cx="6381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1">
                <a:solidFill>
                  <a:srgbClr val="007D78"/>
                </a:solidFill>
                <a:latin typeface="DejaVu Sans"/>
                <a:ea typeface="DejaVu Sans"/>
                <a:cs typeface="DejaVu Sans"/>
              </a:defRPr>
            </a:defPPr>
            <a:lvl1pPr>
              <a:buNone/>
              <a:defRPr sz="2250" b="1">
                <a:solidFill>
                  <a:srgbClr val="007D78"/>
                </a:solidFill>
                <a:latin typeface="DejaVu Sans"/>
                <a:ea typeface="DejaVu Sans"/>
                <a:cs typeface="DejaVu Sans"/>
              </a:defRPr>
            </a:lvl1pPr>
            <a:lvl2pPr>
              <a:buNone/>
              <a:defRPr sz="2250" b="1">
                <a:solidFill>
                  <a:srgbClr val="007D78"/>
                </a:solidFill>
                <a:latin typeface="DejaVu Sans"/>
                <a:ea typeface="DejaVu Sans"/>
                <a:cs typeface="DejaVu Sans"/>
              </a:defRPr>
            </a:lvl2pPr>
            <a:lvl3pPr>
              <a:buNone/>
              <a:defRPr sz="2250" b="1">
                <a:solidFill>
                  <a:srgbClr val="007D78"/>
                </a:solidFill>
                <a:latin typeface="DejaVu Sans"/>
                <a:ea typeface="DejaVu Sans"/>
                <a:cs typeface="DejaVu Sans"/>
              </a:defRPr>
            </a:lvl3pPr>
            <a:lvl4pPr>
              <a:buNone/>
              <a:defRPr sz="2250" b="1">
                <a:solidFill>
                  <a:srgbClr val="007D78"/>
                </a:solidFill>
                <a:latin typeface="DejaVu Sans"/>
                <a:ea typeface="DejaVu Sans"/>
                <a:cs typeface="DejaVu Sans"/>
              </a:defRPr>
            </a:lvl4pPr>
            <a:lvl5pPr>
              <a:buNone/>
              <a:defRPr sz="2250" b="1">
                <a:solidFill>
                  <a:srgbClr val="007D78"/>
                </a:solidFill>
                <a:latin typeface="DejaVu Sans"/>
                <a:ea typeface="DejaVu Sans"/>
                <a:cs typeface="DejaVu Sans"/>
              </a:defRPr>
            </a:lvl5pPr>
            <a:lvl6pPr>
              <a:buNone/>
              <a:defRPr sz="2250" b="1">
                <a:solidFill>
                  <a:srgbClr val="007D78"/>
                </a:solidFill>
                <a:latin typeface="DejaVu Sans"/>
                <a:ea typeface="DejaVu Sans"/>
                <a:cs typeface="DejaVu Sans"/>
              </a:defRPr>
            </a:lvl6pPr>
            <a:lvl7pPr>
              <a:buNone/>
              <a:defRPr sz="2250" b="1">
                <a:solidFill>
                  <a:srgbClr val="007D78"/>
                </a:solidFill>
                <a:latin typeface="DejaVu Sans"/>
                <a:ea typeface="DejaVu Sans"/>
                <a:cs typeface="DejaVu Sans"/>
              </a:defRPr>
            </a:lvl7pPr>
            <a:lvl8pPr>
              <a:buNone/>
              <a:defRPr sz="2250" b="1">
                <a:solidFill>
                  <a:srgbClr val="007D78"/>
                </a:solidFill>
                <a:latin typeface="DejaVu Sans"/>
                <a:ea typeface="DejaVu Sans"/>
                <a:cs typeface="DejaVu Sans"/>
              </a:defRPr>
            </a:lvl8pPr>
            <a:lvl9pPr>
              <a:buNone/>
              <a:defRPr sz="2250" b="1">
                <a:solidFill>
                  <a:srgbClr val="007D78"/>
                </a:solidFill>
                <a:latin typeface="DejaVu Sans"/>
                <a:ea typeface="DejaVu Sans"/>
                <a:cs typeface="DejaVu Sans"/>
              </a:defRPr>
            </a:lvl9pPr>
          </a:lstStyle>
          <a:p xmlns:a="http://schemas.openxmlformats.org/drawingml/2006/main">
            <a:pPr>
              <a:buNone/>
              <a:defRPr sz="2250" b="1">
                <a:solidFill>
                  <a:srgbClr val="007D78"/>
                </a:solidFill>
                <a:latin typeface="DejaVu Sans"/>
                <a:ea typeface="DejaVu Sans"/>
                <a:cs typeface="DejaVu Sans"/>
              </a:defRPr>
            </a:pPr>
            <a:r>
              <a:rPr sz="2250" b="1">
                <a:solidFill>
                  <a:srgbClr val="007D78"/>
                </a:solidFill>
                <a:latin typeface="DejaVu Sans"/>
                <a:ea typeface="DejaVu Sans"/>
                <a:cs typeface="DejaVu Sans"/>
              </a:rPr>
              <a:t>B  Generate from selected evidence</a:t>
            </a:r>
          </a:p>
        </p:txBody>
      </p:sp>
      <p:sp>
        <p:nvSpPr>
          <p:cNvPr id="7" name="evidence-flow">
            <a:extLst xmlns:a="http://schemas.openxmlformats.org/drawingml/2006/main">
              <a:ext uri="{FF2B5EF4-FFF2-40B4-BE49-F238E27FC236}">
                <a16:creationId xmlns:a16="http://schemas.microsoft.com/office/drawing/2014/main" id="{B72109A1-0834-40BF-A6BD-ED345C2CEB9D}"/>
              </a:ext>
            </a:extLst>
          </p:cNvPr>
          <p:cNvSpPr>
            <a:spLocks xmlns:a="http://schemas.openxmlformats.org/drawingml/2006/main" noGrp="1"/>
          </p:cNvSpPr>
          <p:nvPr/>
        </p:nvSpPr>
        <p:spPr>
          <a:xfrm xmlns:a="http://schemas.openxmlformats.org/drawingml/2006/main">
            <a:off x="8001000" y="2409825"/>
            <a:ext cx="6477000" cy="2705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0">
                <a:solidFill>
                  <a:srgbClr val="193646"/>
                </a:solidFill>
                <a:latin typeface="DejaVu Sans"/>
                <a:ea typeface="DejaVu Sans"/>
                <a:cs typeface="DejaVu Sans"/>
              </a:defRPr>
            </a:defPPr>
            <a:lvl1pPr>
              <a:buNone/>
              <a:defRPr sz="2250" b="0">
                <a:solidFill>
                  <a:srgbClr val="193646"/>
                </a:solidFill>
                <a:latin typeface="DejaVu Sans"/>
                <a:ea typeface="DejaVu Sans"/>
                <a:cs typeface="DejaVu Sans"/>
              </a:defRPr>
            </a:lvl1pPr>
            <a:lvl2pPr>
              <a:buNone/>
              <a:defRPr sz="2250" b="0">
                <a:solidFill>
                  <a:srgbClr val="193646"/>
                </a:solidFill>
                <a:latin typeface="DejaVu Sans"/>
                <a:ea typeface="DejaVu Sans"/>
                <a:cs typeface="DejaVu Sans"/>
              </a:defRPr>
            </a:lvl2pPr>
            <a:lvl3pPr>
              <a:buNone/>
              <a:defRPr sz="2250" b="0">
                <a:solidFill>
                  <a:srgbClr val="193646"/>
                </a:solidFill>
                <a:latin typeface="DejaVu Sans"/>
                <a:ea typeface="DejaVu Sans"/>
                <a:cs typeface="DejaVu Sans"/>
              </a:defRPr>
            </a:lvl3pPr>
            <a:lvl4pPr>
              <a:buNone/>
              <a:defRPr sz="2250" b="0">
                <a:solidFill>
                  <a:srgbClr val="193646"/>
                </a:solidFill>
                <a:latin typeface="DejaVu Sans"/>
                <a:ea typeface="DejaVu Sans"/>
                <a:cs typeface="DejaVu Sans"/>
              </a:defRPr>
            </a:lvl4pPr>
            <a:lvl5pPr>
              <a:buNone/>
              <a:defRPr sz="2250" b="0">
                <a:solidFill>
                  <a:srgbClr val="193646"/>
                </a:solidFill>
                <a:latin typeface="DejaVu Sans"/>
                <a:ea typeface="DejaVu Sans"/>
                <a:cs typeface="DejaVu Sans"/>
              </a:defRPr>
            </a:lvl5pPr>
            <a:lvl6pPr>
              <a:buNone/>
              <a:defRPr sz="2250" b="0">
                <a:solidFill>
                  <a:srgbClr val="193646"/>
                </a:solidFill>
                <a:latin typeface="DejaVu Sans"/>
                <a:ea typeface="DejaVu Sans"/>
                <a:cs typeface="DejaVu Sans"/>
              </a:defRPr>
            </a:lvl6pPr>
            <a:lvl7pPr>
              <a:buNone/>
              <a:defRPr sz="2250" b="0">
                <a:solidFill>
                  <a:srgbClr val="193646"/>
                </a:solidFill>
                <a:latin typeface="DejaVu Sans"/>
                <a:ea typeface="DejaVu Sans"/>
                <a:cs typeface="DejaVu Sans"/>
              </a:defRPr>
            </a:lvl7pPr>
            <a:lvl8pPr>
              <a:buNone/>
              <a:defRPr sz="2250" b="0">
                <a:solidFill>
                  <a:srgbClr val="193646"/>
                </a:solidFill>
                <a:latin typeface="DejaVu Sans"/>
                <a:ea typeface="DejaVu Sans"/>
                <a:cs typeface="DejaVu Sans"/>
              </a:defRPr>
            </a:lvl8pPr>
            <a:lvl9pPr>
              <a:buNone/>
              <a:defRPr sz="2250" b="0">
                <a:solidFill>
                  <a:srgbClr val="193646"/>
                </a:solidFill>
                <a:latin typeface="DejaVu Sans"/>
                <a:ea typeface="DejaVu Sans"/>
                <a:cs typeface="DejaVu Sans"/>
              </a:defRPr>
            </a:lvl9pPr>
          </a:lstStyle>
          <a:p xmlns:a="http://schemas.openxmlformats.org/drawingml/2006/main">
            <a:pPr>
              <a:buNone/>
              <a:defRPr sz="2250" b="0">
                <a:solidFill>
                  <a:srgbClr val="193646"/>
                </a:solidFill>
                <a:latin typeface="DejaVu Sans"/>
                <a:ea typeface="DejaVu Sans"/>
                <a:cs typeface="DejaVu Sans"/>
              </a:defRPr>
            </a:pPr>
            <a:r>
              <a:rPr sz="2250" b="0">
                <a:solidFill>
                  <a:srgbClr val="193646"/>
                </a:solidFill>
                <a:latin typeface="DejaVu Sans"/>
                <a:ea typeface="DejaVu Sans"/>
                <a:cs typeface="DejaVu Sans"/>
              </a:rPr>
              <a:t>1  Retrieve the same top-k passages.</a:t>
            </a:r>
          </a:p>
          <a:p xmlns:a="http://schemas.openxmlformats.org/drawingml/2006/main">
            <a:r>
              <a:t/>
            </a:r>
          </a:p>
          <a:p xmlns:a="http://schemas.openxmlformats.org/drawingml/2006/main">
            <a:pPr>
              <a:buNone/>
              <a:defRPr sz="2250" b="0">
                <a:solidFill>
                  <a:srgbClr val="193646"/>
                </a:solidFill>
                <a:latin typeface="DejaVu Sans"/>
                <a:ea typeface="DejaVu Sans"/>
                <a:cs typeface="DejaVu Sans"/>
              </a:defRPr>
            </a:pPr>
            <a:r>
              <a:rPr sz="2250" b="0">
                <a:solidFill>
                  <a:srgbClr val="193646"/>
                </a:solidFill>
                <a:latin typeface="DejaVu Sans"/>
                <a:ea typeface="DejaVu Sans"/>
                <a:cs typeface="DejaVu Sans"/>
              </a:rPr>
              <a:t>2  Select one relevant source sentence</a:t>
            </a:r>
          </a:p>
          <a:p xmlns:a="http://schemas.openxmlformats.org/drawingml/2006/main">
            <a:pPr>
              <a:buNone/>
              <a:defRPr sz="2250" b="0">
                <a:solidFill>
                  <a:srgbClr val="193646"/>
                </a:solidFill>
                <a:latin typeface="DejaVu Sans"/>
                <a:ea typeface="DejaVu Sans"/>
                <a:cs typeface="DejaVu Sans"/>
              </a:defRPr>
            </a:pPr>
            <a:r>
              <a:rPr sz="2250" b="0">
                <a:solidFill>
                  <a:srgbClr val="193646"/>
                </a:solidFill>
                <a:latin typeface="DejaVu Sans"/>
                <a:ea typeface="DejaVu Sans"/>
                <a:cs typeface="DejaVu Sans"/>
              </a:rPr>
              <a:t>    per passage using MiniLM similarity.</a:t>
            </a:r>
          </a:p>
          <a:p xmlns:a="http://schemas.openxmlformats.org/drawingml/2006/main">
            <a:r>
              <a:t/>
            </a:r>
          </a:p>
          <a:p xmlns:a="http://schemas.openxmlformats.org/drawingml/2006/main">
            <a:pPr>
              <a:buNone/>
              <a:defRPr sz="2250" b="0">
                <a:solidFill>
                  <a:srgbClr val="193646"/>
                </a:solidFill>
                <a:latin typeface="DejaVu Sans"/>
                <a:ea typeface="DejaVu Sans"/>
                <a:cs typeface="DejaVu Sans"/>
              </a:defRPr>
            </a:pPr>
            <a:r>
              <a:rPr sz="2250" b="0">
                <a:solidFill>
                  <a:srgbClr val="193646"/>
                </a:solidFill>
                <a:latin typeface="DejaVu Sans"/>
                <a:ea typeface="DejaVu Sans"/>
                <a:cs typeface="DejaVu Sans"/>
              </a:rPr>
              <a:t>3  Generate from those labeled sentences.</a:t>
            </a:r>
          </a:p>
        </p:txBody>
      </p:sp>
      <p:sp>
        <p:nvSpPr>
          <p:cNvPr id="8" name="evidence-effect">
            <a:extLst xmlns:a="http://schemas.openxmlformats.org/drawingml/2006/main">
              <a:ext uri="{FF2B5EF4-FFF2-40B4-BE49-F238E27FC236}">
                <a16:creationId xmlns:a16="http://schemas.microsoft.com/office/drawing/2014/main" id="{2C4FE027-896F-4D38-AC30-94AD6544A83A}"/>
              </a:ext>
            </a:extLst>
          </p:cNvPr>
          <p:cNvSpPr>
            <a:spLocks xmlns:a="http://schemas.openxmlformats.org/drawingml/2006/main" noGrp="1"/>
          </p:cNvSpPr>
          <p:nvPr/>
        </p:nvSpPr>
        <p:spPr>
          <a:xfrm xmlns:a="http://schemas.openxmlformats.org/drawingml/2006/main">
            <a:off x="8001000" y="5591175"/>
            <a:ext cx="6429375"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325" b="1">
                <a:solidFill>
                  <a:srgbClr val="102B3A"/>
                </a:solidFill>
                <a:latin typeface="DejaVu Sans"/>
                <a:ea typeface="DejaVu Sans"/>
                <a:cs typeface="DejaVu Sans"/>
              </a:defRPr>
            </a:defPPr>
            <a:lvl1pPr>
              <a:buNone/>
              <a:defRPr sz="2325" b="1">
                <a:solidFill>
                  <a:srgbClr val="102B3A"/>
                </a:solidFill>
                <a:latin typeface="DejaVu Sans"/>
                <a:ea typeface="DejaVu Sans"/>
                <a:cs typeface="DejaVu Sans"/>
              </a:defRPr>
            </a:lvl1pPr>
            <a:lvl2pPr>
              <a:buNone/>
              <a:defRPr sz="2325" b="1">
                <a:solidFill>
                  <a:srgbClr val="102B3A"/>
                </a:solidFill>
                <a:latin typeface="DejaVu Sans"/>
                <a:ea typeface="DejaVu Sans"/>
                <a:cs typeface="DejaVu Sans"/>
              </a:defRPr>
            </a:lvl2pPr>
            <a:lvl3pPr>
              <a:buNone/>
              <a:defRPr sz="2325" b="1">
                <a:solidFill>
                  <a:srgbClr val="102B3A"/>
                </a:solidFill>
                <a:latin typeface="DejaVu Sans"/>
                <a:ea typeface="DejaVu Sans"/>
                <a:cs typeface="DejaVu Sans"/>
              </a:defRPr>
            </a:lvl3pPr>
            <a:lvl4pPr>
              <a:buNone/>
              <a:defRPr sz="2325" b="1">
                <a:solidFill>
                  <a:srgbClr val="102B3A"/>
                </a:solidFill>
                <a:latin typeface="DejaVu Sans"/>
                <a:ea typeface="DejaVu Sans"/>
                <a:cs typeface="DejaVu Sans"/>
              </a:defRPr>
            </a:lvl4pPr>
            <a:lvl5pPr>
              <a:buNone/>
              <a:defRPr sz="2325" b="1">
                <a:solidFill>
                  <a:srgbClr val="102B3A"/>
                </a:solidFill>
                <a:latin typeface="DejaVu Sans"/>
                <a:ea typeface="DejaVu Sans"/>
                <a:cs typeface="DejaVu Sans"/>
              </a:defRPr>
            </a:lvl5pPr>
            <a:lvl6pPr>
              <a:buNone/>
              <a:defRPr sz="2325" b="1">
                <a:solidFill>
                  <a:srgbClr val="102B3A"/>
                </a:solidFill>
                <a:latin typeface="DejaVu Sans"/>
                <a:ea typeface="DejaVu Sans"/>
                <a:cs typeface="DejaVu Sans"/>
              </a:defRPr>
            </a:lvl6pPr>
            <a:lvl7pPr>
              <a:buNone/>
              <a:defRPr sz="2325" b="1">
                <a:solidFill>
                  <a:srgbClr val="102B3A"/>
                </a:solidFill>
                <a:latin typeface="DejaVu Sans"/>
                <a:ea typeface="DejaVu Sans"/>
                <a:cs typeface="DejaVu Sans"/>
              </a:defRPr>
            </a:lvl7pPr>
            <a:lvl8pPr>
              <a:buNone/>
              <a:defRPr sz="2325" b="1">
                <a:solidFill>
                  <a:srgbClr val="102B3A"/>
                </a:solidFill>
                <a:latin typeface="DejaVu Sans"/>
                <a:ea typeface="DejaVu Sans"/>
                <a:cs typeface="DejaVu Sans"/>
              </a:defRPr>
            </a:lvl8pPr>
            <a:lvl9pPr>
              <a:buNone/>
              <a:defRPr sz="2325" b="1">
                <a:solidFill>
                  <a:srgbClr val="102B3A"/>
                </a:solidFill>
                <a:latin typeface="DejaVu Sans"/>
                <a:ea typeface="DejaVu Sans"/>
                <a:cs typeface="DejaVu Sans"/>
              </a:defRPr>
            </a:lvl9pPr>
          </a:lstStyle>
          <a:p xmlns:a="http://schemas.openxmlformats.org/drawingml/2006/main">
            <a:pPr>
              <a:buNone/>
              <a:defRPr sz="2325" b="1">
                <a:solidFill>
                  <a:srgbClr val="102B3A"/>
                </a:solidFill>
                <a:latin typeface="DejaVu Sans"/>
                <a:ea typeface="DejaVu Sans"/>
                <a:cs typeface="DejaVu Sans"/>
              </a:defRPr>
            </a:pPr>
            <a:r>
              <a:rPr sz="2325" b="1">
                <a:solidFill>
                  <a:srgbClr val="102B3A"/>
                </a:solidFill>
                <a:latin typeface="DejaVu Sans"/>
                <a:ea typeface="DejaVu Sans"/>
                <a:cs typeface="DejaVu Sans"/>
              </a:rPr>
              <a:t>Uses shorter evidence, but sentence selection may omit a needed detail.</a:t>
            </a:r>
          </a:p>
        </p:txBody>
      </p:sp>
      <p:sp>
        <p:nvSpPr>
          <p:cNvPr id="9" name="context-note">
            <a:extLst xmlns:a="http://schemas.openxmlformats.org/drawingml/2006/main">
              <a:ext uri="{FF2B5EF4-FFF2-40B4-BE49-F238E27FC236}">
                <a16:creationId xmlns:a16="http://schemas.microsoft.com/office/drawing/2014/main" id="{2A3D31D5-D7DB-4F93-BC59-0E40E7683402}"/>
              </a:ext>
            </a:extLst>
          </p:cNvPr>
          <p:cNvSpPr>
            <a:spLocks xmlns:a="http://schemas.openxmlformats.org/drawingml/2006/main" noGrp="1"/>
          </p:cNvSpPr>
          <p:nvPr/>
        </p:nvSpPr>
        <p:spPr>
          <a:xfrm xmlns:a="http://schemas.openxmlformats.org/drawingml/2006/main">
            <a:off x="762000" y="7458075"/>
            <a:ext cx="13049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0">
                <a:solidFill>
                  <a:srgbClr val="526975"/>
                </a:solidFill>
                <a:latin typeface="DejaVu Sans"/>
                <a:ea typeface="DejaVu Sans"/>
                <a:cs typeface="DejaVu Sans"/>
              </a:defRPr>
            </a:defPPr>
            <a:lvl1pPr>
              <a:buNone/>
              <a:defRPr sz="1575" b="0">
                <a:solidFill>
                  <a:srgbClr val="526975"/>
                </a:solidFill>
                <a:latin typeface="DejaVu Sans"/>
                <a:ea typeface="DejaVu Sans"/>
                <a:cs typeface="DejaVu Sans"/>
              </a:defRPr>
            </a:lvl1pPr>
            <a:lvl2pPr>
              <a:buNone/>
              <a:defRPr sz="1575" b="0">
                <a:solidFill>
                  <a:srgbClr val="526975"/>
                </a:solidFill>
                <a:latin typeface="DejaVu Sans"/>
                <a:ea typeface="DejaVu Sans"/>
                <a:cs typeface="DejaVu Sans"/>
              </a:defRPr>
            </a:lvl2pPr>
            <a:lvl3pPr>
              <a:buNone/>
              <a:defRPr sz="1575" b="0">
                <a:solidFill>
                  <a:srgbClr val="526975"/>
                </a:solidFill>
                <a:latin typeface="DejaVu Sans"/>
                <a:ea typeface="DejaVu Sans"/>
                <a:cs typeface="DejaVu Sans"/>
              </a:defRPr>
            </a:lvl3pPr>
            <a:lvl4pPr>
              <a:buNone/>
              <a:defRPr sz="1575" b="0">
                <a:solidFill>
                  <a:srgbClr val="526975"/>
                </a:solidFill>
                <a:latin typeface="DejaVu Sans"/>
                <a:ea typeface="DejaVu Sans"/>
                <a:cs typeface="DejaVu Sans"/>
              </a:defRPr>
            </a:lvl4pPr>
            <a:lvl5pPr>
              <a:buNone/>
              <a:defRPr sz="1575" b="0">
                <a:solidFill>
                  <a:srgbClr val="526975"/>
                </a:solidFill>
                <a:latin typeface="DejaVu Sans"/>
                <a:ea typeface="DejaVu Sans"/>
                <a:cs typeface="DejaVu Sans"/>
              </a:defRPr>
            </a:lvl5pPr>
            <a:lvl6pPr>
              <a:buNone/>
              <a:defRPr sz="1575" b="0">
                <a:solidFill>
                  <a:srgbClr val="526975"/>
                </a:solidFill>
                <a:latin typeface="DejaVu Sans"/>
                <a:ea typeface="DejaVu Sans"/>
                <a:cs typeface="DejaVu Sans"/>
              </a:defRPr>
            </a:lvl6pPr>
            <a:lvl7pPr>
              <a:buNone/>
              <a:defRPr sz="1575" b="0">
                <a:solidFill>
                  <a:srgbClr val="526975"/>
                </a:solidFill>
                <a:latin typeface="DejaVu Sans"/>
                <a:ea typeface="DejaVu Sans"/>
                <a:cs typeface="DejaVu Sans"/>
              </a:defRPr>
            </a:lvl7pPr>
            <a:lvl8pPr>
              <a:buNone/>
              <a:defRPr sz="1575" b="0">
                <a:solidFill>
                  <a:srgbClr val="526975"/>
                </a:solidFill>
                <a:latin typeface="DejaVu Sans"/>
                <a:ea typeface="DejaVu Sans"/>
                <a:cs typeface="DejaVu Sans"/>
              </a:defRPr>
            </a:lvl8pPr>
            <a:lvl9pPr>
              <a:buNone/>
              <a:defRPr sz="1575" b="0">
                <a:solidFill>
                  <a:srgbClr val="526975"/>
                </a:solidFill>
                <a:latin typeface="DejaVu Sans"/>
                <a:ea typeface="DejaVu Sans"/>
                <a:cs typeface="DejaVu Sans"/>
              </a:defRPr>
            </a:lvl9pPr>
          </a:lstStyle>
          <a:p xmlns:a="http://schemas.openxmlformats.org/drawingml/2006/main">
            <a:pPr>
              <a:buNone/>
              <a:defRPr sz="1575" b="0">
                <a:solidFill>
                  <a:srgbClr val="526975"/>
                </a:solidFill>
                <a:latin typeface="DejaVu Sans"/>
                <a:ea typeface="DejaVu Sans"/>
                <a:cs typeface="DejaVu Sans"/>
              </a:defRPr>
            </a:pPr>
            <a:r>
              <a:rPr sz="1575" b="0">
                <a:solidFill>
                  <a:srgbClr val="526975"/>
                </a:solidFill>
                <a:latin typeface="DejaVu Sans"/>
                <a:ea typeface="DejaVu Sans"/>
                <a:cs typeface="DejaVu Sans"/>
              </a:rPr>
              <a:t>Use k = 1, 3 and 5 for each method. Both use one generation call and the same token limits.</a:t>
            </a:r>
          </a:p>
        </p:txBody>
      </p:sp>
    </p:spTree>
    <p:extLst>
      <p:ext uri="{BB962C8B-B14F-4D97-AF65-F5344CB8AC3E}">
        <p14:creationId xmlns:p14="http://schemas.microsoft.com/office/powerpoint/2010/main" val="70777148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6AB372E8-AAD4-4545-9517-78E830851E61}"/>
              </a:ext>
            </a:extLst>
          </p:cNvPr>
          <p:cNvSpPr>
            <a:spLocks xmlns:a="http://schemas.openxmlformats.org/drawingml/2006/main" noGrp="1"/>
          </p:cNvSpPr>
          <p:nvPr/>
        </p:nvSpPr>
        <p:spPr>
          <a:xfrm xmlns:a="http://schemas.openxmlformats.org/drawingml/2006/main">
            <a:off x="762000" y="571500"/>
            <a:ext cx="13620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450" b="1">
                <a:solidFill>
                  <a:srgbClr val="102B3A"/>
                </a:solidFill>
                <a:latin typeface="DejaVu Sans"/>
                <a:ea typeface="DejaVu Sans"/>
                <a:cs typeface="DejaVu Sans"/>
              </a:defRPr>
            </a:defPPr>
            <a:lvl1pPr>
              <a:defRPr sz="3450" b="1">
                <a:solidFill>
                  <a:srgbClr val="102B3A"/>
                </a:solidFill>
                <a:latin typeface="DejaVu Sans"/>
                <a:ea typeface="DejaVu Sans"/>
                <a:cs typeface="DejaVu Sans"/>
              </a:defRPr>
            </a:lvl1pPr>
            <a:lvl2pPr>
              <a:defRPr sz="3450" b="1">
                <a:solidFill>
                  <a:srgbClr val="102B3A"/>
                </a:solidFill>
                <a:latin typeface="DejaVu Sans"/>
                <a:ea typeface="DejaVu Sans"/>
                <a:cs typeface="DejaVu Sans"/>
              </a:defRPr>
            </a:lvl2pPr>
            <a:lvl3pPr>
              <a:defRPr sz="3450" b="1">
                <a:solidFill>
                  <a:srgbClr val="102B3A"/>
                </a:solidFill>
                <a:latin typeface="DejaVu Sans"/>
                <a:ea typeface="DejaVu Sans"/>
                <a:cs typeface="DejaVu Sans"/>
              </a:defRPr>
            </a:lvl3pPr>
            <a:lvl4pPr>
              <a:defRPr sz="3450" b="1">
                <a:solidFill>
                  <a:srgbClr val="102B3A"/>
                </a:solidFill>
                <a:latin typeface="DejaVu Sans"/>
                <a:ea typeface="DejaVu Sans"/>
                <a:cs typeface="DejaVu Sans"/>
              </a:defRPr>
            </a:lvl4pPr>
            <a:lvl5pPr>
              <a:defRPr sz="3450" b="1">
                <a:solidFill>
                  <a:srgbClr val="102B3A"/>
                </a:solidFill>
                <a:latin typeface="DejaVu Sans"/>
                <a:ea typeface="DejaVu Sans"/>
                <a:cs typeface="DejaVu Sans"/>
              </a:defRPr>
            </a:lvl5pPr>
            <a:lvl6pPr>
              <a:defRPr sz="3450" b="1">
                <a:solidFill>
                  <a:srgbClr val="102B3A"/>
                </a:solidFill>
                <a:latin typeface="DejaVu Sans"/>
                <a:ea typeface="DejaVu Sans"/>
                <a:cs typeface="DejaVu Sans"/>
              </a:defRPr>
            </a:lvl6pPr>
            <a:lvl7pPr>
              <a:defRPr sz="3450" b="1">
                <a:solidFill>
                  <a:srgbClr val="102B3A"/>
                </a:solidFill>
                <a:latin typeface="DejaVu Sans"/>
                <a:ea typeface="DejaVu Sans"/>
                <a:cs typeface="DejaVu Sans"/>
              </a:defRPr>
            </a:lvl7pPr>
            <a:lvl8pPr>
              <a:defRPr sz="3450" b="1">
                <a:solidFill>
                  <a:srgbClr val="102B3A"/>
                </a:solidFill>
                <a:latin typeface="DejaVu Sans"/>
                <a:ea typeface="DejaVu Sans"/>
                <a:cs typeface="DejaVu Sans"/>
              </a:defRPr>
            </a:lvl8pPr>
            <a:lvl9pPr>
              <a:defRPr sz="3450" b="1">
                <a:solidFill>
                  <a:srgbClr val="102B3A"/>
                </a:solidFill>
                <a:latin typeface="DejaVu Sans"/>
                <a:ea typeface="DejaVu Sans"/>
                <a:cs typeface="DejaVu Sans"/>
              </a:defRPr>
            </a:lvl9pPr>
          </a:lstStyle>
          <a:p xmlns:a="http://schemas.openxmlformats.org/drawingml/2006/main">
            <a:pPr>
              <a:defRPr sz="3450" b="1">
                <a:solidFill>
                  <a:srgbClr val="102B3A"/>
                </a:solidFill>
                <a:latin typeface="DejaVu Sans"/>
                <a:ea typeface="DejaVu Sans"/>
                <a:cs typeface="DejaVu Sans"/>
              </a:defRPr>
            </a:pPr>
            <a:r>
              <a:rPr sz="3450" b="1">
                <a:solidFill>
                  <a:srgbClr val="102B3A"/>
                </a:solidFill>
                <a:latin typeface="DejaVu Sans"/>
                <a:ea typeface="DejaVu Sans"/>
                <a:cs typeface="DejaVu Sans"/>
              </a:rPr>
              <a:t>Gold-standard set for verification</a:t>
            </a:r>
          </a:p>
        </p:txBody>
      </p:sp>
      <p:sp>
        <p:nvSpPr>
          <p:cNvPr id="2" name="slide-number">
            <a:extLst xmlns:a="http://schemas.openxmlformats.org/drawingml/2006/main">
              <a:ext uri="{FF2B5EF4-FFF2-40B4-BE49-F238E27FC236}">
                <a16:creationId xmlns:a16="http://schemas.microsoft.com/office/drawing/2014/main" id="{C7107335-2D70-433F-9C43-5D80D67A2FE4}"/>
              </a:ext>
            </a:extLst>
          </p:cNvPr>
          <p:cNvSpPr>
            <a:spLocks xmlns:a="http://schemas.openxmlformats.org/drawingml/2006/main" noGrp="1"/>
          </p:cNvSpPr>
          <p:nvPr/>
        </p:nvSpPr>
        <p:spPr>
          <a:xfrm xmlns:a="http://schemas.openxmlformats.org/drawingml/2006/main">
            <a:off x="13906500" y="795337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0">
                <a:solidFill>
                  <a:srgbClr val="526975"/>
                </a:solidFill>
                <a:latin typeface="DejaVu Sans"/>
                <a:ea typeface="DejaVu Sans"/>
                <a:cs typeface="DejaVu Sans"/>
              </a:defRPr>
            </a:defPPr>
            <a:lvl1pPr>
              <a:defRPr sz="1575" b="0">
                <a:solidFill>
                  <a:srgbClr val="526975"/>
                </a:solidFill>
                <a:latin typeface="DejaVu Sans"/>
                <a:ea typeface="DejaVu Sans"/>
                <a:cs typeface="DejaVu Sans"/>
              </a:defRPr>
            </a:lvl1pPr>
            <a:lvl2pPr>
              <a:defRPr sz="1575" b="0">
                <a:solidFill>
                  <a:srgbClr val="526975"/>
                </a:solidFill>
                <a:latin typeface="DejaVu Sans"/>
                <a:ea typeface="DejaVu Sans"/>
                <a:cs typeface="DejaVu Sans"/>
              </a:defRPr>
            </a:lvl2pPr>
            <a:lvl3pPr>
              <a:defRPr sz="1575" b="0">
                <a:solidFill>
                  <a:srgbClr val="526975"/>
                </a:solidFill>
                <a:latin typeface="DejaVu Sans"/>
                <a:ea typeface="DejaVu Sans"/>
                <a:cs typeface="DejaVu Sans"/>
              </a:defRPr>
            </a:lvl3pPr>
            <a:lvl4pPr>
              <a:defRPr sz="1575" b="0">
                <a:solidFill>
                  <a:srgbClr val="526975"/>
                </a:solidFill>
                <a:latin typeface="DejaVu Sans"/>
                <a:ea typeface="DejaVu Sans"/>
                <a:cs typeface="DejaVu Sans"/>
              </a:defRPr>
            </a:lvl4pPr>
            <a:lvl5pPr>
              <a:defRPr sz="1575" b="0">
                <a:solidFill>
                  <a:srgbClr val="526975"/>
                </a:solidFill>
                <a:latin typeface="DejaVu Sans"/>
                <a:ea typeface="DejaVu Sans"/>
                <a:cs typeface="DejaVu Sans"/>
              </a:defRPr>
            </a:lvl5pPr>
            <a:lvl6pPr>
              <a:defRPr sz="1575" b="0">
                <a:solidFill>
                  <a:srgbClr val="526975"/>
                </a:solidFill>
                <a:latin typeface="DejaVu Sans"/>
                <a:ea typeface="DejaVu Sans"/>
                <a:cs typeface="DejaVu Sans"/>
              </a:defRPr>
            </a:lvl6pPr>
            <a:lvl7pPr>
              <a:defRPr sz="1575" b="0">
                <a:solidFill>
                  <a:srgbClr val="526975"/>
                </a:solidFill>
                <a:latin typeface="DejaVu Sans"/>
                <a:ea typeface="DejaVu Sans"/>
                <a:cs typeface="DejaVu Sans"/>
              </a:defRPr>
            </a:lvl7pPr>
            <a:lvl8pPr>
              <a:defRPr sz="1575" b="0">
                <a:solidFill>
                  <a:srgbClr val="526975"/>
                </a:solidFill>
                <a:latin typeface="DejaVu Sans"/>
                <a:ea typeface="DejaVu Sans"/>
                <a:cs typeface="DejaVu Sans"/>
              </a:defRPr>
            </a:lvl8pPr>
            <a:lvl9pPr>
              <a:defRPr sz="1575" b="0">
                <a:solidFill>
                  <a:srgbClr val="526975"/>
                </a:solidFill>
                <a:latin typeface="DejaVu Sans"/>
                <a:ea typeface="DejaVu Sans"/>
                <a:cs typeface="DejaVu Sans"/>
              </a:defRPr>
            </a:lvl9pPr>
          </a:lstStyle>
          <a:p xmlns:a="http://schemas.openxmlformats.org/drawingml/2006/main">
            <a:pPr>
              <a:defRPr sz="1575" b="0">
                <a:solidFill>
                  <a:srgbClr val="526975"/>
                </a:solidFill>
                <a:latin typeface="DejaVu Sans"/>
                <a:ea typeface="DejaVu Sans"/>
                <a:cs typeface="DejaVu Sans"/>
              </a:defRPr>
            </a:pPr>
            <a:r>
              <a:t>08</a:t>
            </a:r>
          </a:p>
        </p:txBody>
      </p:sp>
      <p:sp>
        <p:nvSpPr>
          <p:cNvPr id="3" name="gold-counts">
            <a:extLst xmlns:a="http://schemas.openxmlformats.org/drawingml/2006/main">
              <a:ext uri="{FF2B5EF4-FFF2-40B4-BE49-F238E27FC236}">
                <a16:creationId xmlns:a16="http://schemas.microsoft.com/office/drawing/2014/main" id="{B739FE24-1F4C-4FED-90A0-0D490C1C7C14}"/>
              </a:ext>
            </a:extLst>
          </p:cNvPr>
          <p:cNvSpPr>
            <a:spLocks xmlns:a="http://schemas.openxmlformats.org/drawingml/2006/main" noGrp="1"/>
          </p:cNvSpPr>
          <p:nvPr/>
        </p:nvSpPr>
        <p:spPr>
          <a:xfrm xmlns:a="http://schemas.openxmlformats.org/drawingml/2006/main">
            <a:off x="762000" y="1628775"/>
            <a:ext cx="13716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550" b="1">
                <a:solidFill>
                  <a:srgbClr val="102B3A"/>
                </a:solidFill>
                <a:latin typeface="DejaVu Sans"/>
                <a:ea typeface="DejaVu Sans"/>
                <a:cs typeface="DejaVu Sans"/>
              </a:defRPr>
            </a:defPPr>
            <a:lvl1pPr>
              <a:defRPr sz="2550" b="1">
                <a:solidFill>
                  <a:srgbClr val="102B3A"/>
                </a:solidFill>
                <a:latin typeface="DejaVu Sans"/>
                <a:ea typeface="DejaVu Sans"/>
                <a:cs typeface="DejaVu Sans"/>
              </a:defRPr>
            </a:lvl1pPr>
            <a:lvl2pPr>
              <a:defRPr sz="2550" b="1">
                <a:solidFill>
                  <a:srgbClr val="102B3A"/>
                </a:solidFill>
                <a:latin typeface="DejaVu Sans"/>
                <a:ea typeface="DejaVu Sans"/>
                <a:cs typeface="DejaVu Sans"/>
              </a:defRPr>
            </a:lvl2pPr>
            <a:lvl3pPr>
              <a:defRPr sz="2550" b="1">
                <a:solidFill>
                  <a:srgbClr val="102B3A"/>
                </a:solidFill>
                <a:latin typeface="DejaVu Sans"/>
                <a:ea typeface="DejaVu Sans"/>
                <a:cs typeface="DejaVu Sans"/>
              </a:defRPr>
            </a:lvl3pPr>
            <a:lvl4pPr>
              <a:defRPr sz="2550" b="1">
                <a:solidFill>
                  <a:srgbClr val="102B3A"/>
                </a:solidFill>
                <a:latin typeface="DejaVu Sans"/>
                <a:ea typeface="DejaVu Sans"/>
                <a:cs typeface="DejaVu Sans"/>
              </a:defRPr>
            </a:lvl4pPr>
            <a:lvl5pPr>
              <a:defRPr sz="2550" b="1">
                <a:solidFill>
                  <a:srgbClr val="102B3A"/>
                </a:solidFill>
                <a:latin typeface="DejaVu Sans"/>
                <a:ea typeface="DejaVu Sans"/>
                <a:cs typeface="DejaVu Sans"/>
              </a:defRPr>
            </a:lvl5pPr>
            <a:lvl6pPr>
              <a:defRPr sz="2550" b="1">
                <a:solidFill>
                  <a:srgbClr val="102B3A"/>
                </a:solidFill>
                <a:latin typeface="DejaVu Sans"/>
                <a:ea typeface="DejaVu Sans"/>
                <a:cs typeface="DejaVu Sans"/>
              </a:defRPr>
            </a:lvl6pPr>
            <a:lvl7pPr>
              <a:defRPr sz="2550" b="1">
                <a:solidFill>
                  <a:srgbClr val="102B3A"/>
                </a:solidFill>
                <a:latin typeface="DejaVu Sans"/>
                <a:ea typeface="DejaVu Sans"/>
                <a:cs typeface="DejaVu Sans"/>
              </a:defRPr>
            </a:lvl7pPr>
            <a:lvl8pPr>
              <a:defRPr sz="2550" b="1">
                <a:solidFill>
                  <a:srgbClr val="102B3A"/>
                </a:solidFill>
                <a:latin typeface="DejaVu Sans"/>
                <a:ea typeface="DejaVu Sans"/>
                <a:cs typeface="DejaVu Sans"/>
              </a:defRPr>
            </a:lvl8pPr>
            <a:lvl9pPr>
              <a:defRPr sz="2550" b="1">
                <a:solidFill>
                  <a:srgbClr val="102B3A"/>
                </a:solidFill>
                <a:latin typeface="DejaVu Sans"/>
                <a:ea typeface="DejaVu Sans"/>
                <a:cs typeface="DejaVu Sans"/>
              </a:defRPr>
            </a:lvl9pPr>
          </a:lstStyle>
          <a:p xmlns:a="http://schemas.openxmlformats.org/drawingml/2006/main">
            <a:pPr>
              <a:defRPr sz="2550" b="1">
                <a:solidFill>
                  <a:srgbClr val="102B3A"/>
                </a:solidFill>
                <a:latin typeface="DejaVu Sans"/>
                <a:ea typeface="DejaVu Sans"/>
                <a:cs typeface="DejaVu Sans"/>
              </a:defRPr>
            </a:pPr>
            <a:r>
              <a:rPr sz="2550" b="1">
                <a:solidFill>
                  <a:srgbClr val="102B3A"/>
                </a:solidFill>
                <a:latin typeface="DejaVu Sans"/>
                <a:ea typeface="DejaVu Sans"/>
                <a:cs typeface="DejaVu Sans"/>
              </a:rPr>
              <a:t>40 source-checked questions: 10 development, 30 test</a:t>
            </a:r>
          </a:p>
        </p:txBody>
      </p:sp>
      <p:sp>
        <p:nvSpPr>
          <p:cNvPr id="4" name="gold-split">
            <a:extLst xmlns:a="http://schemas.openxmlformats.org/drawingml/2006/main">
              <a:ext uri="{FF2B5EF4-FFF2-40B4-BE49-F238E27FC236}">
                <a16:creationId xmlns:a16="http://schemas.microsoft.com/office/drawing/2014/main" id="{9914D797-6192-4135-B78E-91DED6AB405A}"/>
              </a:ext>
            </a:extLst>
          </p:cNvPr>
          <p:cNvSpPr>
            <a:spLocks xmlns:a="http://schemas.openxmlformats.org/drawingml/2006/main" noGrp="1"/>
          </p:cNvSpPr>
          <p:nvPr/>
        </p:nvSpPr>
        <p:spPr>
          <a:xfrm xmlns:a="http://schemas.openxmlformats.org/drawingml/2006/main">
            <a:off x="762000" y="2247900"/>
            <a:ext cx="13620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193646"/>
                </a:solidFill>
                <a:latin typeface="DejaVu Sans"/>
                <a:ea typeface="DejaVu Sans"/>
                <a:cs typeface="DejaVu Sans"/>
              </a:defRPr>
            </a:defPPr>
            <a:lvl1pPr>
              <a:defRPr sz="2025" b="0">
                <a:solidFill>
                  <a:srgbClr val="193646"/>
                </a:solidFill>
                <a:latin typeface="DejaVu Sans"/>
                <a:ea typeface="DejaVu Sans"/>
                <a:cs typeface="DejaVu Sans"/>
              </a:defRPr>
            </a:lvl1pPr>
            <a:lvl2pPr>
              <a:defRPr sz="2025" b="0">
                <a:solidFill>
                  <a:srgbClr val="193646"/>
                </a:solidFill>
                <a:latin typeface="DejaVu Sans"/>
                <a:ea typeface="DejaVu Sans"/>
                <a:cs typeface="DejaVu Sans"/>
              </a:defRPr>
            </a:lvl2pPr>
            <a:lvl3pPr>
              <a:defRPr sz="2025" b="0">
                <a:solidFill>
                  <a:srgbClr val="193646"/>
                </a:solidFill>
                <a:latin typeface="DejaVu Sans"/>
                <a:ea typeface="DejaVu Sans"/>
                <a:cs typeface="DejaVu Sans"/>
              </a:defRPr>
            </a:lvl3pPr>
            <a:lvl4pPr>
              <a:defRPr sz="2025" b="0">
                <a:solidFill>
                  <a:srgbClr val="193646"/>
                </a:solidFill>
                <a:latin typeface="DejaVu Sans"/>
                <a:ea typeface="DejaVu Sans"/>
                <a:cs typeface="DejaVu Sans"/>
              </a:defRPr>
            </a:lvl4pPr>
            <a:lvl5pPr>
              <a:defRPr sz="2025" b="0">
                <a:solidFill>
                  <a:srgbClr val="193646"/>
                </a:solidFill>
                <a:latin typeface="DejaVu Sans"/>
                <a:ea typeface="DejaVu Sans"/>
                <a:cs typeface="DejaVu Sans"/>
              </a:defRPr>
            </a:lvl5pPr>
            <a:lvl6pPr>
              <a:defRPr sz="2025" b="0">
                <a:solidFill>
                  <a:srgbClr val="193646"/>
                </a:solidFill>
                <a:latin typeface="DejaVu Sans"/>
                <a:ea typeface="DejaVu Sans"/>
                <a:cs typeface="DejaVu Sans"/>
              </a:defRPr>
            </a:lvl6pPr>
            <a:lvl7pPr>
              <a:defRPr sz="2025" b="0">
                <a:solidFill>
                  <a:srgbClr val="193646"/>
                </a:solidFill>
                <a:latin typeface="DejaVu Sans"/>
                <a:ea typeface="DejaVu Sans"/>
                <a:cs typeface="DejaVu Sans"/>
              </a:defRPr>
            </a:lvl7pPr>
            <a:lvl8pPr>
              <a:defRPr sz="2025" b="0">
                <a:solidFill>
                  <a:srgbClr val="193646"/>
                </a:solidFill>
                <a:latin typeface="DejaVu Sans"/>
                <a:ea typeface="DejaVu Sans"/>
                <a:cs typeface="DejaVu Sans"/>
              </a:defRPr>
            </a:lvl8pPr>
            <a:lvl9pPr>
              <a:defRPr sz="2025" b="0">
                <a:solidFill>
                  <a:srgbClr val="193646"/>
                </a:solidFill>
                <a:latin typeface="DejaVu Sans"/>
                <a:ea typeface="DejaVu Sans"/>
                <a:cs typeface="DejaVu Sans"/>
              </a:defRPr>
            </a:lvl9pPr>
          </a:lstStyle>
          <a:p xmlns:a="http://schemas.openxmlformats.org/drawingml/2006/main">
            <a:pPr>
              <a:defRPr sz="2025" b="0">
                <a:solidFill>
                  <a:srgbClr val="193646"/>
                </a:solidFill>
                <a:latin typeface="DejaVu Sans"/>
                <a:ea typeface="DejaVu Sans"/>
                <a:cs typeface="DejaVu Sans"/>
              </a:defRPr>
            </a:pPr>
            <a:r>
              <a:rPr sz="2025" b="0">
                <a:solidFill>
                  <a:srgbClr val="193646"/>
                </a:solidFill>
                <a:latin typeface="DejaVu Sans"/>
                <a:ea typeface="DejaVu Sans"/>
                <a:cs typeface="DejaVu Sans"/>
              </a:rPr>
              <a:t>Test split: 24 answerable and 6 unsupported. Keep gold labels out of prompts and the index.</a:t>
            </a:r>
          </a:p>
        </p:txBody>
      </p:sp>
      <p:graphicFrame>
        <p:nvGraphicFramePr>
          <p:cNvPr id="5" name="">
            <a:extLst xmlns:a="http://schemas.openxmlformats.org/drawingml/2006/main">
              <a:ext uri="{FF2B5EF4-FFF2-40B4-BE49-F238E27FC236}">
                <a16:creationId xmlns:a16="http://schemas.microsoft.com/office/drawing/2014/main" id="{C2226EF1-27F3-4222-BFBD-80014BC2E759}"/>
              </a:ext>
            </a:extLst>
          </p:cNvPr>
          <p:cNvGraphicFramePr/>
          <p:nvPr/>
        </p:nvGraphicFramePr>
        <p:xfrm>
          <a:off xmlns:a="http://schemas.openxmlformats.org/drawingml/2006/main" x="762000" y="3048000"/>
          <a:ext xmlns:a="http://schemas.openxmlformats.org/drawingml/2006/main" cx="13716000" cy="2857500"/>
        </p:xfrm>
        <a:graphic xmlns:a="http://schemas.openxmlformats.org/drawingml/2006/main">
          <a:graphicData uri="http://schemas.openxmlformats.org/drawingml/2006/table">
            <a:tbl>
              <a:tblPr firstRow="1" bandRow="0"/>
              <a:tblGrid>
                <a:gridCol w="1619250"/>
                <a:gridCol w="4381500"/>
                <a:gridCol w="4048125"/>
                <a:gridCol w="3667125"/>
              </a:tblGrid>
              <a:tr h="590550">
                <a:tc>
                  <a:txBody>
                    <a:bodyPr wrap="square" lIns="152400" tIns="95250" rIns="152400" bIns="95250">
                      <a:noAutofit/>
                    </a:bodyPr>
                    <a:lstStyle/>
                    <a:p>
                      <a:r>
                        <a:rPr sz="1875" b="1">
                          <a:solidFill>
                            <a:srgbClr val="FFFFFF"/>
                          </a:solidFill>
                          <a:latin typeface="DejaVu Sans"/>
                          <a:ea typeface="DejaVu Sans"/>
                          <a:cs typeface="DejaVu Sans"/>
                        </a:rPr>
                        <a:t>ID</a:t>
                      </a:r>
                    </a:p>
                  </a:txBody>
                  <a:tcPr marL="91440" marR="91440" marT="45720" marB="45720" anchor="ctr">
                    <a:lnL w="7620">
                      <a:solidFill>
                        <a:srgbClr val="CCDADC"/>
                      </a:solidFill>
                      <a:prstDash val="solid"/>
                    </a:lnL>
                    <a:lnR w="7620">
                      <a:solidFill>
                        <a:srgbClr val="CCDADC"/>
                      </a:solidFill>
                      <a:prstDash val="solid"/>
                    </a:lnR>
                    <a:lnT w="7620">
                      <a:solidFill>
                        <a:srgbClr val="CCDADC"/>
                      </a:solidFill>
                      <a:prstDash val="solid"/>
                    </a:lnT>
                    <a:lnB w="7620">
                      <a:solidFill>
                        <a:srgbClr val="CCDADC"/>
                      </a:solidFill>
                      <a:prstDash val="solid"/>
                    </a:lnB>
                    <a:solidFill>
                      <a:srgbClr val="102B3A"/>
                    </a:solidFill>
                  </a:tcPr>
                </a:tc>
                <a:tc>
                  <a:txBody>
                    <a:bodyPr wrap="square" lIns="152400" tIns="95250" rIns="152400" bIns="95250">
                      <a:noAutofit/>
                    </a:bodyPr>
                    <a:lstStyle/>
                    <a:p>
                      <a:r>
                        <a:rPr sz="1875" b="1">
                          <a:solidFill>
                            <a:srgbClr val="FFFFFF"/>
                          </a:solidFill>
                          <a:latin typeface="DejaVu Sans"/>
                          <a:ea typeface="DejaVu Sans"/>
                          <a:cs typeface="DejaVu Sans"/>
                        </a:rPr>
                        <a:t>Question</a:t>
                      </a:r>
                    </a:p>
                  </a:txBody>
                  <a:tcPr marL="91440" marR="91440" marT="45720" marB="45720" anchor="ctr">
                    <a:lnR w="7620">
                      <a:solidFill>
                        <a:srgbClr val="CCDADC"/>
                      </a:solidFill>
                      <a:prstDash val="solid"/>
                    </a:lnR>
                    <a:lnT w="7620">
                      <a:solidFill>
                        <a:srgbClr val="CCDADC"/>
                      </a:solidFill>
                      <a:prstDash val="solid"/>
                    </a:lnT>
                    <a:lnB w="7620">
                      <a:solidFill>
                        <a:srgbClr val="CCDADC"/>
                      </a:solidFill>
                      <a:prstDash val="solid"/>
                    </a:lnB>
                    <a:solidFill>
                      <a:srgbClr val="102B3A"/>
                    </a:solidFill>
                  </a:tcPr>
                </a:tc>
                <a:tc>
                  <a:txBody>
                    <a:bodyPr wrap="square" lIns="152400" tIns="95250" rIns="152400" bIns="95250">
                      <a:noAutofit/>
                    </a:bodyPr>
                    <a:lstStyle/>
                    <a:p>
                      <a:r>
                        <a:rPr sz="1875" b="1">
                          <a:solidFill>
                            <a:srgbClr val="FFFFFF"/>
                          </a:solidFill>
                          <a:latin typeface="DejaVu Sans"/>
                          <a:ea typeface="DejaVu Sans"/>
                          <a:cs typeface="DejaVu Sans"/>
                        </a:rPr>
                        <a:t>Expected answer</a:t>
                      </a:r>
                    </a:p>
                  </a:txBody>
                  <a:tcPr marL="91440" marR="91440" marT="45720" marB="45720" anchor="ctr">
                    <a:lnR w="7620">
                      <a:solidFill>
                        <a:srgbClr val="CCDADC"/>
                      </a:solidFill>
                      <a:prstDash val="solid"/>
                    </a:lnR>
                    <a:lnT w="7620">
                      <a:solidFill>
                        <a:srgbClr val="CCDADC"/>
                      </a:solidFill>
                      <a:prstDash val="solid"/>
                    </a:lnT>
                    <a:lnB w="7620">
                      <a:solidFill>
                        <a:srgbClr val="CCDADC"/>
                      </a:solidFill>
                      <a:prstDash val="solid"/>
                    </a:lnB>
                    <a:solidFill>
                      <a:srgbClr val="102B3A"/>
                    </a:solidFill>
                  </a:tcPr>
                </a:tc>
                <a:tc>
                  <a:txBody>
                    <a:bodyPr wrap="square" lIns="152400" tIns="95250" rIns="152400" bIns="95250">
                      <a:noAutofit/>
                    </a:bodyPr>
                    <a:lstStyle/>
                    <a:p>
                      <a:r>
                        <a:rPr sz="1875" b="1">
                          <a:solidFill>
                            <a:srgbClr val="FFFFFF"/>
                          </a:solidFill>
                          <a:latin typeface="DejaVu Sans"/>
                          <a:ea typeface="DejaVu Sans"/>
                          <a:cs typeface="DejaVu Sans"/>
                        </a:rPr>
                        <a:t>Evidence location</a:t>
                      </a:r>
                    </a:p>
                  </a:txBody>
                  <a:tcPr marL="91440" marR="91440" marT="45720" marB="45720" anchor="ctr">
                    <a:lnR w="7620">
                      <a:solidFill>
                        <a:srgbClr val="CCDADC"/>
                      </a:solidFill>
                      <a:prstDash val="solid"/>
                    </a:lnR>
                    <a:lnT w="7620">
                      <a:solidFill>
                        <a:srgbClr val="CCDADC"/>
                      </a:solidFill>
                      <a:prstDash val="solid"/>
                    </a:lnT>
                    <a:lnB w="7620">
                      <a:solidFill>
                        <a:srgbClr val="CCDADC"/>
                      </a:solidFill>
                      <a:prstDash val="solid"/>
                    </a:lnB>
                    <a:solidFill>
                      <a:srgbClr val="102B3A"/>
                    </a:solidFill>
                  </a:tcPr>
                </a:tc>
              </a:tr>
              <a:tr h="755650">
                <a:tc>
                  <a:txBody>
                    <a:bodyPr wrap="square" lIns="152400" tIns="95250" rIns="152400" bIns="95250">
                      <a:noAutofit/>
                    </a:bodyPr>
                    <a:lstStyle/>
                    <a:p>
                      <a:r>
                        <a:rPr sz="1875" b="1">
                          <a:solidFill>
                            <a:srgbClr val="193646"/>
                          </a:solidFill>
                          <a:latin typeface="DejaVu Sans"/>
                          <a:ea typeface="DejaVu Sans"/>
                          <a:cs typeface="DejaVu Sans"/>
                        </a:rPr>
                        <a:t>PL-003</a:t>
                      </a:r>
                    </a:p>
                  </a:txBody>
                  <a:tcPr marL="91440" marR="91440" marT="45720" marB="45720" anchor="ctr">
                    <a:lnL w="7620">
                      <a:solidFill>
                        <a:srgbClr val="CCDADC"/>
                      </a:solidFill>
                      <a:prstDash val="solid"/>
                    </a:lnL>
                    <a:lnR w="7620">
                      <a:solidFill>
                        <a:srgbClr val="CCDADC"/>
                      </a:solidFill>
                      <a:prstDash val="solid"/>
                    </a:lnR>
                    <a:lnB w="7620">
                      <a:solidFill>
                        <a:srgbClr val="CCDADC"/>
                      </a:solidFill>
                      <a:prstDash val="solid"/>
                    </a:lnB>
                    <a:solidFill>
                      <a:srgbClr val="FFFFFF"/>
                    </a:solidFill>
                  </a:tcPr>
                </a:tc>
                <a:tc>
                  <a:txBody>
                    <a:bodyPr wrap="square" lIns="152400" tIns="95250" rIns="152400" bIns="95250">
                      <a:noAutofit/>
                    </a:bodyPr>
                    <a:lstStyle/>
                    <a:p>
                      <a:r>
                        <a:rPr sz="1875" b="0">
                          <a:solidFill>
                            <a:srgbClr val="193646"/>
                          </a:solidFill>
                          <a:latin typeface="DejaVu Sans"/>
                          <a:ea typeface="DejaVu Sans"/>
                          <a:cs typeface="DejaVu Sans"/>
                        </a:rPr>
                        <a:t>How is average</a:t>
                      </a:r>
                    </a:p>
                    <a:p>
                      <a:r>
                        <a:rPr sz="1875" b="0">
                          <a:solidFill>
                            <a:srgbClr val="193646"/>
                          </a:solidFill>
                          <a:latin typeface="DejaVu Sans"/>
                          <a:ea typeface="DejaVu Sans"/>
                          <a:cs typeface="DejaVu Sans"/>
                        </a:rPr>
                        <a:t>velocity calculated?</a:t>
                      </a:r>
                    </a:p>
                  </a:txBody>
                  <a:tcPr marL="91440" marR="91440" marT="45720" marB="45720" anchor="ctr">
                    <a:lnR w="7620">
                      <a:solidFill>
                        <a:srgbClr val="CCDADC"/>
                      </a:solidFill>
                      <a:prstDash val="solid"/>
                    </a:lnR>
                    <a:lnB w="7620">
                      <a:solidFill>
                        <a:srgbClr val="CCDADC"/>
                      </a:solidFill>
                      <a:prstDash val="solid"/>
                    </a:lnB>
                    <a:solidFill>
                      <a:srgbClr val="FFFFFF"/>
                    </a:solidFill>
                  </a:tcPr>
                </a:tc>
                <a:tc>
                  <a:txBody>
                    <a:bodyPr wrap="square" lIns="152400" tIns="95250" rIns="152400" bIns="95250">
                      <a:noAutofit/>
                    </a:bodyPr>
                    <a:lstStyle/>
                    <a:p>
                      <a:r>
                        <a:rPr sz="1875" b="0">
                          <a:solidFill>
                            <a:srgbClr val="193646"/>
                          </a:solidFill>
                          <a:latin typeface="DejaVu Sans"/>
                          <a:ea typeface="DejaVu Sans"/>
                          <a:cs typeface="DejaVu Sans"/>
                        </a:rPr>
                        <a:t>Displacement divided</a:t>
                      </a:r>
                    </a:p>
                    <a:p>
                      <a:r>
                        <a:rPr sz="1875" b="0">
                          <a:solidFill>
                            <a:srgbClr val="193646"/>
                          </a:solidFill>
                          <a:latin typeface="DejaVu Sans"/>
                          <a:ea typeface="DejaVu Sans"/>
                          <a:cs typeface="DejaVu Sans"/>
                        </a:rPr>
                        <a:t>by elapsed time.</a:t>
                      </a:r>
                    </a:p>
                  </a:txBody>
                  <a:tcPr marL="91440" marR="91440" marT="45720" marB="45720" anchor="ctr">
                    <a:lnR w="7620">
                      <a:solidFill>
                        <a:srgbClr val="CCDADC"/>
                      </a:solidFill>
                      <a:prstDash val="solid"/>
                    </a:lnR>
                    <a:lnB w="7620">
                      <a:solidFill>
                        <a:srgbClr val="CCDADC"/>
                      </a:solidFill>
                      <a:prstDash val="solid"/>
                    </a:lnB>
                    <a:solidFill>
                      <a:srgbClr val="FFFFFF"/>
                    </a:solidFill>
                  </a:tcPr>
                </a:tc>
                <a:tc>
                  <a:txBody>
                    <a:bodyPr wrap="square" lIns="152400" tIns="95250" rIns="152400" bIns="95250">
                      <a:noAutofit/>
                    </a:bodyPr>
                    <a:lstStyle/>
                    <a:p>
                      <a:r>
                        <a:rPr sz="1875" b="0">
                          <a:solidFill>
                            <a:srgbClr val="193646"/>
                          </a:solidFill>
                          <a:latin typeface="DejaVu Sans"/>
                          <a:ea typeface="DejaVu Sans"/>
                          <a:cs typeface="DejaVu Sans"/>
                        </a:rPr>
                        <a:t>Chapter 4, section 4.3.1</a:t>
                      </a:r>
                    </a:p>
                    <a:p>
                      <a:r>
                        <a:rPr sz="1875" b="0">
                          <a:solidFill>
                            <a:srgbClr val="193646"/>
                          </a:solidFill>
                          <a:latin typeface="DejaVu Sans"/>
                          <a:ea typeface="DejaVu Sans"/>
                          <a:cs typeface="DejaVu Sans"/>
                        </a:rPr>
                        <a:t>PDF page 4</a:t>
                      </a:r>
                    </a:p>
                  </a:txBody>
                  <a:tcPr marL="91440" marR="91440" marT="45720" marB="45720" anchor="ctr">
                    <a:lnR w="7620">
                      <a:solidFill>
                        <a:srgbClr val="CCDADC"/>
                      </a:solidFill>
                      <a:prstDash val="solid"/>
                    </a:lnR>
                    <a:lnB w="7620">
                      <a:solidFill>
                        <a:srgbClr val="CCDADC"/>
                      </a:solidFill>
                      <a:prstDash val="solid"/>
                    </a:lnB>
                    <a:solidFill>
                      <a:srgbClr val="FFFFFF"/>
                    </a:solidFill>
                  </a:tcPr>
                </a:tc>
              </a:tr>
              <a:tr h="755650">
                <a:tc>
                  <a:txBody>
                    <a:bodyPr wrap="square" lIns="152400" tIns="95250" rIns="152400" bIns="95250">
                      <a:noAutofit/>
                    </a:bodyPr>
                    <a:lstStyle/>
                    <a:p>
                      <a:r>
                        <a:rPr sz="1875" b="1">
                          <a:solidFill>
                            <a:srgbClr val="193646"/>
                          </a:solidFill>
                          <a:latin typeface="DejaVu Sans"/>
                          <a:ea typeface="DejaVu Sans"/>
                          <a:cs typeface="DejaVu Sans"/>
                        </a:rPr>
                        <a:t>PL-023</a:t>
                      </a:r>
                    </a:p>
                  </a:txBody>
                  <a:tcPr marL="91440" marR="91440" marT="45720" marB="45720" anchor="ctr">
                    <a:lnL w="7620">
                      <a:solidFill>
                        <a:srgbClr val="CCDADC"/>
                      </a:solidFill>
                      <a:prstDash val="solid"/>
                    </a:lnL>
                    <a:lnR w="7620">
                      <a:solidFill>
                        <a:srgbClr val="CCDADC"/>
                      </a:solidFill>
                      <a:prstDash val="solid"/>
                    </a:lnR>
                    <a:lnB w="7620">
                      <a:solidFill>
                        <a:srgbClr val="CCDADC"/>
                      </a:solidFill>
                      <a:prstDash val="solid"/>
                    </a:lnB>
                    <a:solidFill>
                      <a:srgbClr val="F5F9F9"/>
                    </a:solidFill>
                  </a:tcPr>
                </a:tc>
                <a:tc>
                  <a:txBody>
                    <a:bodyPr wrap="square" lIns="152400" tIns="95250" rIns="152400" bIns="95250">
                      <a:noAutofit/>
                    </a:bodyPr>
                    <a:lstStyle/>
                    <a:p>
                      <a:r>
                        <a:rPr sz="1875" b="0">
                          <a:solidFill>
                            <a:srgbClr val="193646"/>
                          </a:solidFill>
                          <a:latin typeface="DejaVu Sans"/>
                          <a:ea typeface="DejaVu Sans"/>
                          <a:cs typeface="DejaVu Sans"/>
                        </a:rPr>
                        <a:t>How do interaction-pair</a:t>
                      </a:r>
                    </a:p>
                    <a:p>
                      <a:r>
                        <a:rPr sz="1875" b="0">
                          <a:solidFill>
                            <a:srgbClr val="193646"/>
                          </a:solidFill>
                          <a:latin typeface="DejaVu Sans"/>
                          <a:ea typeface="DejaVu Sans"/>
                          <a:cs typeface="DejaVu Sans"/>
                        </a:rPr>
                        <a:t>forces compare?</a:t>
                      </a:r>
                    </a:p>
                  </a:txBody>
                  <a:tcPr marL="91440" marR="91440" marT="45720" marB="45720" anchor="ctr">
                    <a:lnR w="7620">
                      <a:solidFill>
                        <a:srgbClr val="CCDADC"/>
                      </a:solidFill>
                      <a:prstDash val="solid"/>
                    </a:lnR>
                    <a:lnB w="7620">
                      <a:solidFill>
                        <a:srgbClr val="CCDADC"/>
                      </a:solidFill>
                      <a:prstDash val="solid"/>
                    </a:lnB>
                    <a:solidFill>
                      <a:srgbClr val="F5F9F9"/>
                    </a:solidFill>
                  </a:tcPr>
                </a:tc>
                <a:tc>
                  <a:txBody>
                    <a:bodyPr wrap="square" lIns="152400" tIns="95250" rIns="152400" bIns="95250">
                      <a:noAutofit/>
                    </a:bodyPr>
                    <a:lstStyle/>
                    <a:p>
                      <a:r>
                        <a:rPr sz="1875" b="0">
                          <a:solidFill>
                            <a:srgbClr val="193646"/>
                          </a:solidFill>
                          <a:latin typeface="DejaVu Sans"/>
                          <a:ea typeface="DejaVu Sans"/>
                          <a:cs typeface="DejaVu Sans"/>
                        </a:rPr>
                        <a:t>Equal magnitude and</a:t>
                      </a:r>
                    </a:p>
                    <a:p>
                      <a:r>
                        <a:rPr sz="1875" b="0">
                          <a:solidFill>
                            <a:srgbClr val="193646"/>
                          </a:solidFill>
                          <a:latin typeface="DejaVu Sans"/>
                          <a:ea typeface="DejaVu Sans"/>
                          <a:cs typeface="DejaVu Sans"/>
                        </a:rPr>
                        <a:t>opposite directions.</a:t>
                      </a:r>
                    </a:p>
                  </a:txBody>
                  <a:tcPr marL="91440" marR="91440" marT="45720" marB="45720" anchor="ctr">
                    <a:lnR w="7620">
                      <a:solidFill>
                        <a:srgbClr val="CCDADC"/>
                      </a:solidFill>
                      <a:prstDash val="solid"/>
                    </a:lnR>
                    <a:lnB w="7620">
                      <a:solidFill>
                        <a:srgbClr val="CCDADC"/>
                      </a:solidFill>
                      <a:prstDash val="solid"/>
                    </a:lnB>
                    <a:solidFill>
                      <a:srgbClr val="F5F9F9"/>
                    </a:solidFill>
                  </a:tcPr>
                </a:tc>
                <a:tc>
                  <a:txBody>
                    <a:bodyPr wrap="square" lIns="152400" tIns="95250" rIns="152400" bIns="95250">
                      <a:noAutofit/>
                    </a:bodyPr>
                    <a:lstStyle/>
                    <a:p>
                      <a:r>
                        <a:rPr sz="1875" b="0">
                          <a:solidFill>
                            <a:srgbClr val="193646"/>
                          </a:solidFill>
                          <a:latin typeface="DejaVu Sans"/>
                          <a:ea typeface="DejaVu Sans"/>
                          <a:cs typeface="DejaVu Sans"/>
                        </a:rPr>
                        <a:t>Chapter 7, section 7.4</a:t>
                      </a:r>
                    </a:p>
                    <a:p>
                      <a:r>
                        <a:rPr sz="1875" b="0">
                          <a:solidFill>
                            <a:srgbClr val="193646"/>
                          </a:solidFill>
                          <a:latin typeface="DejaVu Sans"/>
                          <a:ea typeface="DejaVu Sans"/>
                          <a:cs typeface="DejaVu Sans"/>
                        </a:rPr>
                        <a:t>PDF page 9</a:t>
                      </a:r>
                    </a:p>
                  </a:txBody>
                  <a:tcPr marL="91440" marR="91440" marT="45720" marB="45720" anchor="ctr">
                    <a:lnR w="7620">
                      <a:solidFill>
                        <a:srgbClr val="CCDADC"/>
                      </a:solidFill>
                      <a:prstDash val="solid"/>
                    </a:lnR>
                    <a:lnB w="7620">
                      <a:solidFill>
                        <a:srgbClr val="CCDADC"/>
                      </a:solidFill>
                      <a:prstDash val="solid"/>
                    </a:lnB>
                    <a:solidFill>
                      <a:srgbClr val="F5F9F9"/>
                    </a:solidFill>
                  </a:tcPr>
                </a:tc>
              </a:tr>
              <a:tr h="755650">
                <a:tc>
                  <a:txBody>
                    <a:bodyPr wrap="square" lIns="152400" tIns="95250" rIns="152400" bIns="95250">
                      <a:noAutofit/>
                    </a:bodyPr>
                    <a:lstStyle/>
                    <a:p>
                      <a:r>
                        <a:rPr sz="1875" b="1">
                          <a:solidFill>
                            <a:srgbClr val="193646"/>
                          </a:solidFill>
                          <a:latin typeface="DejaVu Sans"/>
                          <a:ea typeface="DejaVu Sans"/>
                          <a:cs typeface="DejaVu Sans"/>
                        </a:rPr>
                        <a:t>PL-039</a:t>
                      </a:r>
                    </a:p>
                  </a:txBody>
                  <a:tcPr marL="91440" marR="91440" marT="45720" marB="45720" anchor="ctr">
                    <a:lnL w="7620">
                      <a:solidFill>
                        <a:srgbClr val="CCDADC"/>
                      </a:solidFill>
                      <a:prstDash val="solid"/>
                    </a:lnL>
                    <a:lnR w="7620">
                      <a:solidFill>
                        <a:srgbClr val="CCDADC"/>
                      </a:solidFill>
                      <a:prstDash val="solid"/>
                    </a:lnR>
                    <a:lnB w="7620">
                      <a:solidFill>
                        <a:srgbClr val="CCDADC"/>
                      </a:solidFill>
                      <a:prstDash val="solid"/>
                    </a:lnB>
                    <a:solidFill>
                      <a:srgbClr val="FFFFFF"/>
                    </a:solidFill>
                  </a:tcPr>
                </a:tc>
                <a:tc>
                  <a:txBody>
                    <a:bodyPr wrap="square" lIns="152400" tIns="95250" rIns="152400" bIns="95250">
                      <a:noAutofit/>
                    </a:bodyPr>
                    <a:lstStyle/>
                    <a:p>
                      <a:r>
                        <a:rPr sz="1875" b="0">
                          <a:solidFill>
                            <a:srgbClr val="193646"/>
                          </a:solidFill>
                          <a:latin typeface="DejaVu Sans"/>
                          <a:ea typeface="DejaVu Sans"/>
                          <a:cs typeface="DejaVu Sans"/>
                        </a:rPr>
                        <a:t>What friction coefficient did</a:t>
                      </a:r>
                    </a:p>
                    <a:p>
                      <a:r>
                        <a:rPr sz="1875" b="0">
                          <a:solidFill>
                            <a:srgbClr val="193646"/>
                          </a:solidFill>
                          <a:latin typeface="DejaVu Sans"/>
                          <a:ea typeface="DejaVu Sans"/>
                          <a:cs typeface="DejaVu Sans"/>
                        </a:rPr>
                        <a:t>we measure for our bench?</a:t>
                      </a:r>
                    </a:p>
                  </a:txBody>
                  <a:tcPr marL="91440" marR="91440" marT="45720" marB="45720" anchor="ctr">
                    <a:lnR w="7620">
                      <a:solidFill>
                        <a:srgbClr val="CCDADC"/>
                      </a:solidFill>
                      <a:prstDash val="solid"/>
                    </a:lnR>
                    <a:lnB w="7620">
                      <a:solidFill>
                        <a:srgbClr val="CCDADC"/>
                      </a:solidFill>
                      <a:prstDash val="solid"/>
                    </a:lnB>
                    <a:solidFill>
                      <a:srgbClr val="FFFFFF"/>
                    </a:solidFill>
                  </a:tcPr>
                </a:tc>
                <a:tc>
                  <a:txBody>
                    <a:bodyPr wrap="square" lIns="152400" tIns="95250" rIns="152400" bIns="95250">
                      <a:noAutofit/>
                    </a:bodyPr>
                    <a:lstStyle/>
                    <a:p>
                      <a:r>
                        <a:rPr sz="1875" b="0">
                          <a:solidFill>
                            <a:srgbClr val="193646"/>
                          </a:solidFill>
                          <a:latin typeface="DejaVu Sans"/>
                          <a:ea typeface="DejaVu Sans"/>
                          <a:cs typeface="DejaVu Sans"/>
                        </a:rPr>
                        <a:t>Not found in the local notes.</a:t>
                      </a:r>
                    </a:p>
                  </a:txBody>
                  <a:tcPr marL="91440" marR="91440" marT="45720" marB="45720" anchor="ctr">
                    <a:lnR w="7620">
                      <a:solidFill>
                        <a:srgbClr val="CCDADC"/>
                      </a:solidFill>
                      <a:prstDash val="solid"/>
                    </a:lnR>
                    <a:lnB w="7620">
                      <a:solidFill>
                        <a:srgbClr val="CCDADC"/>
                      </a:solidFill>
                      <a:prstDash val="solid"/>
                    </a:lnB>
                    <a:solidFill>
                      <a:srgbClr val="FFFFFF"/>
                    </a:solidFill>
                  </a:tcPr>
                </a:tc>
                <a:tc>
                  <a:txBody>
                    <a:bodyPr wrap="square" lIns="152400" tIns="95250" rIns="152400" bIns="95250">
                      <a:noAutofit/>
                    </a:bodyPr>
                    <a:lstStyle/>
                    <a:p>
                      <a:r>
                        <a:rPr sz="1875" b="0">
                          <a:solidFill>
                            <a:srgbClr val="193646"/>
                          </a:solidFill>
                          <a:latin typeface="DejaVu Sans"/>
                          <a:ea typeface="DejaVu Sans"/>
                          <a:cs typeface="DejaVu Sans"/>
                        </a:rPr>
                        <a:t>Unsupported: the corpus</a:t>
                      </a:r>
                    </a:p>
                    <a:p>
                      <a:r>
                        <a:rPr sz="1875" b="0">
                          <a:solidFill>
                            <a:srgbClr val="193646"/>
                          </a:solidFill>
                          <a:latin typeface="DejaVu Sans"/>
                          <a:ea typeface="DejaVu Sans"/>
                          <a:cs typeface="DejaVu Sans"/>
                        </a:rPr>
                        <a:t>has no lab measurements.</a:t>
                      </a:r>
                    </a:p>
                  </a:txBody>
                  <a:tcPr marL="91440" marR="91440" marT="45720" marB="45720" anchor="ctr">
                    <a:lnR w="7620">
                      <a:solidFill>
                        <a:srgbClr val="CCDADC"/>
                      </a:solidFill>
                      <a:prstDash val="solid"/>
                    </a:lnR>
                    <a:lnB w="7620">
                      <a:solidFill>
                        <a:srgbClr val="CCDADC"/>
                      </a:solidFill>
                      <a:prstDash val="solid"/>
                    </a:lnB>
                    <a:solidFill>
                      <a:srgbClr val="FFFFFF"/>
                    </a:solidFill>
                  </a:tcPr>
                </a:tc>
              </a:tr>
            </a:tbl>
          </a:graphicData>
        </a:graphic>
      </p:graphicFrame>
      <p:sp>
        <p:nvSpPr>
          <p:cNvPr id="6" name="gold-record-fields">
            <a:extLst xmlns:a="http://schemas.openxmlformats.org/drawingml/2006/main">
              <a:ext uri="{FF2B5EF4-FFF2-40B4-BE49-F238E27FC236}">
                <a16:creationId xmlns:a16="http://schemas.microsoft.com/office/drawing/2014/main" id="{8290446A-7E5F-4DC4-8F2F-02E45F287B4C}"/>
              </a:ext>
            </a:extLst>
          </p:cNvPr>
          <p:cNvSpPr>
            <a:spLocks xmlns:a="http://schemas.openxmlformats.org/drawingml/2006/main" noGrp="1"/>
          </p:cNvSpPr>
          <p:nvPr/>
        </p:nvSpPr>
        <p:spPr>
          <a:xfrm xmlns:a="http://schemas.openxmlformats.org/drawingml/2006/main">
            <a:off x="762000" y="6191250"/>
            <a:ext cx="13620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193646"/>
                </a:solidFill>
                <a:latin typeface="DejaVu Sans"/>
                <a:ea typeface="DejaVu Sans"/>
                <a:cs typeface="DejaVu Sans"/>
              </a:defRPr>
            </a:defPPr>
            <a:lvl1pPr>
              <a:defRPr sz="2025" b="0">
                <a:solidFill>
                  <a:srgbClr val="193646"/>
                </a:solidFill>
                <a:latin typeface="DejaVu Sans"/>
                <a:ea typeface="DejaVu Sans"/>
                <a:cs typeface="DejaVu Sans"/>
              </a:defRPr>
            </a:lvl1pPr>
            <a:lvl2pPr>
              <a:defRPr sz="2025" b="0">
                <a:solidFill>
                  <a:srgbClr val="193646"/>
                </a:solidFill>
                <a:latin typeface="DejaVu Sans"/>
                <a:ea typeface="DejaVu Sans"/>
                <a:cs typeface="DejaVu Sans"/>
              </a:defRPr>
            </a:lvl2pPr>
            <a:lvl3pPr>
              <a:defRPr sz="2025" b="0">
                <a:solidFill>
                  <a:srgbClr val="193646"/>
                </a:solidFill>
                <a:latin typeface="DejaVu Sans"/>
                <a:ea typeface="DejaVu Sans"/>
                <a:cs typeface="DejaVu Sans"/>
              </a:defRPr>
            </a:lvl3pPr>
            <a:lvl4pPr>
              <a:defRPr sz="2025" b="0">
                <a:solidFill>
                  <a:srgbClr val="193646"/>
                </a:solidFill>
                <a:latin typeface="DejaVu Sans"/>
                <a:ea typeface="DejaVu Sans"/>
                <a:cs typeface="DejaVu Sans"/>
              </a:defRPr>
            </a:lvl4pPr>
            <a:lvl5pPr>
              <a:defRPr sz="2025" b="0">
                <a:solidFill>
                  <a:srgbClr val="193646"/>
                </a:solidFill>
                <a:latin typeface="DejaVu Sans"/>
                <a:ea typeface="DejaVu Sans"/>
                <a:cs typeface="DejaVu Sans"/>
              </a:defRPr>
            </a:lvl5pPr>
            <a:lvl6pPr>
              <a:defRPr sz="2025" b="0">
                <a:solidFill>
                  <a:srgbClr val="193646"/>
                </a:solidFill>
                <a:latin typeface="DejaVu Sans"/>
                <a:ea typeface="DejaVu Sans"/>
                <a:cs typeface="DejaVu Sans"/>
              </a:defRPr>
            </a:lvl6pPr>
            <a:lvl7pPr>
              <a:defRPr sz="2025" b="0">
                <a:solidFill>
                  <a:srgbClr val="193646"/>
                </a:solidFill>
                <a:latin typeface="DejaVu Sans"/>
                <a:ea typeface="DejaVu Sans"/>
                <a:cs typeface="DejaVu Sans"/>
              </a:defRPr>
            </a:lvl7pPr>
            <a:lvl8pPr>
              <a:defRPr sz="2025" b="0">
                <a:solidFill>
                  <a:srgbClr val="193646"/>
                </a:solidFill>
                <a:latin typeface="DejaVu Sans"/>
                <a:ea typeface="DejaVu Sans"/>
                <a:cs typeface="DejaVu Sans"/>
              </a:defRPr>
            </a:lvl8pPr>
            <a:lvl9pPr>
              <a:defRPr sz="2025" b="0">
                <a:solidFill>
                  <a:srgbClr val="193646"/>
                </a:solidFill>
                <a:latin typeface="DejaVu Sans"/>
                <a:ea typeface="DejaVu Sans"/>
                <a:cs typeface="DejaVu Sans"/>
              </a:defRPr>
            </a:lvl9pPr>
          </a:lstStyle>
          <a:p xmlns:a="http://schemas.openxmlformats.org/drawingml/2006/main">
            <a:pPr>
              <a:defRPr sz="2025" b="0">
                <a:solidFill>
                  <a:srgbClr val="193646"/>
                </a:solidFill>
                <a:latin typeface="DejaVu Sans"/>
                <a:ea typeface="DejaVu Sans"/>
                <a:cs typeface="DejaVu Sans"/>
              </a:defRPr>
            </a:pPr>
            <a:r>
              <a:rPr sz="2025" b="0">
                <a:solidFill>
                  <a:srgbClr val="193646"/>
                </a:solidFill>
                <a:latin typeface="DejaVu Sans"/>
                <a:ea typeface="DejaVu Sans"/>
                <a:cs typeface="DejaVu Sans"/>
              </a:rPr>
              <a:t>Each record contains a reference answer, required key points, source page, answerability label and split.</a:t>
            </a:r>
          </a:p>
        </p:txBody>
      </p:sp>
      <p:sp>
        <p:nvSpPr>
          <p:cNvPr id="7" name="gold-review">
            <a:extLst xmlns:a="http://schemas.openxmlformats.org/drawingml/2006/main">
              <a:ext uri="{FF2B5EF4-FFF2-40B4-BE49-F238E27FC236}">
                <a16:creationId xmlns:a16="http://schemas.microsoft.com/office/drawing/2014/main" id="{9E1311E6-C5E8-48AE-B5B0-CAAE101D15B7}"/>
              </a:ext>
            </a:extLst>
          </p:cNvPr>
          <p:cNvSpPr>
            <a:spLocks xmlns:a="http://schemas.openxmlformats.org/drawingml/2006/main" noGrp="1"/>
          </p:cNvSpPr>
          <p:nvPr/>
        </p:nvSpPr>
        <p:spPr>
          <a:xfrm xmlns:a="http://schemas.openxmlformats.org/drawingml/2006/main">
            <a:off x="762000" y="6972300"/>
            <a:ext cx="13525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1">
                <a:solidFill>
                  <a:srgbClr val="007D78"/>
                </a:solidFill>
                <a:latin typeface="DejaVu Sans"/>
                <a:ea typeface="DejaVu Sans"/>
                <a:cs typeface="DejaVu Sans"/>
              </a:defRPr>
            </a:defPPr>
            <a:lvl1pPr>
              <a:defRPr sz="1875" b="1">
                <a:solidFill>
                  <a:srgbClr val="007D78"/>
                </a:solidFill>
                <a:latin typeface="DejaVu Sans"/>
                <a:ea typeface="DejaVu Sans"/>
                <a:cs typeface="DejaVu Sans"/>
              </a:defRPr>
            </a:lvl1pPr>
            <a:lvl2pPr>
              <a:defRPr sz="1875" b="1">
                <a:solidFill>
                  <a:srgbClr val="007D78"/>
                </a:solidFill>
                <a:latin typeface="DejaVu Sans"/>
                <a:ea typeface="DejaVu Sans"/>
                <a:cs typeface="DejaVu Sans"/>
              </a:defRPr>
            </a:lvl2pPr>
            <a:lvl3pPr>
              <a:defRPr sz="1875" b="1">
                <a:solidFill>
                  <a:srgbClr val="007D78"/>
                </a:solidFill>
                <a:latin typeface="DejaVu Sans"/>
                <a:ea typeface="DejaVu Sans"/>
                <a:cs typeface="DejaVu Sans"/>
              </a:defRPr>
            </a:lvl3pPr>
            <a:lvl4pPr>
              <a:defRPr sz="1875" b="1">
                <a:solidFill>
                  <a:srgbClr val="007D78"/>
                </a:solidFill>
                <a:latin typeface="DejaVu Sans"/>
                <a:ea typeface="DejaVu Sans"/>
                <a:cs typeface="DejaVu Sans"/>
              </a:defRPr>
            </a:lvl4pPr>
            <a:lvl5pPr>
              <a:defRPr sz="1875" b="1">
                <a:solidFill>
                  <a:srgbClr val="007D78"/>
                </a:solidFill>
                <a:latin typeface="DejaVu Sans"/>
                <a:ea typeface="DejaVu Sans"/>
                <a:cs typeface="DejaVu Sans"/>
              </a:defRPr>
            </a:lvl5pPr>
            <a:lvl6pPr>
              <a:defRPr sz="1875" b="1">
                <a:solidFill>
                  <a:srgbClr val="007D78"/>
                </a:solidFill>
                <a:latin typeface="DejaVu Sans"/>
                <a:ea typeface="DejaVu Sans"/>
                <a:cs typeface="DejaVu Sans"/>
              </a:defRPr>
            </a:lvl6pPr>
            <a:lvl7pPr>
              <a:defRPr sz="1875" b="1">
                <a:solidFill>
                  <a:srgbClr val="007D78"/>
                </a:solidFill>
                <a:latin typeface="DejaVu Sans"/>
                <a:ea typeface="DejaVu Sans"/>
                <a:cs typeface="DejaVu Sans"/>
              </a:defRPr>
            </a:lvl7pPr>
            <a:lvl8pPr>
              <a:defRPr sz="1875" b="1">
                <a:solidFill>
                  <a:srgbClr val="007D78"/>
                </a:solidFill>
                <a:latin typeface="DejaVu Sans"/>
                <a:ea typeface="DejaVu Sans"/>
                <a:cs typeface="DejaVu Sans"/>
              </a:defRPr>
            </a:lvl8pPr>
            <a:lvl9pPr>
              <a:defRPr sz="1875" b="1">
                <a:solidFill>
                  <a:srgbClr val="007D78"/>
                </a:solidFill>
                <a:latin typeface="DejaVu Sans"/>
                <a:ea typeface="DejaVu Sans"/>
                <a:cs typeface="DejaVu Sans"/>
              </a:defRPr>
            </a:lvl9pPr>
          </a:lstStyle>
          <a:p xmlns:a="http://schemas.openxmlformats.org/drawingml/2006/main">
            <a:pPr>
              <a:defRPr sz="1875" b="1">
                <a:solidFill>
                  <a:srgbClr val="007D78"/>
                </a:solidFill>
                <a:latin typeface="DejaVu Sans"/>
                <a:ea typeface="DejaVu Sans"/>
                <a:cs typeface="DejaVu Sans"/>
              </a:defRPr>
            </a:pPr>
            <a:r>
              <a:rPr sz="1875" b="1">
                <a:solidFill>
                  <a:srgbClr val="007D78"/>
                </a:solidFill>
                <a:latin typeface="DejaVu Sans"/>
                <a:ea typeface="DejaVu Sans"/>
                <a:cs typeface="DejaVu Sans"/>
              </a:rPr>
              <a:t>Before freezing: both members verify the key points and map supporting spans to actual chunk IDs.</a:t>
            </a:r>
          </a:p>
        </p:txBody>
      </p:sp>
      <p:sp>
        <p:nvSpPr>
          <p:cNvPr id="8" name="context-note">
            <a:extLst xmlns:a="http://schemas.openxmlformats.org/drawingml/2006/main">
              <a:ext uri="{FF2B5EF4-FFF2-40B4-BE49-F238E27FC236}">
                <a16:creationId xmlns:a16="http://schemas.microsoft.com/office/drawing/2014/main" id="{B2B36521-4387-4E82-A457-57597BAED833}"/>
              </a:ext>
            </a:extLst>
          </p:cNvPr>
          <p:cNvSpPr>
            <a:spLocks xmlns:a="http://schemas.openxmlformats.org/drawingml/2006/main" noGrp="1"/>
          </p:cNvSpPr>
          <p:nvPr/>
        </p:nvSpPr>
        <p:spPr>
          <a:xfrm xmlns:a="http://schemas.openxmlformats.org/drawingml/2006/main">
            <a:off x="762000" y="7458075"/>
            <a:ext cx="13049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0">
                <a:solidFill>
                  <a:srgbClr val="526975"/>
                </a:solidFill>
                <a:latin typeface="DejaVu Sans"/>
                <a:ea typeface="DejaVu Sans"/>
                <a:cs typeface="DejaVu Sans"/>
              </a:defRPr>
            </a:defPPr>
            <a:lvl1pPr>
              <a:defRPr sz="1575" b="0">
                <a:solidFill>
                  <a:srgbClr val="526975"/>
                </a:solidFill>
                <a:latin typeface="DejaVu Sans"/>
                <a:ea typeface="DejaVu Sans"/>
                <a:cs typeface="DejaVu Sans"/>
              </a:defRPr>
            </a:lvl1pPr>
            <a:lvl2pPr>
              <a:defRPr sz="1575" b="0">
                <a:solidFill>
                  <a:srgbClr val="526975"/>
                </a:solidFill>
                <a:latin typeface="DejaVu Sans"/>
                <a:ea typeface="DejaVu Sans"/>
                <a:cs typeface="DejaVu Sans"/>
              </a:defRPr>
            </a:lvl2pPr>
            <a:lvl3pPr>
              <a:defRPr sz="1575" b="0">
                <a:solidFill>
                  <a:srgbClr val="526975"/>
                </a:solidFill>
                <a:latin typeface="DejaVu Sans"/>
                <a:ea typeface="DejaVu Sans"/>
                <a:cs typeface="DejaVu Sans"/>
              </a:defRPr>
            </a:lvl3pPr>
            <a:lvl4pPr>
              <a:defRPr sz="1575" b="0">
                <a:solidFill>
                  <a:srgbClr val="526975"/>
                </a:solidFill>
                <a:latin typeface="DejaVu Sans"/>
                <a:ea typeface="DejaVu Sans"/>
                <a:cs typeface="DejaVu Sans"/>
              </a:defRPr>
            </a:lvl4pPr>
            <a:lvl5pPr>
              <a:defRPr sz="1575" b="0">
                <a:solidFill>
                  <a:srgbClr val="526975"/>
                </a:solidFill>
                <a:latin typeface="DejaVu Sans"/>
                <a:ea typeface="DejaVu Sans"/>
                <a:cs typeface="DejaVu Sans"/>
              </a:defRPr>
            </a:lvl5pPr>
            <a:lvl6pPr>
              <a:defRPr sz="1575" b="0">
                <a:solidFill>
                  <a:srgbClr val="526975"/>
                </a:solidFill>
                <a:latin typeface="DejaVu Sans"/>
                <a:ea typeface="DejaVu Sans"/>
                <a:cs typeface="DejaVu Sans"/>
              </a:defRPr>
            </a:lvl6pPr>
            <a:lvl7pPr>
              <a:defRPr sz="1575" b="0">
                <a:solidFill>
                  <a:srgbClr val="526975"/>
                </a:solidFill>
                <a:latin typeface="DejaVu Sans"/>
                <a:ea typeface="DejaVu Sans"/>
                <a:cs typeface="DejaVu Sans"/>
              </a:defRPr>
            </a:lvl7pPr>
            <a:lvl8pPr>
              <a:defRPr sz="1575" b="0">
                <a:solidFill>
                  <a:srgbClr val="526975"/>
                </a:solidFill>
                <a:latin typeface="DejaVu Sans"/>
                <a:ea typeface="DejaVu Sans"/>
                <a:cs typeface="DejaVu Sans"/>
              </a:defRPr>
            </a:lvl8pPr>
            <a:lvl9pPr>
              <a:defRPr sz="1575" b="0">
                <a:solidFill>
                  <a:srgbClr val="526975"/>
                </a:solidFill>
                <a:latin typeface="DejaVu Sans"/>
                <a:ea typeface="DejaVu Sans"/>
                <a:cs typeface="DejaVu Sans"/>
              </a:defRPr>
            </a:lvl9pPr>
          </a:lstStyle>
          <a:p xmlns:a="http://schemas.openxmlformats.org/drawingml/2006/main">
            <a:pPr>
              <a:defRPr sz="1575" b="0">
                <a:solidFill>
                  <a:srgbClr val="526975"/>
                </a:solidFill>
                <a:latin typeface="DejaVu Sans"/>
                <a:ea typeface="DejaVu Sans"/>
                <a:cs typeface="DejaVu Sans"/>
              </a:defRPr>
            </a:pPr>
            <a:r>
              <a:rPr sz="1575" b="0">
                <a:solidFill>
                  <a:srgbClr val="526975"/>
                </a:solidFill>
                <a:latin typeface="DejaVu Sans"/>
                <a:ea typeface="DejaVu Sans"/>
                <a:cs typeface="DejaVu Sans"/>
              </a:rPr>
              <a:t>The supplied starter set has source checks. Group sign-off and final chunk mapping remain part of implementation.</a:t>
            </a:r>
          </a:p>
        </p:txBody>
      </p:sp>
    </p:spTree>
    <p:extLst>
      <p:ext uri="{BB962C8B-B14F-4D97-AF65-F5344CB8AC3E}">
        <p14:creationId xmlns:p14="http://schemas.microsoft.com/office/powerpoint/2010/main" val="159282870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9ADD0740-4543-4982-A5FB-8C1D9F43F96F}"/>
              </a:ext>
            </a:extLst>
          </p:cNvPr>
          <p:cNvSpPr>
            <a:spLocks xmlns:a="http://schemas.openxmlformats.org/drawingml/2006/main" noGrp="1"/>
          </p:cNvSpPr>
          <p:nvPr/>
        </p:nvSpPr>
        <p:spPr>
          <a:xfrm xmlns:a="http://schemas.openxmlformats.org/drawingml/2006/main">
            <a:off x="762000" y="571500"/>
            <a:ext cx="13620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450" b="1">
                <a:solidFill>
                  <a:srgbClr val="102B3A"/>
                </a:solidFill>
                <a:latin typeface="DejaVu Sans"/>
                <a:ea typeface="DejaVu Sans"/>
                <a:cs typeface="DejaVu Sans"/>
              </a:defRPr>
            </a:defPPr>
            <a:lvl1pPr>
              <a:buNone/>
              <a:defRPr sz="3450" b="1">
                <a:solidFill>
                  <a:srgbClr val="102B3A"/>
                </a:solidFill>
                <a:latin typeface="DejaVu Sans"/>
                <a:ea typeface="DejaVu Sans"/>
                <a:cs typeface="DejaVu Sans"/>
              </a:defRPr>
            </a:lvl1pPr>
            <a:lvl2pPr>
              <a:buNone/>
              <a:defRPr sz="3450" b="1">
                <a:solidFill>
                  <a:srgbClr val="102B3A"/>
                </a:solidFill>
                <a:latin typeface="DejaVu Sans"/>
                <a:ea typeface="DejaVu Sans"/>
                <a:cs typeface="DejaVu Sans"/>
              </a:defRPr>
            </a:lvl2pPr>
            <a:lvl3pPr>
              <a:buNone/>
              <a:defRPr sz="3450" b="1">
                <a:solidFill>
                  <a:srgbClr val="102B3A"/>
                </a:solidFill>
                <a:latin typeface="DejaVu Sans"/>
                <a:ea typeface="DejaVu Sans"/>
                <a:cs typeface="DejaVu Sans"/>
              </a:defRPr>
            </a:lvl3pPr>
            <a:lvl4pPr>
              <a:buNone/>
              <a:defRPr sz="3450" b="1">
                <a:solidFill>
                  <a:srgbClr val="102B3A"/>
                </a:solidFill>
                <a:latin typeface="DejaVu Sans"/>
                <a:ea typeface="DejaVu Sans"/>
                <a:cs typeface="DejaVu Sans"/>
              </a:defRPr>
            </a:lvl4pPr>
            <a:lvl5pPr>
              <a:buNone/>
              <a:defRPr sz="3450" b="1">
                <a:solidFill>
                  <a:srgbClr val="102B3A"/>
                </a:solidFill>
                <a:latin typeface="DejaVu Sans"/>
                <a:ea typeface="DejaVu Sans"/>
                <a:cs typeface="DejaVu Sans"/>
              </a:defRPr>
            </a:lvl5pPr>
            <a:lvl6pPr>
              <a:buNone/>
              <a:defRPr sz="3450" b="1">
                <a:solidFill>
                  <a:srgbClr val="102B3A"/>
                </a:solidFill>
                <a:latin typeface="DejaVu Sans"/>
                <a:ea typeface="DejaVu Sans"/>
                <a:cs typeface="DejaVu Sans"/>
              </a:defRPr>
            </a:lvl6pPr>
            <a:lvl7pPr>
              <a:buNone/>
              <a:defRPr sz="3450" b="1">
                <a:solidFill>
                  <a:srgbClr val="102B3A"/>
                </a:solidFill>
                <a:latin typeface="DejaVu Sans"/>
                <a:ea typeface="DejaVu Sans"/>
                <a:cs typeface="DejaVu Sans"/>
              </a:defRPr>
            </a:lvl7pPr>
            <a:lvl8pPr>
              <a:buNone/>
              <a:defRPr sz="3450" b="1">
                <a:solidFill>
                  <a:srgbClr val="102B3A"/>
                </a:solidFill>
                <a:latin typeface="DejaVu Sans"/>
                <a:ea typeface="DejaVu Sans"/>
                <a:cs typeface="DejaVu Sans"/>
              </a:defRPr>
            </a:lvl8pPr>
            <a:lvl9pPr>
              <a:buNone/>
              <a:defRPr sz="3450" b="1">
                <a:solidFill>
                  <a:srgbClr val="102B3A"/>
                </a:solidFill>
                <a:latin typeface="DejaVu Sans"/>
                <a:ea typeface="DejaVu Sans"/>
                <a:cs typeface="DejaVu Sans"/>
              </a:defRPr>
            </a:lvl9pPr>
          </a:lstStyle>
          <a:p xmlns:a="http://schemas.openxmlformats.org/drawingml/2006/main">
            <a:pPr>
              <a:buNone/>
              <a:defRPr sz="3450" b="1">
                <a:solidFill>
                  <a:srgbClr val="102B3A"/>
                </a:solidFill>
                <a:latin typeface="DejaVu Sans"/>
                <a:ea typeface="DejaVu Sans"/>
                <a:cs typeface="DejaVu Sans"/>
              </a:defRPr>
            </a:pPr>
            <a:r>
              <a:rPr sz="3450" b="1">
                <a:solidFill>
                  <a:srgbClr val="102B3A"/>
                </a:solidFill>
                <a:latin typeface="DejaVu Sans"/>
                <a:ea typeface="DejaVu Sans"/>
                <a:cs typeface="DejaVu Sans"/>
              </a:rPr>
              <a:t>Comparison metrics: retrieval and correctness</a:t>
            </a:r>
          </a:p>
        </p:txBody>
      </p:sp>
      <p:sp>
        <p:nvSpPr>
          <p:cNvPr id="2" name="slide-number">
            <a:extLst xmlns:a="http://schemas.openxmlformats.org/drawingml/2006/main">
              <a:ext uri="{FF2B5EF4-FFF2-40B4-BE49-F238E27FC236}">
                <a16:creationId xmlns:a16="http://schemas.microsoft.com/office/drawing/2014/main" id="{C2117D7A-4056-472F-BADC-ABD6DBD944A5}"/>
              </a:ext>
            </a:extLst>
          </p:cNvPr>
          <p:cNvSpPr>
            <a:spLocks xmlns:a="http://schemas.openxmlformats.org/drawingml/2006/main" noGrp="1"/>
          </p:cNvSpPr>
          <p:nvPr/>
        </p:nvSpPr>
        <p:spPr>
          <a:xfrm xmlns:a="http://schemas.openxmlformats.org/drawingml/2006/main">
            <a:off x="13906500" y="795337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0">
                <a:solidFill>
                  <a:srgbClr val="526975"/>
                </a:solidFill>
                <a:latin typeface="DejaVu Sans"/>
                <a:ea typeface="DejaVu Sans"/>
                <a:cs typeface="DejaVu Sans"/>
              </a:defRPr>
            </a:defPPr>
            <a:lvl1pPr>
              <a:buNone/>
              <a:defRPr sz="1575" b="0">
                <a:solidFill>
                  <a:srgbClr val="526975"/>
                </a:solidFill>
                <a:latin typeface="DejaVu Sans"/>
                <a:ea typeface="DejaVu Sans"/>
                <a:cs typeface="DejaVu Sans"/>
              </a:defRPr>
            </a:lvl1pPr>
            <a:lvl2pPr>
              <a:buNone/>
              <a:defRPr sz="1575" b="0">
                <a:solidFill>
                  <a:srgbClr val="526975"/>
                </a:solidFill>
                <a:latin typeface="DejaVu Sans"/>
                <a:ea typeface="DejaVu Sans"/>
                <a:cs typeface="DejaVu Sans"/>
              </a:defRPr>
            </a:lvl2pPr>
            <a:lvl3pPr>
              <a:buNone/>
              <a:defRPr sz="1575" b="0">
                <a:solidFill>
                  <a:srgbClr val="526975"/>
                </a:solidFill>
                <a:latin typeface="DejaVu Sans"/>
                <a:ea typeface="DejaVu Sans"/>
                <a:cs typeface="DejaVu Sans"/>
              </a:defRPr>
            </a:lvl3pPr>
            <a:lvl4pPr>
              <a:buNone/>
              <a:defRPr sz="1575" b="0">
                <a:solidFill>
                  <a:srgbClr val="526975"/>
                </a:solidFill>
                <a:latin typeface="DejaVu Sans"/>
                <a:ea typeface="DejaVu Sans"/>
                <a:cs typeface="DejaVu Sans"/>
              </a:defRPr>
            </a:lvl4pPr>
            <a:lvl5pPr>
              <a:buNone/>
              <a:defRPr sz="1575" b="0">
                <a:solidFill>
                  <a:srgbClr val="526975"/>
                </a:solidFill>
                <a:latin typeface="DejaVu Sans"/>
                <a:ea typeface="DejaVu Sans"/>
                <a:cs typeface="DejaVu Sans"/>
              </a:defRPr>
            </a:lvl5pPr>
            <a:lvl6pPr>
              <a:buNone/>
              <a:defRPr sz="1575" b="0">
                <a:solidFill>
                  <a:srgbClr val="526975"/>
                </a:solidFill>
                <a:latin typeface="DejaVu Sans"/>
                <a:ea typeface="DejaVu Sans"/>
                <a:cs typeface="DejaVu Sans"/>
              </a:defRPr>
            </a:lvl6pPr>
            <a:lvl7pPr>
              <a:buNone/>
              <a:defRPr sz="1575" b="0">
                <a:solidFill>
                  <a:srgbClr val="526975"/>
                </a:solidFill>
                <a:latin typeface="DejaVu Sans"/>
                <a:ea typeface="DejaVu Sans"/>
                <a:cs typeface="DejaVu Sans"/>
              </a:defRPr>
            </a:lvl7pPr>
            <a:lvl8pPr>
              <a:buNone/>
              <a:defRPr sz="1575" b="0">
                <a:solidFill>
                  <a:srgbClr val="526975"/>
                </a:solidFill>
                <a:latin typeface="DejaVu Sans"/>
                <a:ea typeface="DejaVu Sans"/>
                <a:cs typeface="DejaVu Sans"/>
              </a:defRPr>
            </a:lvl8pPr>
            <a:lvl9pPr>
              <a:buNone/>
              <a:defRPr sz="1575" b="0">
                <a:solidFill>
                  <a:srgbClr val="526975"/>
                </a:solidFill>
                <a:latin typeface="DejaVu Sans"/>
                <a:ea typeface="DejaVu Sans"/>
                <a:cs typeface="DejaVu Sans"/>
              </a:defRPr>
            </a:lvl9pPr>
          </a:lstStyle>
          <a:p xmlns:a="http://schemas.openxmlformats.org/drawingml/2006/main">
            <a:pPr>
              <a:buNone/>
              <a:defRPr sz="1575" b="0">
                <a:solidFill>
                  <a:srgbClr val="526975"/>
                </a:solidFill>
                <a:latin typeface="DejaVu Sans"/>
                <a:ea typeface="DejaVu Sans"/>
                <a:cs typeface="DejaVu Sans"/>
              </a:defRPr>
            </a:pPr>
            <a:r>
              <a:rPr sz="1575" b="0">
                <a:solidFill>
                  <a:srgbClr val="526975"/>
                </a:solidFill>
                <a:latin typeface="DejaVu Sans"/>
                <a:ea typeface="DejaVu Sans"/>
                <a:cs typeface="DejaVu Sans"/>
              </a:rPr>
              <a:t>09</a:t>
            </a:r>
          </a:p>
        </p:txBody>
      </p:sp>
      <p:sp>
        <p:nvSpPr>
          <p:cNvPr id="3" name="experiment-design">
            <a:extLst xmlns:a="http://schemas.openxmlformats.org/drawingml/2006/main">
              <a:ext uri="{FF2B5EF4-FFF2-40B4-BE49-F238E27FC236}">
                <a16:creationId xmlns:a16="http://schemas.microsoft.com/office/drawing/2014/main" id="{4D490B2B-CFF7-4EF4-9B0F-BFC70BE7FD33}"/>
              </a:ext>
            </a:extLst>
          </p:cNvPr>
          <p:cNvSpPr>
            <a:spLocks xmlns:a="http://schemas.openxmlformats.org/drawingml/2006/main" noGrp="1"/>
          </p:cNvSpPr>
          <p:nvPr/>
        </p:nvSpPr>
        <p:spPr>
          <a:xfrm xmlns:a="http://schemas.openxmlformats.org/drawingml/2006/main">
            <a:off x="762000" y="1628775"/>
            <a:ext cx="13716000" cy="942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325" b="1">
                <a:solidFill>
                  <a:srgbClr val="102B3A"/>
                </a:solidFill>
                <a:latin typeface="DejaVu Sans"/>
                <a:ea typeface="DejaVu Sans"/>
                <a:cs typeface="DejaVu Sans"/>
              </a:defRPr>
            </a:defPPr>
            <a:lvl1pPr>
              <a:buNone/>
              <a:defRPr sz="2325" b="1">
                <a:solidFill>
                  <a:srgbClr val="102B3A"/>
                </a:solidFill>
                <a:latin typeface="DejaVu Sans"/>
                <a:ea typeface="DejaVu Sans"/>
                <a:cs typeface="DejaVu Sans"/>
              </a:defRPr>
            </a:lvl1pPr>
            <a:lvl2pPr>
              <a:buNone/>
              <a:defRPr sz="2325" b="1">
                <a:solidFill>
                  <a:srgbClr val="102B3A"/>
                </a:solidFill>
                <a:latin typeface="DejaVu Sans"/>
                <a:ea typeface="DejaVu Sans"/>
                <a:cs typeface="DejaVu Sans"/>
              </a:defRPr>
            </a:lvl2pPr>
            <a:lvl3pPr>
              <a:buNone/>
              <a:defRPr sz="2325" b="1">
                <a:solidFill>
                  <a:srgbClr val="102B3A"/>
                </a:solidFill>
                <a:latin typeface="DejaVu Sans"/>
                <a:ea typeface="DejaVu Sans"/>
                <a:cs typeface="DejaVu Sans"/>
              </a:defRPr>
            </a:lvl3pPr>
            <a:lvl4pPr>
              <a:buNone/>
              <a:defRPr sz="2325" b="1">
                <a:solidFill>
                  <a:srgbClr val="102B3A"/>
                </a:solidFill>
                <a:latin typeface="DejaVu Sans"/>
                <a:ea typeface="DejaVu Sans"/>
                <a:cs typeface="DejaVu Sans"/>
              </a:defRPr>
            </a:lvl4pPr>
            <a:lvl5pPr>
              <a:buNone/>
              <a:defRPr sz="2325" b="1">
                <a:solidFill>
                  <a:srgbClr val="102B3A"/>
                </a:solidFill>
                <a:latin typeface="DejaVu Sans"/>
                <a:ea typeface="DejaVu Sans"/>
                <a:cs typeface="DejaVu Sans"/>
              </a:defRPr>
            </a:lvl5pPr>
            <a:lvl6pPr>
              <a:buNone/>
              <a:defRPr sz="2325" b="1">
                <a:solidFill>
                  <a:srgbClr val="102B3A"/>
                </a:solidFill>
                <a:latin typeface="DejaVu Sans"/>
                <a:ea typeface="DejaVu Sans"/>
                <a:cs typeface="DejaVu Sans"/>
              </a:defRPr>
            </a:lvl6pPr>
            <a:lvl7pPr>
              <a:buNone/>
              <a:defRPr sz="2325" b="1">
                <a:solidFill>
                  <a:srgbClr val="102B3A"/>
                </a:solidFill>
                <a:latin typeface="DejaVu Sans"/>
                <a:ea typeface="DejaVu Sans"/>
                <a:cs typeface="DejaVu Sans"/>
              </a:defRPr>
            </a:lvl7pPr>
            <a:lvl8pPr>
              <a:buNone/>
              <a:defRPr sz="2325" b="1">
                <a:solidFill>
                  <a:srgbClr val="102B3A"/>
                </a:solidFill>
                <a:latin typeface="DejaVu Sans"/>
                <a:ea typeface="DejaVu Sans"/>
                <a:cs typeface="DejaVu Sans"/>
              </a:defRPr>
            </a:lvl8pPr>
            <a:lvl9pPr>
              <a:buNone/>
              <a:defRPr sz="2325" b="1">
                <a:solidFill>
                  <a:srgbClr val="102B3A"/>
                </a:solidFill>
                <a:latin typeface="DejaVu Sans"/>
                <a:ea typeface="DejaVu Sans"/>
                <a:cs typeface="DejaVu Sans"/>
              </a:defRPr>
            </a:lvl9pPr>
          </a:lstStyle>
          <a:p xmlns:a="http://schemas.openxmlformats.org/drawingml/2006/main">
            <a:pPr>
              <a:buNone/>
              <a:defRPr sz="2325" b="1">
                <a:solidFill>
                  <a:srgbClr val="102B3A"/>
                </a:solidFill>
                <a:latin typeface="DejaVu Sans"/>
                <a:ea typeface="DejaVu Sans"/>
                <a:cs typeface="DejaVu Sans"/>
              </a:defRPr>
            </a:pPr>
            <a:r>
              <a:rPr sz="2325" b="1">
                <a:solidFill>
                  <a:srgbClr val="102B3A"/>
                </a:solidFill>
                <a:latin typeface="DejaVu Sans"/>
                <a:ea typeface="DejaVu Sans"/>
                <a:cs typeface="DejaVu Sans"/>
              </a:rPr>
              <a:t>7 settings: no retrieval + k = 1, 3, 5 for each fusion method</a:t>
            </a:r>
          </a:p>
          <a:p xmlns:a="http://schemas.openxmlformats.org/drawingml/2006/main">
            <a:pPr>
              <a:buNone/>
              <a:defRPr sz="2325" b="1">
                <a:solidFill>
                  <a:srgbClr val="102B3A"/>
                </a:solidFill>
                <a:latin typeface="DejaVu Sans"/>
                <a:ea typeface="DejaVu Sans"/>
                <a:cs typeface="DejaVu Sans"/>
              </a:defRPr>
            </a:pPr>
            <a:r>
              <a:rPr sz="2325" b="1">
                <a:solidFill>
                  <a:srgbClr val="102B3A"/>
                </a:solidFill>
                <a:latin typeface="DejaVu Sans"/>
                <a:ea typeface="DejaVu Sans"/>
                <a:cs typeface="DejaVu Sans"/>
              </a:rPr>
              <a:t>Use the same 30 test questions, models and budgets in every run</a:t>
            </a:r>
          </a:p>
        </p:txBody>
      </p:sp>
      <p:graphicFrame>
        <p:nvGraphicFramePr>
          <p:cNvPr id="4" name="">
            <a:extLst xmlns:a="http://schemas.openxmlformats.org/drawingml/2006/main">
              <a:ext uri="{FF2B5EF4-FFF2-40B4-BE49-F238E27FC236}">
                <a16:creationId xmlns:a16="http://schemas.microsoft.com/office/drawing/2014/main" id="{DF8F3335-7BC5-4A8C-955E-B1B31BC9D248}"/>
              </a:ext>
            </a:extLst>
          </p:cNvPr>
          <p:cNvGraphicFramePr/>
          <p:nvPr/>
        </p:nvGraphicFramePr>
        <p:xfrm>
          <a:off xmlns:a="http://schemas.openxmlformats.org/drawingml/2006/main" x="762000" y="2981325"/>
          <a:ext xmlns:a="http://schemas.openxmlformats.org/drawingml/2006/main" cx="13716000" cy="3886200"/>
        </p:xfrm>
        <a:graphic xmlns:a="http://schemas.openxmlformats.org/drawingml/2006/main">
          <a:graphicData uri="http://schemas.openxmlformats.org/drawingml/2006/table">
            <a:tbl>
              <a:tblPr firstRow="1" bandRow="0"/>
              <a:tblGrid>
                <a:gridCol w="2857500"/>
                <a:gridCol w="5048250"/>
                <a:gridCol w="5810250"/>
              </a:tblGrid>
              <a:tr h="590550">
                <a:tc>
                  <a:txBody>
                    <a:bodyPr wrap="square" lIns="152400" tIns="95250" rIns="152400" bIns="95250">
                      <a:noAutofit/>
                    </a:bodyPr>
                    <a:lstStyle/>
                    <a:p>
                      <a:r>
                        <a:rPr sz="1875" b="1">
                          <a:solidFill>
                            <a:srgbClr val="FFFFFF"/>
                          </a:solidFill>
                          <a:latin typeface="DejaVu Sans"/>
                          <a:ea typeface="DejaVu Sans"/>
                          <a:cs typeface="DejaVu Sans"/>
                        </a:rPr>
                        <a:t>Measure</a:t>
                      </a:r>
                    </a:p>
                  </a:txBody>
                  <a:tcPr marL="91440" marR="91440" marT="45720" marB="45720" anchor="ctr">
                    <a:lnL w="7620">
                      <a:solidFill>
                        <a:srgbClr val="CCDADC"/>
                      </a:solidFill>
                      <a:prstDash val="solid"/>
                    </a:lnL>
                    <a:lnR w="7620">
                      <a:solidFill>
                        <a:srgbClr val="CCDADC"/>
                      </a:solidFill>
                      <a:prstDash val="solid"/>
                    </a:lnR>
                    <a:lnT w="7620">
                      <a:solidFill>
                        <a:srgbClr val="CCDADC"/>
                      </a:solidFill>
                      <a:prstDash val="solid"/>
                    </a:lnT>
                    <a:lnB w="7620">
                      <a:solidFill>
                        <a:srgbClr val="CCDADC"/>
                      </a:solidFill>
                      <a:prstDash val="solid"/>
                    </a:lnB>
                    <a:solidFill>
                      <a:srgbClr val="102B3A"/>
                    </a:solidFill>
                  </a:tcPr>
                </a:tc>
                <a:tc>
                  <a:txBody>
                    <a:bodyPr wrap="square" lIns="152400" tIns="95250" rIns="152400" bIns="95250">
                      <a:noAutofit/>
                    </a:bodyPr>
                    <a:lstStyle/>
                    <a:p>
                      <a:r>
                        <a:rPr sz="1875" b="1">
                          <a:solidFill>
                            <a:srgbClr val="FFFFFF"/>
                          </a:solidFill>
                          <a:latin typeface="DejaVu Sans"/>
                          <a:ea typeface="DejaVu Sans"/>
                          <a:cs typeface="DejaVu Sans"/>
                        </a:rPr>
                        <a:t>Definition / denominator</a:t>
                      </a:r>
                    </a:p>
                  </a:txBody>
                  <a:tcPr marL="91440" marR="91440" marT="45720" marB="45720" anchor="ctr">
                    <a:lnR w="7620">
                      <a:solidFill>
                        <a:srgbClr val="CCDADC"/>
                      </a:solidFill>
                      <a:prstDash val="solid"/>
                    </a:lnR>
                    <a:lnT w="7620">
                      <a:solidFill>
                        <a:srgbClr val="CCDADC"/>
                      </a:solidFill>
                      <a:prstDash val="solid"/>
                    </a:lnT>
                    <a:lnB w="7620">
                      <a:solidFill>
                        <a:srgbClr val="CCDADC"/>
                      </a:solidFill>
                      <a:prstDash val="solid"/>
                    </a:lnB>
                    <a:solidFill>
                      <a:srgbClr val="102B3A"/>
                    </a:solidFill>
                  </a:tcPr>
                </a:tc>
                <a:tc>
                  <a:txBody>
                    <a:bodyPr wrap="square" lIns="152400" tIns="95250" rIns="152400" bIns="95250">
                      <a:noAutofit/>
                    </a:bodyPr>
                    <a:lstStyle/>
                    <a:p>
                      <a:r>
                        <a:rPr sz="1875" b="1">
                          <a:solidFill>
                            <a:srgbClr val="FFFFFF"/>
                          </a:solidFill>
                          <a:latin typeface="DejaVu Sans"/>
                          <a:ea typeface="DejaVu Sans"/>
                          <a:cs typeface="DejaVu Sans"/>
                        </a:rPr>
                        <a:t>Why include it</a:t>
                      </a:r>
                    </a:p>
                  </a:txBody>
                  <a:tcPr marL="91440" marR="91440" marT="45720" marB="45720" anchor="ctr">
                    <a:lnR w="7620">
                      <a:solidFill>
                        <a:srgbClr val="CCDADC"/>
                      </a:solidFill>
                      <a:prstDash val="solid"/>
                    </a:lnR>
                    <a:lnT w="7620">
                      <a:solidFill>
                        <a:srgbClr val="CCDADC"/>
                      </a:solidFill>
                      <a:prstDash val="solid"/>
                    </a:lnT>
                    <a:lnB w="7620">
                      <a:solidFill>
                        <a:srgbClr val="CCDADC"/>
                      </a:solidFill>
                      <a:prstDash val="solid"/>
                    </a:lnB>
                    <a:solidFill>
                      <a:srgbClr val="102B3A"/>
                    </a:solidFill>
                  </a:tcPr>
                </a:tc>
              </a:tr>
              <a:tr h="823913">
                <a:tc>
                  <a:txBody>
                    <a:bodyPr wrap="square" lIns="152400" tIns="95250" rIns="152400" bIns="95250">
                      <a:noAutofit/>
                    </a:bodyPr>
                    <a:lstStyle/>
                    <a:p>
                      <a:r>
                        <a:rPr sz="1875" b="1">
                          <a:solidFill>
                            <a:srgbClr val="102B3A"/>
                          </a:solidFill>
                          <a:latin typeface="DejaVu Sans"/>
                          <a:ea typeface="DejaVu Sans"/>
                          <a:cs typeface="DejaVu Sans"/>
                        </a:rPr>
                        <a:t>Evidence Hit@k</a:t>
                      </a:r>
                    </a:p>
                  </a:txBody>
                  <a:tcPr marL="91440" marR="91440" marT="45720" marB="45720" anchor="ctr">
                    <a:lnL w="7620">
                      <a:solidFill>
                        <a:srgbClr val="CCDADC"/>
                      </a:solidFill>
                      <a:prstDash val="solid"/>
                    </a:lnL>
                    <a:lnR w="7620">
                      <a:solidFill>
                        <a:srgbClr val="CCDADC"/>
                      </a:solidFill>
                      <a:prstDash val="solid"/>
                    </a:lnR>
                    <a:lnB w="7620">
                      <a:solidFill>
                        <a:srgbClr val="CCDADC"/>
                      </a:solidFill>
                      <a:prstDash val="solid"/>
                    </a:lnB>
                    <a:solidFill>
                      <a:srgbClr val="FFFFFF"/>
                    </a:solidFill>
                  </a:tcPr>
                </a:tc>
                <a:tc>
                  <a:txBody>
                    <a:bodyPr wrap="square" lIns="152400" tIns="95250" rIns="152400" bIns="95250">
                      <a:noAutofit/>
                    </a:bodyPr>
                    <a:lstStyle/>
                    <a:p>
                      <a:r>
                        <a:rPr sz="1875" b="0">
                          <a:solidFill>
                            <a:srgbClr val="193646"/>
                          </a:solidFill>
                          <a:latin typeface="DejaVu Sans"/>
                          <a:ea typeface="DejaVu Sans"/>
                          <a:cs typeface="DejaVu Sans"/>
                        </a:rPr>
                        <a:t>Tests with a gold supporting span</a:t>
                      </a:r>
                    </a:p>
                    <a:p>
                      <a:r>
                        <a:rPr sz="1875" b="0">
                          <a:solidFill>
                            <a:srgbClr val="193646"/>
                          </a:solidFill>
                          <a:latin typeface="DejaVu Sans"/>
                          <a:ea typeface="DejaVu Sans"/>
                          <a:cs typeface="DejaVu Sans"/>
                        </a:rPr>
                        <a:t>in top-k passages / 24</a:t>
                      </a:r>
                    </a:p>
                  </a:txBody>
                  <a:tcPr marL="91440" marR="91440" marT="45720" marB="45720" anchor="ctr">
                    <a:lnR w="7620">
                      <a:solidFill>
                        <a:srgbClr val="CCDADC"/>
                      </a:solidFill>
                      <a:prstDash val="solid"/>
                    </a:lnR>
                    <a:lnB w="7620">
                      <a:solidFill>
                        <a:srgbClr val="CCDADC"/>
                      </a:solidFill>
                      <a:prstDash val="solid"/>
                    </a:lnB>
                    <a:solidFill>
                      <a:srgbClr val="FFFFFF"/>
                    </a:solidFill>
                  </a:tcPr>
                </a:tc>
                <a:tc>
                  <a:txBody>
                    <a:bodyPr wrap="square" lIns="152400" tIns="95250" rIns="152400" bIns="95250">
                      <a:noAutofit/>
                    </a:bodyPr>
                    <a:lstStyle/>
                    <a:p>
                      <a:r>
                        <a:rPr sz="1875" b="0">
                          <a:solidFill>
                            <a:srgbClr val="193646"/>
                          </a:solidFill>
                          <a:latin typeface="DejaVu Sans"/>
                          <a:ea typeface="DejaVu Sans"/>
                          <a:cs typeface="DejaVu Sans"/>
                        </a:rPr>
                        <a:t>Separates retrieval errors from</a:t>
                      </a:r>
                    </a:p>
                    <a:p>
                      <a:r>
                        <a:rPr sz="1875" b="0">
                          <a:solidFill>
                            <a:srgbClr val="193646"/>
                          </a:solidFill>
                          <a:latin typeface="DejaVu Sans"/>
                          <a:ea typeface="DejaVu Sans"/>
                          <a:cs typeface="DejaVu Sans"/>
                        </a:rPr>
                        <a:t>answer-generation errors.</a:t>
                      </a:r>
                    </a:p>
                  </a:txBody>
                  <a:tcPr marL="91440" marR="91440" marT="45720" marB="45720" anchor="ctr">
                    <a:lnR w="7620">
                      <a:solidFill>
                        <a:srgbClr val="CCDADC"/>
                      </a:solidFill>
                      <a:prstDash val="solid"/>
                    </a:lnR>
                    <a:lnB w="7620">
                      <a:solidFill>
                        <a:srgbClr val="CCDADC"/>
                      </a:solidFill>
                      <a:prstDash val="solid"/>
                    </a:lnB>
                    <a:solidFill>
                      <a:srgbClr val="FFFFFF"/>
                    </a:solidFill>
                  </a:tcPr>
                </a:tc>
              </a:tr>
              <a:tr h="823913">
                <a:tc>
                  <a:txBody>
                    <a:bodyPr wrap="square" lIns="152400" tIns="95250" rIns="152400" bIns="95250">
                      <a:noAutofit/>
                    </a:bodyPr>
                    <a:lstStyle/>
                    <a:p>
                      <a:r>
                        <a:rPr sz="1875" b="1">
                          <a:solidFill>
                            <a:srgbClr val="102B3A"/>
                          </a:solidFill>
                          <a:latin typeface="DejaVu Sans"/>
                          <a:ea typeface="DejaVu Sans"/>
                          <a:cs typeface="DejaVu Sans"/>
                        </a:rPr>
                        <a:t>Answer accuracy</a:t>
                      </a:r>
                    </a:p>
                    <a:p>
                      <a:r>
                        <a:rPr sz="1875" b="1">
                          <a:solidFill>
                            <a:srgbClr val="102B3A"/>
                          </a:solidFill>
                          <a:latin typeface="DejaVu Sans"/>
                          <a:ea typeface="DejaVu Sans"/>
                          <a:cs typeface="DejaVu Sans"/>
                        </a:rPr>
                        <a:t>(primary)</a:t>
                      </a:r>
                    </a:p>
                  </a:txBody>
                  <a:tcPr marL="91440" marR="91440" marT="45720" marB="45720" anchor="ctr">
                    <a:lnL w="7620">
                      <a:solidFill>
                        <a:srgbClr val="CCDADC"/>
                      </a:solidFill>
                      <a:prstDash val="solid"/>
                    </a:lnL>
                    <a:lnR w="7620">
                      <a:solidFill>
                        <a:srgbClr val="CCDADC"/>
                      </a:solidFill>
                      <a:prstDash val="solid"/>
                    </a:lnR>
                    <a:lnB w="7620">
                      <a:solidFill>
                        <a:srgbClr val="CCDADC"/>
                      </a:solidFill>
                      <a:prstDash val="solid"/>
                    </a:lnB>
                    <a:solidFill>
                      <a:srgbClr val="F5F9F9"/>
                    </a:solidFill>
                  </a:tcPr>
                </a:tc>
                <a:tc>
                  <a:txBody>
                    <a:bodyPr wrap="square" lIns="152400" tIns="95250" rIns="152400" bIns="95250">
                      <a:noAutofit/>
                    </a:bodyPr>
                    <a:lstStyle/>
                    <a:p>
                      <a:r>
                        <a:rPr sz="1875" b="0">
                          <a:solidFill>
                            <a:srgbClr val="193646"/>
                          </a:solidFill>
                          <a:latin typeface="DejaVu Sans"/>
                          <a:ea typeface="DejaVu Sans"/>
                          <a:cs typeface="DejaVu Sans"/>
                        </a:rPr>
                        <a:t>Physically correct answers / 24.</a:t>
                      </a:r>
                    </a:p>
                    <a:p>
                      <a:r>
                        <a:rPr sz="1875" b="0">
                          <a:solidFill>
                            <a:srgbClr val="193646"/>
                          </a:solidFill>
                          <a:latin typeface="DejaVu Sans"/>
                          <a:ea typeface="DejaVu Sans"/>
                          <a:cs typeface="DejaVu Sans"/>
                        </a:rPr>
                        <a:t>An abstention counts as incorrect.</a:t>
                      </a:r>
                    </a:p>
                  </a:txBody>
                  <a:tcPr marL="91440" marR="91440" marT="45720" marB="45720" anchor="ctr">
                    <a:lnR w="7620">
                      <a:solidFill>
                        <a:srgbClr val="CCDADC"/>
                      </a:solidFill>
                      <a:prstDash val="solid"/>
                    </a:lnR>
                    <a:lnB w="7620">
                      <a:solidFill>
                        <a:srgbClr val="CCDADC"/>
                      </a:solidFill>
                      <a:prstDash val="solid"/>
                    </a:lnB>
                    <a:solidFill>
                      <a:srgbClr val="F5F9F9"/>
                    </a:solidFill>
                  </a:tcPr>
                </a:tc>
                <a:tc>
                  <a:txBody>
                    <a:bodyPr wrap="square" lIns="152400" tIns="95250" rIns="152400" bIns="95250">
                      <a:noAutofit/>
                    </a:bodyPr>
                    <a:lstStyle/>
                    <a:p>
                      <a:r>
                        <a:rPr sz="1875" b="0">
                          <a:solidFill>
                            <a:srgbClr val="193646"/>
                          </a:solidFill>
                          <a:latin typeface="DejaVu Sans"/>
                          <a:ea typeface="DejaVu Sans"/>
                          <a:cs typeface="DejaVu Sans"/>
                        </a:rPr>
                        <a:t>Human rubric checks meaning,</a:t>
                      </a:r>
                    </a:p>
                    <a:p>
                      <a:r>
                        <a:rPr sz="1875" b="0">
                          <a:solidFill>
                            <a:srgbClr val="193646"/>
                          </a:solidFill>
                          <a:latin typeface="DejaVu Sans"/>
                          <a:ea typeface="DejaVu Sans"/>
                          <a:cs typeface="DejaVu Sans"/>
                        </a:rPr>
                        <a:t>required facts and valid units.</a:t>
                      </a:r>
                    </a:p>
                  </a:txBody>
                  <a:tcPr marL="91440" marR="91440" marT="45720" marB="45720" anchor="ctr">
                    <a:lnR w="7620">
                      <a:solidFill>
                        <a:srgbClr val="CCDADC"/>
                      </a:solidFill>
                      <a:prstDash val="solid"/>
                    </a:lnR>
                    <a:lnB w="7620">
                      <a:solidFill>
                        <a:srgbClr val="CCDADC"/>
                      </a:solidFill>
                      <a:prstDash val="solid"/>
                    </a:lnB>
                    <a:solidFill>
                      <a:srgbClr val="F5F9F9"/>
                    </a:solidFill>
                  </a:tcPr>
                </a:tc>
              </a:tr>
              <a:tr h="823913">
                <a:tc>
                  <a:txBody>
                    <a:bodyPr wrap="square" lIns="152400" tIns="95250" rIns="152400" bIns="95250">
                      <a:noAutofit/>
                    </a:bodyPr>
                    <a:lstStyle/>
                    <a:p>
                      <a:r>
                        <a:rPr sz="1875" b="1">
                          <a:solidFill>
                            <a:srgbClr val="102B3A"/>
                          </a:solidFill>
                          <a:latin typeface="DejaVu Sans"/>
                          <a:ea typeface="DejaVu Sans"/>
                          <a:cs typeface="DejaVu Sans"/>
                        </a:rPr>
                        <a:t>Token F1</a:t>
                      </a:r>
                    </a:p>
                    <a:p>
                      <a:r>
                        <a:rPr sz="1875" b="1">
                          <a:solidFill>
                            <a:srgbClr val="102B3A"/>
                          </a:solidFill>
                          <a:latin typeface="DejaVu Sans"/>
                          <a:ea typeface="DejaVu Sans"/>
                          <a:cs typeface="DejaVu Sans"/>
                        </a:rPr>
                        <a:t>(secondary)</a:t>
                      </a:r>
                    </a:p>
                  </a:txBody>
                  <a:tcPr marL="91440" marR="91440" marT="45720" marB="45720" anchor="ctr">
                    <a:lnL w="7620">
                      <a:solidFill>
                        <a:srgbClr val="CCDADC"/>
                      </a:solidFill>
                      <a:prstDash val="solid"/>
                    </a:lnL>
                    <a:lnR w="7620">
                      <a:solidFill>
                        <a:srgbClr val="CCDADC"/>
                      </a:solidFill>
                      <a:prstDash val="solid"/>
                    </a:lnR>
                    <a:lnB w="7620">
                      <a:solidFill>
                        <a:srgbClr val="CCDADC"/>
                      </a:solidFill>
                      <a:prstDash val="solid"/>
                    </a:lnB>
                    <a:solidFill>
                      <a:srgbClr val="FFFFFF"/>
                    </a:solidFill>
                  </a:tcPr>
                </a:tc>
                <a:tc>
                  <a:txBody>
                    <a:bodyPr wrap="square" lIns="152400" tIns="95250" rIns="152400" bIns="95250">
                      <a:noAutofit/>
                    </a:bodyPr>
                    <a:lstStyle/>
                    <a:p>
                      <a:r>
                        <a:rPr sz="1875" b="0">
                          <a:solidFill>
                            <a:srgbClr val="193646"/>
                          </a:solidFill>
                          <a:latin typeface="DejaVu Sans"/>
                          <a:ea typeface="DejaVu Sans"/>
                          <a:cs typeface="DejaVu Sans"/>
                        </a:rPr>
                        <a:t>2PR / (P + R), averaged over 24.</a:t>
                      </a:r>
                    </a:p>
                    <a:p>
                      <a:r>
                        <a:rPr sz="1875" b="0">
                          <a:solidFill>
                            <a:srgbClr val="193646"/>
                          </a:solidFill>
                          <a:latin typeface="DejaVu Sans"/>
                          <a:ea typeface="DejaVu Sans"/>
                          <a:cs typeface="DejaVu Sans"/>
                        </a:rPr>
                        <a:t>P and R use reference-token overlap.</a:t>
                      </a:r>
                    </a:p>
                  </a:txBody>
                  <a:tcPr marL="91440" marR="91440" marT="45720" marB="45720" anchor="ctr">
                    <a:lnR w="7620">
                      <a:solidFill>
                        <a:srgbClr val="CCDADC"/>
                      </a:solidFill>
                      <a:prstDash val="solid"/>
                    </a:lnR>
                    <a:lnB w="7620">
                      <a:solidFill>
                        <a:srgbClr val="CCDADC"/>
                      </a:solidFill>
                      <a:prstDash val="solid"/>
                    </a:lnB>
                    <a:solidFill>
                      <a:srgbClr val="FFFFFF"/>
                    </a:solidFill>
                  </a:tcPr>
                </a:tc>
                <a:tc>
                  <a:txBody>
                    <a:bodyPr wrap="square" lIns="152400" tIns="95250" rIns="152400" bIns="95250">
                      <a:noAutofit/>
                    </a:bodyPr>
                    <a:lstStyle/>
                    <a:p>
                      <a:r>
                        <a:rPr sz="1875" b="0">
                          <a:solidFill>
                            <a:srgbClr val="193646"/>
                          </a:solidFill>
                          <a:latin typeface="DejaVu Sans"/>
                          <a:ea typeface="DejaVu Sans"/>
                          <a:cs typeface="DejaVu Sans"/>
                        </a:rPr>
                        <a:t>Gives partial wording credit. Read with</a:t>
                      </a:r>
                    </a:p>
                    <a:p>
                      <a:r>
                        <a:rPr sz="1875" b="0">
                          <a:solidFill>
                            <a:srgbClr val="193646"/>
                          </a:solidFill>
                          <a:latin typeface="DejaVu Sans"/>
                          <a:ea typeface="DejaVu Sans"/>
                          <a:cs typeface="DejaVu Sans"/>
                        </a:rPr>
                        <a:t>accuracy because paraphrases can differ.</a:t>
                      </a:r>
                    </a:p>
                  </a:txBody>
                  <a:tcPr marL="91440" marR="91440" marT="45720" marB="45720" anchor="ctr">
                    <a:lnR w="7620">
                      <a:solidFill>
                        <a:srgbClr val="CCDADC"/>
                      </a:solidFill>
                      <a:prstDash val="solid"/>
                    </a:lnR>
                    <a:lnB w="7620">
                      <a:solidFill>
                        <a:srgbClr val="CCDADC"/>
                      </a:solidFill>
                      <a:prstDash val="solid"/>
                    </a:lnB>
                    <a:solidFill>
                      <a:srgbClr val="FFFFFF"/>
                    </a:solidFill>
                  </a:tcPr>
                </a:tc>
              </a:tr>
              <a:tr h="823913">
                <a:tc>
                  <a:txBody>
                    <a:bodyPr wrap="square" lIns="152400" tIns="95250" rIns="152400" bIns="95250">
                      <a:noAutofit/>
                    </a:bodyPr>
                    <a:lstStyle/>
                    <a:p>
                      <a:r>
                        <a:rPr sz="1875" b="1">
                          <a:solidFill>
                            <a:srgbClr val="102B3A"/>
                          </a:solidFill>
                          <a:latin typeface="DejaVu Sans"/>
                          <a:ea typeface="DejaVu Sans"/>
                          <a:cs typeface="DejaVu Sans"/>
                        </a:rPr>
                        <a:t>Exact Match</a:t>
                      </a:r>
                    </a:p>
                    <a:p>
                      <a:r>
                        <a:rPr sz="1875" b="1">
                          <a:solidFill>
                            <a:srgbClr val="102B3A"/>
                          </a:solidFill>
                          <a:latin typeface="DejaVu Sans"/>
                          <a:ea typeface="DejaVu Sans"/>
                          <a:cs typeface="DejaVu Sans"/>
                        </a:rPr>
                        <a:t>(optional)</a:t>
                      </a:r>
                    </a:p>
                  </a:txBody>
                  <a:tcPr marL="91440" marR="91440" marT="45720" marB="45720" anchor="ctr">
                    <a:lnL w="7620">
                      <a:solidFill>
                        <a:srgbClr val="CCDADC"/>
                      </a:solidFill>
                      <a:prstDash val="solid"/>
                    </a:lnL>
                    <a:lnR w="7620">
                      <a:solidFill>
                        <a:srgbClr val="CCDADC"/>
                      </a:solidFill>
                      <a:prstDash val="solid"/>
                    </a:lnR>
                    <a:lnB w="7620">
                      <a:solidFill>
                        <a:srgbClr val="CCDADC"/>
                      </a:solidFill>
                      <a:prstDash val="solid"/>
                    </a:lnB>
                    <a:solidFill>
                      <a:srgbClr val="F5F9F9"/>
                    </a:solidFill>
                  </a:tcPr>
                </a:tc>
                <a:tc>
                  <a:txBody>
                    <a:bodyPr wrap="square" lIns="152400" tIns="95250" rIns="152400" bIns="95250">
                      <a:noAutofit/>
                    </a:bodyPr>
                    <a:lstStyle/>
                    <a:p>
                      <a:r>
                        <a:rPr sz="1875" b="0">
                          <a:solidFill>
                            <a:srgbClr val="193646"/>
                          </a:solidFill>
                          <a:latin typeface="DejaVu Sans"/>
                          <a:ea typeface="DejaVu Sans"/>
                          <a:cs typeface="DejaVu Sans"/>
                        </a:rPr>
                        <a:t>Accepted exact short answers / 3</a:t>
                      </a:r>
                    </a:p>
                    <a:p>
                      <a:r>
                        <a:rPr sz="1875" b="0">
                          <a:solidFill>
                            <a:srgbClr val="193646"/>
                          </a:solidFill>
                          <a:latin typeface="DejaVu Sans"/>
                          <a:ea typeface="DejaVu Sans"/>
                          <a:cs typeface="DejaVu Sans"/>
                        </a:rPr>
                        <a:t>for the closed-answer test subset.</a:t>
                      </a:r>
                    </a:p>
                  </a:txBody>
                  <a:tcPr marL="91440" marR="91440" marT="45720" marB="45720" anchor="ctr">
                    <a:lnR w="7620">
                      <a:solidFill>
                        <a:srgbClr val="CCDADC"/>
                      </a:solidFill>
                      <a:prstDash val="solid"/>
                    </a:lnR>
                    <a:lnB w="7620">
                      <a:solidFill>
                        <a:srgbClr val="CCDADC"/>
                      </a:solidFill>
                      <a:prstDash val="solid"/>
                    </a:lnB>
                    <a:solidFill>
                      <a:srgbClr val="F5F9F9"/>
                    </a:solidFill>
                  </a:tcPr>
                </a:tc>
                <a:tc>
                  <a:txBody>
                    <a:bodyPr wrap="square" lIns="152400" tIns="95250" rIns="152400" bIns="95250">
                      <a:noAutofit/>
                    </a:bodyPr>
                    <a:lstStyle/>
                    <a:p>
                      <a:r>
                        <a:rPr sz="1875" b="0">
                          <a:solidFill>
                            <a:srgbClr val="193646"/>
                          </a:solidFill>
                          <a:latin typeface="DejaVu Sans"/>
                          <a:ea typeface="DejaVu Sans"/>
                          <a:cs typeface="DejaVu Sans"/>
                        </a:rPr>
                        <a:t>Useful for units or zero answers.</a:t>
                      </a:r>
                    </a:p>
                    <a:p>
                      <a:r>
                        <a:rPr sz="1875" b="0">
                          <a:solidFill>
                            <a:srgbClr val="193646"/>
                          </a:solidFill>
                          <a:latin typeface="DejaVu Sans"/>
                          <a:ea typeface="DejaVu Sans"/>
                          <a:cs typeface="DejaVu Sans"/>
                        </a:rPr>
                        <a:t>Explanations use semantic accuracy.</a:t>
                      </a:r>
                    </a:p>
                  </a:txBody>
                  <a:tcPr marL="91440" marR="91440" marT="45720" marB="45720" anchor="ctr">
                    <a:lnR w="7620">
                      <a:solidFill>
                        <a:srgbClr val="CCDADC"/>
                      </a:solidFill>
                      <a:prstDash val="solid"/>
                    </a:lnR>
                    <a:lnB w="7620">
                      <a:solidFill>
                        <a:srgbClr val="CCDADC"/>
                      </a:solidFill>
                      <a:prstDash val="solid"/>
                    </a:lnB>
                    <a:solidFill>
                      <a:srgbClr val="F5F9F9"/>
                    </a:solidFill>
                  </a:tcPr>
                </a:tc>
              </a:tr>
            </a:tbl>
          </a:graphicData>
        </a:graphic>
      </p:graphicFrame>
      <p:sp>
        <p:nvSpPr>
          <p:cNvPr id="5" name="context-note">
            <a:extLst xmlns:a="http://schemas.openxmlformats.org/drawingml/2006/main">
              <a:ext uri="{FF2B5EF4-FFF2-40B4-BE49-F238E27FC236}">
                <a16:creationId xmlns:a16="http://schemas.microsoft.com/office/drawing/2014/main" id="{C317BC2E-BCFF-406D-9060-65D2D8532460}"/>
              </a:ext>
            </a:extLst>
          </p:cNvPr>
          <p:cNvSpPr>
            <a:spLocks xmlns:a="http://schemas.openxmlformats.org/drawingml/2006/main" noGrp="1"/>
          </p:cNvSpPr>
          <p:nvPr/>
        </p:nvSpPr>
        <p:spPr>
          <a:xfrm xmlns:a="http://schemas.openxmlformats.org/drawingml/2006/main">
            <a:off x="762000" y="7458075"/>
            <a:ext cx="13049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0">
                <a:solidFill>
                  <a:srgbClr val="526975"/>
                </a:solidFill>
                <a:latin typeface="DejaVu Sans"/>
                <a:ea typeface="DejaVu Sans"/>
                <a:cs typeface="DejaVu Sans"/>
              </a:defRPr>
            </a:defPPr>
            <a:lvl1pPr>
              <a:buNone/>
              <a:defRPr sz="1575" b="0">
                <a:solidFill>
                  <a:srgbClr val="526975"/>
                </a:solidFill>
                <a:latin typeface="DejaVu Sans"/>
                <a:ea typeface="DejaVu Sans"/>
                <a:cs typeface="DejaVu Sans"/>
              </a:defRPr>
            </a:lvl1pPr>
            <a:lvl2pPr>
              <a:buNone/>
              <a:defRPr sz="1575" b="0">
                <a:solidFill>
                  <a:srgbClr val="526975"/>
                </a:solidFill>
                <a:latin typeface="DejaVu Sans"/>
                <a:ea typeface="DejaVu Sans"/>
                <a:cs typeface="DejaVu Sans"/>
              </a:defRPr>
            </a:lvl2pPr>
            <a:lvl3pPr>
              <a:buNone/>
              <a:defRPr sz="1575" b="0">
                <a:solidFill>
                  <a:srgbClr val="526975"/>
                </a:solidFill>
                <a:latin typeface="DejaVu Sans"/>
                <a:ea typeface="DejaVu Sans"/>
                <a:cs typeface="DejaVu Sans"/>
              </a:defRPr>
            </a:lvl3pPr>
            <a:lvl4pPr>
              <a:buNone/>
              <a:defRPr sz="1575" b="0">
                <a:solidFill>
                  <a:srgbClr val="526975"/>
                </a:solidFill>
                <a:latin typeface="DejaVu Sans"/>
                <a:ea typeface="DejaVu Sans"/>
                <a:cs typeface="DejaVu Sans"/>
              </a:defRPr>
            </a:lvl4pPr>
            <a:lvl5pPr>
              <a:buNone/>
              <a:defRPr sz="1575" b="0">
                <a:solidFill>
                  <a:srgbClr val="526975"/>
                </a:solidFill>
                <a:latin typeface="DejaVu Sans"/>
                <a:ea typeface="DejaVu Sans"/>
                <a:cs typeface="DejaVu Sans"/>
              </a:defRPr>
            </a:lvl5pPr>
            <a:lvl6pPr>
              <a:buNone/>
              <a:defRPr sz="1575" b="0">
                <a:solidFill>
                  <a:srgbClr val="526975"/>
                </a:solidFill>
                <a:latin typeface="DejaVu Sans"/>
                <a:ea typeface="DejaVu Sans"/>
                <a:cs typeface="DejaVu Sans"/>
              </a:defRPr>
            </a:lvl6pPr>
            <a:lvl7pPr>
              <a:buNone/>
              <a:defRPr sz="1575" b="0">
                <a:solidFill>
                  <a:srgbClr val="526975"/>
                </a:solidFill>
                <a:latin typeface="DejaVu Sans"/>
                <a:ea typeface="DejaVu Sans"/>
                <a:cs typeface="DejaVu Sans"/>
              </a:defRPr>
            </a:lvl7pPr>
            <a:lvl8pPr>
              <a:buNone/>
              <a:defRPr sz="1575" b="0">
                <a:solidFill>
                  <a:srgbClr val="526975"/>
                </a:solidFill>
                <a:latin typeface="DejaVu Sans"/>
                <a:ea typeface="DejaVu Sans"/>
                <a:cs typeface="DejaVu Sans"/>
              </a:defRPr>
            </a:lvl8pPr>
            <a:lvl9pPr>
              <a:buNone/>
              <a:defRPr sz="1575" b="0">
                <a:solidFill>
                  <a:srgbClr val="526975"/>
                </a:solidFill>
                <a:latin typeface="DejaVu Sans"/>
                <a:ea typeface="DejaVu Sans"/>
                <a:cs typeface="DejaVu Sans"/>
              </a:defRPr>
            </a:lvl9pPr>
          </a:lstStyle>
          <a:p xmlns:a="http://schemas.openxmlformats.org/drawingml/2006/main">
            <a:pPr>
              <a:buNone/>
              <a:defRPr sz="1575" b="0">
                <a:solidFill>
                  <a:srgbClr val="526975"/>
                </a:solidFill>
                <a:latin typeface="DejaVu Sans"/>
                <a:ea typeface="DejaVu Sans"/>
                <a:cs typeface="DejaVu Sans"/>
              </a:defRPr>
            </a:pPr>
            <a:r>
              <a:rPr sz="1575" b="0">
                <a:solidFill>
                  <a:srgbClr val="526975"/>
                </a:solidFill>
                <a:latin typeface="DejaVu Sans"/>
                <a:ea typeface="DejaVu Sans"/>
                <a:cs typeface="DejaVu Sans"/>
              </a:rPr>
              <a:t>Tune only on the 10 development items. Freeze the corpus, chunks and prompts before the final comparison.</a:t>
            </a:r>
          </a:p>
        </p:txBody>
      </p:sp>
    </p:spTree>
    <p:extLst>
      <p:ext uri="{BB962C8B-B14F-4D97-AF65-F5344CB8AC3E}">
        <p14:creationId xmlns:p14="http://schemas.microsoft.com/office/powerpoint/2010/main" val="180173213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44AA723F-CEF5-453D-9F9E-2EFF099F8149}"/>
              </a:ext>
            </a:extLst>
          </p:cNvPr>
          <p:cNvSpPr>
            <a:spLocks xmlns:a="http://schemas.openxmlformats.org/drawingml/2006/main" noGrp="1"/>
          </p:cNvSpPr>
          <p:nvPr/>
        </p:nvSpPr>
        <p:spPr>
          <a:xfrm xmlns:a="http://schemas.openxmlformats.org/drawingml/2006/main">
            <a:off x="762000" y="571500"/>
            <a:ext cx="13620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450" b="1">
                <a:solidFill>
                  <a:srgbClr val="102B3A"/>
                </a:solidFill>
                <a:latin typeface="DejaVu Sans"/>
                <a:ea typeface="DejaVu Sans"/>
                <a:cs typeface="DejaVu Sans"/>
              </a:defRPr>
            </a:defPPr>
            <a:lvl1pPr>
              <a:defRPr sz="3450" b="1">
                <a:solidFill>
                  <a:srgbClr val="102B3A"/>
                </a:solidFill>
                <a:latin typeface="DejaVu Sans"/>
                <a:ea typeface="DejaVu Sans"/>
                <a:cs typeface="DejaVu Sans"/>
              </a:defRPr>
            </a:lvl1pPr>
            <a:lvl2pPr>
              <a:defRPr sz="3450" b="1">
                <a:solidFill>
                  <a:srgbClr val="102B3A"/>
                </a:solidFill>
                <a:latin typeface="DejaVu Sans"/>
                <a:ea typeface="DejaVu Sans"/>
                <a:cs typeface="DejaVu Sans"/>
              </a:defRPr>
            </a:lvl2pPr>
            <a:lvl3pPr>
              <a:defRPr sz="3450" b="1">
                <a:solidFill>
                  <a:srgbClr val="102B3A"/>
                </a:solidFill>
                <a:latin typeface="DejaVu Sans"/>
                <a:ea typeface="DejaVu Sans"/>
                <a:cs typeface="DejaVu Sans"/>
              </a:defRPr>
            </a:lvl3pPr>
            <a:lvl4pPr>
              <a:defRPr sz="3450" b="1">
                <a:solidFill>
                  <a:srgbClr val="102B3A"/>
                </a:solidFill>
                <a:latin typeface="DejaVu Sans"/>
                <a:ea typeface="DejaVu Sans"/>
                <a:cs typeface="DejaVu Sans"/>
              </a:defRPr>
            </a:lvl4pPr>
            <a:lvl5pPr>
              <a:defRPr sz="3450" b="1">
                <a:solidFill>
                  <a:srgbClr val="102B3A"/>
                </a:solidFill>
                <a:latin typeface="DejaVu Sans"/>
                <a:ea typeface="DejaVu Sans"/>
                <a:cs typeface="DejaVu Sans"/>
              </a:defRPr>
            </a:lvl5pPr>
            <a:lvl6pPr>
              <a:defRPr sz="3450" b="1">
                <a:solidFill>
                  <a:srgbClr val="102B3A"/>
                </a:solidFill>
                <a:latin typeface="DejaVu Sans"/>
                <a:ea typeface="DejaVu Sans"/>
                <a:cs typeface="DejaVu Sans"/>
              </a:defRPr>
            </a:lvl6pPr>
            <a:lvl7pPr>
              <a:defRPr sz="3450" b="1">
                <a:solidFill>
                  <a:srgbClr val="102B3A"/>
                </a:solidFill>
                <a:latin typeface="DejaVu Sans"/>
                <a:ea typeface="DejaVu Sans"/>
                <a:cs typeface="DejaVu Sans"/>
              </a:defRPr>
            </a:lvl7pPr>
            <a:lvl8pPr>
              <a:defRPr sz="3450" b="1">
                <a:solidFill>
                  <a:srgbClr val="102B3A"/>
                </a:solidFill>
                <a:latin typeface="DejaVu Sans"/>
                <a:ea typeface="DejaVu Sans"/>
                <a:cs typeface="DejaVu Sans"/>
              </a:defRPr>
            </a:lvl8pPr>
            <a:lvl9pPr>
              <a:defRPr sz="3450" b="1">
                <a:solidFill>
                  <a:srgbClr val="102B3A"/>
                </a:solidFill>
                <a:latin typeface="DejaVu Sans"/>
                <a:ea typeface="DejaVu Sans"/>
                <a:cs typeface="DejaVu Sans"/>
              </a:defRPr>
            </a:lvl9pPr>
          </a:lstStyle>
          <a:p xmlns:a="http://schemas.openxmlformats.org/drawingml/2006/main">
            <a:pPr>
              <a:defRPr sz="3450" b="1">
                <a:solidFill>
                  <a:srgbClr val="102B3A"/>
                </a:solidFill>
                <a:latin typeface="DejaVu Sans"/>
                <a:ea typeface="DejaVu Sans"/>
                <a:cs typeface="DejaVu Sans"/>
              </a:defRPr>
            </a:pPr>
            <a:r>
              <a:rPr sz="3450" b="1">
                <a:solidFill>
                  <a:srgbClr val="102B3A"/>
                </a:solidFill>
                <a:latin typeface="DejaVu Sans"/>
                <a:ea typeface="DejaVu Sans"/>
                <a:cs typeface="DejaVu Sans"/>
              </a:rPr>
              <a:t>Comparison metrics: grounding and efficiency</a:t>
            </a:r>
          </a:p>
        </p:txBody>
      </p:sp>
      <p:sp>
        <p:nvSpPr>
          <p:cNvPr id="2" name="slide-number">
            <a:extLst xmlns:a="http://schemas.openxmlformats.org/drawingml/2006/main">
              <a:ext uri="{FF2B5EF4-FFF2-40B4-BE49-F238E27FC236}">
                <a16:creationId xmlns:a16="http://schemas.microsoft.com/office/drawing/2014/main" id="{8FE51AB4-6CF0-4B8F-BE08-DBD94E40312B}"/>
              </a:ext>
            </a:extLst>
          </p:cNvPr>
          <p:cNvSpPr>
            <a:spLocks xmlns:a="http://schemas.openxmlformats.org/drawingml/2006/main" noGrp="1"/>
          </p:cNvSpPr>
          <p:nvPr/>
        </p:nvSpPr>
        <p:spPr>
          <a:xfrm xmlns:a="http://schemas.openxmlformats.org/drawingml/2006/main">
            <a:off x="13906500" y="795337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0">
                <a:solidFill>
                  <a:srgbClr val="526975"/>
                </a:solidFill>
                <a:latin typeface="DejaVu Sans"/>
                <a:ea typeface="DejaVu Sans"/>
                <a:cs typeface="DejaVu Sans"/>
              </a:defRPr>
            </a:defPPr>
            <a:lvl1pPr>
              <a:defRPr sz="1575" b="0">
                <a:solidFill>
                  <a:srgbClr val="526975"/>
                </a:solidFill>
                <a:latin typeface="DejaVu Sans"/>
                <a:ea typeface="DejaVu Sans"/>
                <a:cs typeface="DejaVu Sans"/>
              </a:defRPr>
            </a:lvl1pPr>
            <a:lvl2pPr>
              <a:defRPr sz="1575" b="0">
                <a:solidFill>
                  <a:srgbClr val="526975"/>
                </a:solidFill>
                <a:latin typeface="DejaVu Sans"/>
                <a:ea typeface="DejaVu Sans"/>
                <a:cs typeface="DejaVu Sans"/>
              </a:defRPr>
            </a:lvl2pPr>
            <a:lvl3pPr>
              <a:defRPr sz="1575" b="0">
                <a:solidFill>
                  <a:srgbClr val="526975"/>
                </a:solidFill>
                <a:latin typeface="DejaVu Sans"/>
                <a:ea typeface="DejaVu Sans"/>
                <a:cs typeface="DejaVu Sans"/>
              </a:defRPr>
            </a:lvl3pPr>
            <a:lvl4pPr>
              <a:defRPr sz="1575" b="0">
                <a:solidFill>
                  <a:srgbClr val="526975"/>
                </a:solidFill>
                <a:latin typeface="DejaVu Sans"/>
                <a:ea typeface="DejaVu Sans"/>
                <a:cs typeface="DejaVu Sans"/>
              </a:defRPr>
            </a:lvl4pPr>
            <a:lvl5pPr>
              <a:defRPr sz="1575" b="0">
                <a:solidFill>
                  <a:srgbClr val="526975"/>
                </a:solidFill>
                <a:latin typeface="DejaVu Sans"/>
                <a:ea typeface="DejaVu Sans"/>
                <a:cs typeface="DejaVu Sans"/>
              </a:defRPr>
            </a:lvl5pPr>
            <a:lvl6pPr>
              <a:defRPr sz="1575" b="0">
                <a:solidFill>
                  <a:srgbClr val="526975"/>
                </a:solidFill>
                <a:latin typeface="DejaVu Sans"/>
                <a:ea typeface="DejaVu Sans"/>
                <a:cs typeface="DejaVu Sans"/>
              </a:defRPr>
            </a:lvl6pPr>
            <a:lvl7pPr>
              <a:defRPr sz="1575" b="0">
                <a:solidFill>
                  <a:srgbClr val="526975"/>
                </a:solidFill>
                <a:latin typeface="DejaVu Sans"/>
                <a:ea typeface="DejaVu Sans"/>
                <a:cs typeface="DejaVu Sans"/>
              </a:defRPr>
            </a:lvl7pPr>
            <a:lvl8pPr>
              <a:defRPr sz="1575" b="0">
                <a:solidFill>
                  <a:srgbClr val="526975"/>
                </a:solidFill>
                <a:latin typeface="DejaVu Sans"/>
                <a:ea typeface="DejaVu Sans"/>
                <a:cs typeface="DejaVu Sans"/>
              </a:defRPr>
            </a:lvl8pPr>
            <a:lvl9pPr>
              <a:defRPr sz="1575" b="0">
                <a:solidFill>
                  <a:srgbClr val="526975"/>
                </a:solidFill>
                <a:latin typeface="DejaVu Sans"/>
                <a:ea typeface="DejaVu Sans"/>
                <a:cs typeface="DejaVu Sans"/>
              </a:defRPr>
            </a:lvl9pPr>
          </a:lstStyle>
          <a:p xmlns:a="http://schemas.openxmlformats.org/drawingml/2006/main">
            <a:pPr>
              <a:defRPr sz="1575" b="0">
                <a:solidFill>
                  <a:srgbClr val="526975"/>
                </a:solidFill>
                <a:latin typeface="DejaVu Sans"/>
                <a:ea typeface="DejaVu Sans"/>
                <a:cs typeface="DejaVu Sans"/>
              </a:defRPr>
            </a:pPr>
            <a:r>
              <a:t>10</a:t>
            </a:r>
          </a:p>
        </p:txBody>
      </p:sp>
      <p:graphicFrame>
        <p:nvGraphicFramePr>
          <p:cNvPr id="3" name="">
            <a:extLst xmlns:a="http://schemas.openxmlformats.org/drawingml/2006/main">
              <a:ext uri="{FF2B5EF4-FFF2-40B4-BE49-F238E27FC236}">
                <a16:creationId xmlns:a16="http://schemas.microsoft.com/office/drawing/2014/main" id="{D7630BE2-AC4F-43F3-A576-D3F178238EA9}"/>
              </a:ext>
            </a:extLst>
          </p:cNvPr>
          <p:cNvGraphicFramePr/>
          <p:nvPr/>
        </p:nvGraphicFramePr>
        <p:xfrm>
          <a:off xmlns:a="http://schemas.openxmlformats.org/drawingml/2006/main" x="762000" y="1905000"/>
          <a:ext xmlns:a="http://schemas.openxmlformats.org/drawingml/2006/main" cx="13716000" cy="5076825"/>
        </p:xfrm>
        <a:graphic xmlns:a="http://schemas.openxmlformats.org/drawingml/2006/main">
          <a:graphicData uri="http://schemas.openxmlformats.org/drawingml/2006/table">
            <a:tbl>
              <a:tblPr firstRow="1" bandRow="0"/>
              <a:tblGrid>
                <a:gridCol w="3048000"/>
                <a:gridCol w="5429250"/>
                <a:gridCol w="5238750"/>
              </a:tblGrid>
              <a:tr h="590550">
                <a:tc>
                  <a:txBody>
                    <a:bodyPr wrap="square" lIns="152400" tIns="95250" rIns="152400" bIns="95250">
                      <a:noAutofit/>
                    </a:bodyPr>
                    <a:lstStyle/>
                    <a:p>
                      <a:r>
                        <a:rPr sz="1875" b="1">
                          <a:solidFill>
                            <a:srgbClr val="FFFFFF"/>
                          </a:solidFill>
                          <a:latin typeface="DejaVu Sans"/>
                          <a:ea typeface="DejaVu Sans"/>
                          <a:cs typeface="DejaVu Sans"/>
                        </a:rPr>
                        <a:t>Measure</a:t>
                      </a:r>
                    </a:p>
                  </a:txBody>
                  <a:tcPr marL="91440" marR="91440" marT="45720" marB="45720" anchor="ctr">
                    <a:lnL w="7620">
                      <a:solidFill>
                        <a:srgbClr val="CCDADC"/>
                      </a:solidFill>
                      <a:prstDash val="solid"/>
                    </a:lnL>
                    <a:lnR w="7620">
                      <a:solidFill>
                        <a:srgbClr val="CCDADC"/>
                      </a:solidFill>
                      <a:prstDash val="solid"/>
                    </a:lnR>
                    <a:lnT w="7620">
                      <a:solidFill>
                        <a:srgbClr val="CCDADC"/>
                      </a:solidFill>
                      <a:prstDash val="solid"/>
                    </a:lnT>
                    <a:lnB w="7620">
                      <a:solidFill>
                        <a:srgbClr val="CCDADC"/>
                      </a:solidFill>
                      <a:prstDash val="solid"/>
                    </a:lnB>
                    <a:solidFill>
                      <a:srgbClr val="102B3A"/>
                    </a:solidFill>
                  </a:tcPr>
                </a:tc>
                <a:tc>
                  <a:txBody>
                    <a:bodyPr wrap="square" lIns="152400" tIns="95250" rIns="152400" bIns="95250">
                      <a:noAutofit/>
                    </a:bodyPr>
                    <a:lstStyle/>
                    <a:p>
                      <a:r>
                        <a:rPr sz="1875" b="1">
                          <a:solidFill>
                            <a:srgbClr val="FFFFFF"/>
                          </a:solidFill>
                          <a:latin typeface="DejaVu Sans"/>
                          <a:ea typeface="DejaVu Sans"/>
                          <a:cs typeface="DejaVu Sans"/>
                        </a:rPr>
                        <a:t>Definition</a:t>
                      </a:r>
                    </a:p>
                  </a:txBody>
                  <a:tcPr marL="91440" marR="91440" marT="45720" marB="45720" anchor="ctr">
                    <a:lnR w="7620">
                      <a:solidFill>
                        <a:srgbClr val="CCDADC"/>
                      </a:solidFill>
                      <a:prstDash val="solid"/>
                    </a:lnR>
                    <a:lnT w="7620">
                      <a:solidFill>
                        <a:srgbClr val="CCDADC"/>
                      </a:solidFill>
                      <a:prstDash val="solid"/>
                    </a:lnT>
                    <a:lnB w="7620">
                      <a:solidFill>
                        <a:srgbClr val="CCDADC"/>
                      </a:solidFill>
                      <a:prstDash val="solid"/>
                    </a:lnB>
                    <a:solidFill>
                      <a:srgbClr val="102B3A"/>
                    </a:solidFill>
                  </a:tcPr>
                </a:tc>
                <a:tc>
                  <a:txBody>
                    <a:bodyPr wrap="square" lIns="152400" tIns="95250" rIns="152400" bIns="95250">
                      <a:noAutofit/>
                    </a:bodyPr>
                    <a:lstStyle/>
                    <a:p>
                      <a:r>
                        <a:rPr sz="1875" b="1">
                          <a:solidFill>
                            <a:srgbClr val="FFFFFF"/>
                          </a:solidFill>
                          <a:latin typeface="DejaVu Sans"/>
                          <a:ea typeface="DejaVu Sans"/>
                          <a:cs typeface="DejaVu Sans"/>
                        </a:rPr>
                        <a:t>What it checks</a:t>
                      </a:r>
                    </a:p>
                  </a:txBody>
                  <a:tcPr marL="91440" marR="91440" marT="45720" marB="45720" anchor="ctr">
                    <a:lnR w="7620">
                      <a:solidFill>
                        <a:srgbClr val="CCDADC"/>
                      </a:solidFill>
                      <a:prstDash val="solid"/>
                    </a:lnR>
                    <a:lnT w="7620">
                      <a:solidFill>
                        <a:srgbClr val="CCDADC"/>
                      </a:solidFill>
                      <a:prstDash val="solid"/>
                    </a:lnT>
                    <a:lnB w="7620">
                      <a:solidFill>
                        <a:srgbClr val="CCDADC"/>
                      </a:solidFill>
                      <a:prstDash val="solid"/>
                    </a:lnB>
                    <a:solidFill>
                      <a:srgbClr val="102B3A"/>
                    </a:solidFill>
                  </a:tcPr>
                </a:tc>
              </a:tr>
              <a:tr h="897255">
                <a:tc>
                  <a:txBody>
                    <a:bodyPr wrap="square" lIns="152400" tIns="95250" rIns="152400" bIns="95250">
                      <a:noAutofit/>
                    </a:bodyPr>
                    <a:lstStyle/>
                    <a:p>
                      <a:r>
                        <a:rPr sz="1875" b="1">
                          <a:solidFill>
                            <a:srgbClr val="193646"/>
                          </a:solidFill>
                          <a:latin typeface="DejaVu Sans"/>
                          <a:ea typeface="DejaVu Sans"/>
                          <a:cs typeface="DejaVu Sans"/>
                        </a:rPr>
                        <a:t>Supported-answer rate</a:t>
                      </a:r>
                    </a:p>
                  </a:txBody>
                  <a:tcPr marL="91440" marR="91440" marT="45720" marB="45720" anchor="ctr">
                    <a:lnL w="7620">
                      <a:solidFill>
                        <a:srgbClr val="CCDADC"/>
                      </a:solidFill>
                      <a:prstDash val="solid"/>
                    </a:lnL>
                    <a:lnR w="7620">
                      <a:solidFill>
                        <a:srgbClr val="CCDADC"/>
                      </a:solidFill>
                      <a:prstDash val="solid"/>
                    </a:lnR>
                    <a:lnB w="7620">
                      <a:solidFill>
                        <a:srgbClr val="CCDADC"/>
                      </a:solidFill>
                      <a:prstDash val="solid"/>
                    </a:lnB>
                    <a:solidFill>
                      <a:srgbClr val="FFFFFF"/>
                    </a:solidFill>
                  </a:tcPr>
                </a:tc>
                <a:tc>
                  <a:txBody>
                    <a:bodyPr wrap="square" lIns="152400" tIns="95250" rIns="152400" bIns="95250">
                      <a:noAutofit/>
                    </a:bodyPr>
                    <a:lstStyle/>
                    <a:p>
                      <a:r>
                        <a:rPr sz="1875" b="0">
                          <a:solidFill>
                            <a:srgbClr val="193646"/>
                          </a:solidFill>
                          <a:latin typeface="DejaVu Sans"/>
                          <a:ea typeface="DejaVu Sans"/>
                          <a:cs typeface="DejaVu Sans"/>
                        </a:rPr>
                        <a:t>Fully source-supported answers /</a:t>
                      </a:r>
                    </a:p>
                    <a:p>
                      <a:r>
                        <a:rPr sz="1875" b="0">
                          <a:solidFill>
                            <a:srgbClr val="193646"/>
                          </a:solidFill>
                          <a:latin typeface="DejaVu Sans"/>
                          <a:ea typeface="DejaVu Sans"/>
                          <a:cs typeface="DejaVu Sans"/>
                        </a:rPr>
                        <a:t>non-abstained RAG test answers.</a:t>
                      </a:r>
                    </a:p>
                  </a:txBody>
                  <a:tcPr marL="91440" marR="91440" marT="45720" marB="45720" anchor="ctr">
                    <a:lnR w="7620">
                      <a:solidFill>
                        <a:srgbClr val="CCDADC"/>
                      </a:solidFill>
                      <a:prstDash val="solid"/>
                    </a:lnR>
                    <a:lnB w="7620">
                      <a:solidFill>
                        <a:srgbClr val="CCDADC"/>
                      </a:solidFill>
                      <a:prstDash val="solid"/>
                    </a:lnB>
                    <a:solidFill>
                      <a:srgbClr val="FFFFFF"/>
                    </a:solidFill>
                  </a:tcPr>
                </a:tc>
                <a:tc>
                  <a:txBody>
                    <a:bodyPr wrap="square" lIns="152400" tIns="95250" rIns="152400" bIns="95250">
                      <a:noAutofit/>
                    </a:bodyPr>
                    <a:lstStyle/>
                    <a:p>
                      <a:r>
                        <a:rPr sz="1875" b="0">
                          <a:solidFill>
                            <a:srgbClr val="193646"/>
                          </a:solidFill>
                          <a:latin typeface="DejaVu Sans"/>
                          <a:ea typeface="DejaVu Sans"/>
                          <a:cs typeface="DejaVu Sans"/>
                        </a:rPr>
                        <a:t>Every factual claim must follow from</a:t>
                      </a:r>
                    </a:p>
                    <a:p>
                      <a:r>
                        <a:rPr sz="1875" b="0">
                          <a:solidFill>
                            <a:srgbClr val="193646"/>
                          </a:solidFill>
                          <a:latin typeface="DejaVu Sans"/>
                          <a:ea typeface="DejaVu Sans"/>
                          <a:cs typeface="DejaVu Sans"/>
                        </a:rPr>
                        <a:t>the displayed evidence. Review manually.</a:t>
                      </a:r>
                    </a:p>
                  </a:txBody>
                  <a:tcPr marL="91440" marR="91440" marT="45720" marB="45720" anchor="ctr">
                    <a:lnR w="7620">
                      <a:solidFill>
                        <a:srgbClr val="CCDADC"/>
                      </a:solidFill>
                      <a:prstDash val="solid"/>
                    </a:lnR>
                    <a:lnB w="7620">
                      <a:solidFill>
                        <a:srgbClr val="CCDADC"/>
                      </a:solidFill>
                      <a:prstDash val="solid"/>
                    </a:lnB>
                    <a:solidFill>
                      <a:srgbClr val="FFFFFF"/>
                    </a:solidFill>
                  </a:tcPr>
                </a:tc>
              </a:tr>
              <a:tr h="897255">
                <a:tc>
                  <a:txBody>
                    <a:bodyPr wrap="square" lIns="152400" tIns="95250" rIns="152400" bIns="95250">
                      <a:noAutofit/>
                    </a:bodyPr>
                    <a:lstStyle/>
                    <a:p>
                      <a:r>
                        <a:rPr sz="1875" b="1">
                          <a:solidFill>
                            <a:srgbClr val="193646"/>
                          </a:solidFill>
                          <a:latin typeface="DejaVu Sans"/>
                          <a:ea typeface="DejaVu Sans"/>
                          <a:cs typeface="DejaVu Sans"/>
                        </a:rPr>
                        <a:t>False-answer rate</a:t>
                      </a:r>
                    </a:p>
                  </a:txBody>
                  <a:tcPr marL="91440" marR="91440" marT="45720" marB="45720" anchor="ctr">
                    <a:lnL w="7620">
                      <a:solidFill>
                        <a:srgbClr val="CCDADC"/>
                      </a:solidFill>
                      <a:prstDash val="solid"/>
                    </a:lnL>
                    <a:lnR w="7620">
                      <a:solidFill>
                        <a:srgbClr val="CCDADC"/>
                      </a:solidFill>
                      <a:prstDash val="solid"/>
                    </a:lnR>
                    <a:lnB w="7620">
                      <a:solidFill>
                        <a:srgbClr val="CCDADC"/>
                      </a:solidFill>
                      <a:prstDash val="solid"/>
                    </a:lnB>
                    <a:solidFill>
                      <a:srgbClr val="F5F9F9"/>
                    </a:solidFill>
                  </a:tcPr>
                </a:tc>
                <a:tc>
                  <a:txBody>
                    <a:bodyPr wrap="square" lIns="152400" tIns="95250" rIns="152400" bIns="95250">
                      <a:noAutofit/>
                    </a:bodyPr>
                    <a:lstStyle/>
                    <a:p>
                      <a:r>
                        <a:rPr sz="1875" b="0">
                          <a:solidFill>
                            <a:srgbClr val="193646"/>
                          </a:solidFill>
                          <a:latin typeface="DejaVu Sans"/>
                          <a:ea typeface="DejaVu Sans"/>
                          <a:cs typeface="DejaVu Sans"/>
                        </a:rPr>
                        <a:t>Non-abstained answers on the</a:t>
                      </a:r>
                    </a:p>
                    <a:p>
                      <a:r>
                        <a:rPr sz="1875" b="0">
                          <a:solidFill>
                            <a:srgbClr val="193646"/>
                          </a:solidFill>
                          <a:latin typeface="DejaVu Sans"/>
                          <a:ea typeface="DejaVu Sans"/>
                          <a:cs typeface="DejaVu Sans"/>
                        </a:rPr>
                        <a:t>6 unsupported tests / 6. Lower is better.</a:t>
                      </a:r>
                    </a:p>
                  </a:txBody>
                  <a:tcPr marL="91440" marR="91440" marT="45720" marB="45720" anchor="ctr">
                    <a:lnR w="7620">
                      <a:solidFill>
                        <a:srgbClr val="CCDADC"/>
                      </a:solidFill>
                      <a:prstDash val="solid"/>
                    </a:lnR>
                    <a:lnB w="7620">
                      <a:solidFill>
                        <a:srgbClr val="CCDADC"/>
                      </a:solidFill>
                      <a:prstDash val="solid"/>
                    </a:lnB>
                    <a:solidFill>
                      <a:srgbClr val="F5F9F9"/>
                    </a:solidFill>
                  </a:tcPr>
                </a:tc>
                <a:tc>
                  <a:txBody>
                    <a:bodyPr wrap="square" lIns="152400" tIns="95250" rIns="152400" bIns="95250">
                      <a:noAutofit/>
                    </a:bodyPr>
                    <a:lstStyle/>
                    <a:p>
                      <a:r>
                        <a:rPr sz="1875" b="0">
                          <a:solidFill>
                            <a:srgbClr val="193646"/>
                          </a:solidFill>
                          <a:latin typeface="DejaVu Sans"/>
                          <a:ea typeface="DejaVu Sans"/>
                          <a:cs typeface="DejaVu Sans"/>
                        </a:rPr>
                        <a:t>Whether the system invents an answer</a:t>
                      </a:r>
                    </a:p>
                    <a:p>
                      <a:r>
                        <a:rPr sz="1875" b="0">
                          <a:solidFill>
                            <a:srgbClr val="193646"/>
                          </a:solidFill>
                          <a:latin typeface="DejaVu Sans"/>
                          <a:ea typeface="DejaVu Sans"/>
                          <a:cs typeface="DejaVu Sans"/>
                        </a:rPr>
                        <a:t>when the local source is insufficient.</a:t>
                      </a:r>
                    </a:p>
                  </a:txBody>
                  <a:tcPr marL="91440" marR="91440" marT="45720" marB="45720" anchor="ctr">
                    <a:lnR w="7620">
                      <a:solidFill>
                        <a:srgbClr val="CCDADC"/>
                      </a:solidFill>
                      <a:prstDash val="solid"/>
                    </a:lnR>
                    <a:lnB w="7620">
                      <a:solidFill>
                        <a:srgbClr val="CCDADC"/>
                      </a:solidFill>
                      <a:prstDash val="solid"/>
                    </a:lnB>
                    <a:solidFill>
                      <a:srgbClr val="F5F9F9"/>
                    </a:solidFill>
                  </a:tcPr>
                </a:tc>
              </a:tr>
              <a:tr h="897255">
                <a:tc>
                  <a:txBody>
                    <a:bodyPr wrap="square" lIns="152400" tIns="95250" rIns="152400" bIns="95250">
                      <a:noAutofit/>
                    </a:bodyPr>
                    <a:lstStyle/>
                    <a:p>
                      <a:r>
                        <a:rPr sz="1875" b="1">
                          <a:solidFill>
                            <a:srgbClr val="193646"/>
                          </a:solidFill>
                          <a:latin typeface="DejaVu Sans"/>
                          <a:ea typeface="DejaVu Sans"/>
                          <a:cs typeface="DejaVu Sans"/>
                        </a:rPr>
                        <a:t>Answer coverage</a:t>
                      </a:r>
                    </a:p>
                  </a:txBody>
                  <a:tcPr marL="91440" marR="91440" marT="45720" marB="45720" anchor="ctr">
                    <a:lnL w="7620">
                      <a:solidFill>
                        <a:srgbClr val="CCDADC"/>
                      </a:solidFill>
                      <a:prstDash val="solid"/>
                    </a:lnL>
                    <a:lnR w="7620">
                      <a:solidFill>
                        <a:srgbClr val="CCDADC"/>
                      </a:solidFill>
                      <a:prstDash val="solid"/>
                    </a:lnR>
                    <a:lnB w="7620">
                      <a:solidFill>
                        <a:srgbClr val="CCDADC"/>
                      </a:solidFill>
                      <a:prstDash val="solid"/>
                    </a:lnB>
                    <a:solidFill>
                      <a:srgbClr val="FFFFFF"/>
                    </a:solidFill>
                  </a:tcPr>
                </a:tc>
                <a:tc>
                  <a:txBody>
                    <a:bodyPr wrap="square" lIns="152400" tIns="95250" rIns="152400" bIns="95250">
                      <a:noAutofit/>
                    </a:bodyPr>
                    <a:lstStyle/>
                    <a:p>
                      <a:r>
                        <a:rPr sz="1875" b="0">
                          <a:solidFill>
                            <a:srgbClr val="193646"/>
                          </a:solidFill>
                          <a:latin typeface="DejaVu Sans"/>
                          <a:ea typeface="DejaVu Sans"/>
                          <a:cs typeface="DejaVu Sans"/>
                        </a:rPr>
                        <a:t>Non-abstained answers on the</a:t>
                      </a:r>
                    </a:p>
                    <a:p>
                      <a:r>
                        <a:rPr sz="1875" b="0">
                          <a:solidFill>
                            <a:srgbClr val="193646"/>
                          </a:solidFill>
                          <a:latin typeface="DejaVu Sans"/>
                          <a:ea typeface="DejaVu Sans"/>
                          <a:cs typeface="DejaVu Sans"/>
                        </a:rPr>
                        <a:t>24 answerable tests / 24.</a:t>
                      </a:r>
                    </a:p>
                  </a:txBody>
                  <a:tcPr marL="91440" marR="91440" marT="45720" marB="45720" anchor="ctr">
                    <a:lnR w="7620">
                      <a:solidFill>
                        <a:srgbClr val="CCDADC"/>
                      </a:solidFill>
                      <a:prstDash val="solid"/>
                    </a:lnR>
                    <a:lnB w="7620">
                      <a:solidFill>
                        <a:srgbClr val="CCDADC"/>
                      </a:solidFill>
                      <a:prstDash val="solid"/>
                    </a:lnB>
                    <a:solidFill>
                      <a:srgbClr val="FFFFFF"/>
                    </a:solidFill>
                  </a:tcPr>
                </a:tc>
                <a:tc>
                  <a:txBody>
                    <a:bodyPr wrap="square" lIns="152400" tIns="95250" rIns="152400" bIns="95250">
                      <a:noAutofit/>
                    </a:bodyPr>
                    <a:lstStyle/>
                    <a:p>
                      <a:r>
                        <a:rPr sz="1875" b="0">
                          <a:solidFill>
                            <a:srgbClr val="193646"/>
                          </a:solidFill>
                          <a:latin typeface="DejaVu Sans"/>
                          <a:ea typeface="DejaVu Sans"/>
                          <a:cs typeface="DejaVu Sans"/>
                        </a:rPr>
                        <a:t>Exposes systems that appear faithful</a:t>
                      </a:r>
                    </a:p>
                    <a:p>
                      <a:r>
                        <a:rPr sz="1875" b="0">
                          <a:solidFill>
                            <a:srgbClr val="193646"/>
                          </a:solidFill>
                          <a:latin typeface="DejaVu Sans"/>
                          <a:ea typeface="DejaVu Sans"/>
                          <a:cs typeface="DejaVu Sans"/>
                        </a:rPr>
                        <a:t>by refusing too many useful questions.</a:t>
                      </a:r>
                    </a:p>
                  </a:txBody>
                  <a:tcPr marL="91440" marR="91440" marT="45720" marB="45720" anchor="ctr">
                    <a:lnR w="7620">
                      <a:solidFill>
                        <a:srgbClr val="CCDADC"/>
                      </a:solidFill>
                      <a:prstDash val="solid"/>
                    </a:lnR>
                    <a:lnB w="7620">
                      <a:solidFill>
                        <a:srgbClr val="CCDADC"/>
                      </a:solidFill>
                      <a:prstDash val="solid"/>
                    </a:lnB>
                    <a:solidFill>
                      <a:srgbClr val="FFFFFF"/>
                    </a:solidFill>
                  </a:tcPr>
                </a:tc>
              </a:tr>
              <a:tr h="897255">
                <a:tc>
                  <a:txBody>
                    <a:bodyPr wrap="square" lIns="152400" tIns="95250" rIns="152400" bIns="95250">
                      <a:noAutofit/>
                    </a:bodyPr>
                    <a:lstStyle/>
                    <a:p>
                      <a:r>
                        <a:rPr sz="1875" b="1">
                          <a:solidFill>
                            <a:srgbClr val="193646"/>
                          </a:solidFill>
                          <a:latin typeface="DejaVu Sans"/>
                          <a:ea typeface="DejaVu Sans"/>
                          <a:cs typeface="DejaVu Sans"/>
                        </a:rPr>
                        <a:t>Median latency</a:t>
                      </a:r>
                    </a:p>
                  </a:txBody>
                  <a:tcPr marL="91440" marR="91440" marT="45720" marB="45720" anchor="ctr">
                    <a:lnL w="7620">
                      <a:solidFill>
                        <a:srgbClr val="CCDADC"/>
                      </a:solidFill>
                      <a:prstDash val="solid"/>
                    </a:lnL>
                    <a:lnR w="7620">
                      <a:solidFill>
                        <a:srgbClr val="CCDADC"/>
                      </a:solidFill>
                      <a:prstDash val="solid"/>
                    </a:lnR>
                    <a:lnB w="7620">
                      <a:solidFill>
                        <a:srgbClr val="CCDADC"/>
                      </a:solidFill>
                      <a:prstDash val="solid"/>
                    </a:lnB>
                    <a:solidFill>
                      <a:srgbClr val="F5F9F9"/>
                    </a:solidFill>
                  </a:tcPr>
                </a:tc>
                <a:tc>
                  <a:txBody>
                    <a:bodyPr wrap="square" lIns="152400" tIns="95250" rIns="152400" bIns="95250">
                      <a:noAutofit/>
                    </a:bodyPr>
                    <a:lstStyle/>
                    <a:p>
                      <a:r>
                        <a:rPr sz="1875" b="0">
                          <a:solidFill>
                            <a:srgbClr val="193646"/>
                          </a:solidFill>
                          <a:latin typeface="DejaVu Sans"/>
                          <a:ea typeface="DejaVu Sans"/>
                          <a:cs typeface="DejaVu Sans"/>
                        </a:rPr>
                        <a:t>Median warmed end-to-end time</a:t>
                      </a:r>
                    </a:p>
                    <a:p>
                      <a:r>
                        <a:rPr sz="1875" b="0">
                          <a:solidFill>
                            <a:srgbClr val="193646"/>
                          </a:solidFill>
                          <a:latin typeface="DejaVu Sans"/>
                          <a:ea typeface="DejaVu Sans"/>
                          <a:cs typeface="DejaVu Sans"/>
                        </a:rPr>
                        <a:t>over the same 30 tests, in seconds.</a:t>
                      </a:r>
                    </a:p>
                  </a:txBody>
                  <a:tcPr marL="91440" marR="91440" marT="45720" marB="45720" anchor="ctr">
                    <a:lnR w="7620">
                      <a:solidFill>
                        <a:srgbClr val="CCDADC"/>
                      </a:solidFill>
                      <a:prstDash val="solid"/>
                    </a:lnR>
                    <a:lnB w="7620">
                      <a:solidFill>
                        <a:srgbClr val="CCDADC"/>
                      </a:solidFill>
                      <a:prstDash val="solid"/>
                    </a:lnB>
                    <a:solidFill>
                      <a:srgbClr val="F5F9F9"/>
                    </a:solidFill>
                  </a:tcPr>
                </a:tc>
                <a:tc>
                  <a:txBody>
                    <a:bodyPr wrap="square" lIns="152400" tIns="95250" rIns="152400" bIns="95250">
                      <a:noAutofit/>
                    </a:bodyPr>
                    <a:lstStyle/>
                    <a:p>
                      <a:r>
                        <a:rPr sz="1875" b="0">
                          <a:solidFill>
                            <a:srgbClr val="193646"/>
                          </a:solidFill>
                          <a:latin typeface="DejaVu Sans"/>
                          <a:ea typeface="DejaVu Sans"/>
                          <a:cs typeface="DejaVu Sans"/>
                        </a:rPr>
                        <a:t>Compares response speed on one</a:t>
                      </a:r>
                    </a:p>
                    <a:p>
                      <a:r>
                        <a:rPr sz="1875" b="0">
                          <a:solidFill>
                            <a:srgbClr val="193646"/>
                          </a:solidFill>
                          <a:latin typeface="DejaVu Sans"/>
                          <a:ea typeface="DejaVu Sans"/>
                          <a:cs typeface="DejaVu Sans"/>
                        </a:rPr>
                        <a:t>named machine. Exclude initial loading.</a:t>
                      </a:r>
                    </a:p>
                  </a:txBody>
                  <a:tcPr marL="91440" marR="91440" marT="45720" marB="45720" anchor="ctr">
                    <a:lnR w="7620">
                      <a:solidFill>
                        <a:srgbClr val="CCDADC"/>
                      </a:solidFill>
                      <a:prstDash val="solid"/>
                    </a:lnR>
                    <a:lnB w="7620">
                      <a:solidFill>
                        <a:srgbClr val="CCDADC"/>
                      </a:solidFill>
                      <a:prstDash val="solid"/>
                    </a:lnB>
                    <a:solidFill>
                      <a:srgbClr val="F5F9F9"/>
                    </a:solidFill>
                  </a:tcPr>
                </a:tc>
              </a:tr>
              <a:tr h="897255">
                <a:tc>
                  <a:txBody>
                    <a:bodyPr wrap="square" lIns="152400" tIns="95250" rIns="152400" bIns="95250">
                      <a:noAutofit/>
                    </a:bodyPr>
                    <a:lstStyle/>
                    <a:p>
                      <a:r>
                        <a:rPr sz="1875" b="1">
                          <a:solidFill>
                            <a:srgbClr val="193646"/>
                          </a:solidFill>
                          <a:latin typeface="DejaVu Sans"/>
                          <a:ea typeface="DejaVu Sans"/>
                          <a:cs typeface="DejaVu Sans"/>
                        </a:rPr>
                        <a:t>Peak memory</a:t>
                      </a:r>
                    </a:p>
                  </a:txBody>
                  <a:tcPr marL="91440" marR="91440" marT="45720" marB="45720" anchor="ctr">
                    <a:lnL w="7620">
                      <a:solidFill>
                        <a:srgbClr val="CCDADC"/>
                      </a:solidFill>
                      <a:prstDash val="solid"/>
                    </a:lnL>
                    <a:lnR w="7620">
                      <a:solidFill>
                        <a:srgbClr val="CCDADC"/>
                      </a:solidFill>
                      <a:prstDash val="solid"/>
                    </a:lnR>
                    <a:lnB w="7620">
                      <a:solidFill>
                        <a:srgbClr val="CCDADC"/>
                      </a:solidFill>
                      <a:prstDash val="solid"/>
                    </a:lnB>
                    <a:solidFill>
                      <a:srgbClr val="FFFFFF"/>
                    </a:solidFill>
                  </a:tcPr>
                </a:tc>
                <a:tc>
                  <a:txBody>
                    <a:bodyPr wrap="square" lIns="152400" tIns="95250" rIns="152400" bIns="95250">
                      <a:noAutofit/>
                    </a:bodyPr>
                    <a:lstStyle/>
                    <a:p>
                      <a:r>
                        <a:rPr sz="1875" b="0">
                          <a:solidFill>
                            <a:srgbClr val="193646"/>
                          </a:solidFill>
                          <a:latin typeface="DejaVu Sans"/>
                          <a:ea typeface="DejaVu Sans"/>
                          <a:cs typeface="DejaVu Sans"/>
                        </a:rPr>
                        <a:t>Highest process RAM observed</a:t>
                      </a:r>
                    </a:p>
                    <a:p>
                      <a:r>
                        <a:rPr sz="1875" b="0">
                          <a:solidFill>
                            <a:srgbClr val="193646"/>
                          </a:solidFill>
                          <a:latin typeface="DejaVu Sans"/>
                          <a:ea typeface="DejaVu Sans"/>
                          <a:cs typeface="DejaVu Sans"/>
                        </a:rPr>
                        <a:t>during test runs, in MB.</a:t>
                      </a:r>
                    </a:p>
                  </a:txBody>
                  <a:tcPr marL="91440" marR="91440" marT="45720" marB="45720" anchor="ctr">
                    <a:lnR w="7620">
                      <a:solidFill>
                        <a:srgbClr val="CCDADC"/>
                      </a:solidFill>
                      <a:prstDash val="solid"/>
                    </a:lnR>
                    <a:lnB w="7620">
                      <a:solidFill>
                        <a:srgbClr val="CCDADC"/>
                      </a:solidFill>
                      <a:prstDash val="solid"/>
                    </a:lnB>
                    <a:solidFill>
                      <a:srgbClr val="FFFFFF"/>
                    </a:solidFill>
                  </a:tcPr>
                </a:tc>
                <a:tc>
                  <a:txBody>
                    <a:bodyPr wrap="square" lIns="152400" tIns="95250" rIns="152400" bIns="95250">
                      <a:noAutofit/>
                    </a:bodyPr>
                    <a:lstStyle/>
                    <a:p>
                      <a:r>
                        <a:rPr sz="1875" b="0">
                          <a:solidFill>
                            <a:srgbClr val="193646"/>
                          </a:solidFill>
                          <a:latin typeface="DejaVu Sans"/>
                          <a:ea typeface="DejaVu Sans"/>
                          <a:cs typeface="DejaVu Sans"/>
                        </a:rPr>
                        <a:t>Checks whether the local prototype</a:t>
                      </a:r>
                    </a:p>
                    <a:p>
                      <a:r>
                        <a:rPr sz="1875" b="0">
                          <a:solidFill>
                            <a:srgbClr val="193646"/>
                          </a:solidFill>
                          <a:latin typeface="DejaVu Sans"/>
                          <a:ea typeface="DejaVu Sans"/>
                          <a:cs typeface="DejaVu Sans"/>
                        </a:rPr>
                        <a:t>fits the group’s available machine.</a:t>
                      </a:r>
                    </a:p>
                  </a:txBody>
                  <a:tcPr marL="91440" marR="91440" marT="45720" marB="45720" anchor="ctr">
                    <a:lnR w="7620">
                      <a:solidFill>
                        <a:srgbClr val="CCDADC"/>
                      </a:solidFill>
                      <a:prstDash val="solid"/>
                    </a:lnR>
                    <a:lnB w="7620">
                      <a:solidFill>
                        <a:srgbClr val="CCDADC"/>
                      </a:solidFill>
                      <a:prstDash val="solid"/>
                    </a:lnB>
                    <a:solidFill>
                      <a:srgbClr val="FFFFFF"/>
                    </a:solidFill>
                  </a:tcPr>
                </a:tc>
              </a:tr>
            </a:tbl>
          </a:graphicData>
        </a:graphic>
      </p:graphicFrame>
      <p:sp>
        <p:nvSpPr>
          <p:cNvPr id="4" name="context-note">
            <a:extLst xmlns:a="http://schemas.openxmlformats.org/drawingml/2006/main">
              <a:ext uri="{FF2B5EF4-FFF2-40B4-BE49-F238E27FC236}">
                <a16:creationId xmlns:a16="http://schemas.microsoft.com/office/drawing/2014/main" id="{358D61F8-B2CC-41BA-8923-E4B3E8A704C6}"/>
              </a:ext>
            </a:extLst>
          </p:cNvPr>
          <p:cNvSpPr>
            <a:spLocks xmlns:a="http://schemas.openxmlformats.org/drawingml/2006/main" noGrp="1"/>
          </p:cNvSpPr>
          <p:nvPr/>
        </p:nvSpPr>
        <p:spPr>
          <a:xfrm xmlns:a="http://schemas.openxmlformats.org/drawingml/2006/main">
            <a:off x="762000" y="7458075"/>
            <a:ext cx="13049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0">
                <a:solidFill>
                  <a:srgbClr val="526975"/>
                </a:solidFill>
                <a:latin typeface="DejaVu Sans"/>
                <a:ea typeface="DejaVu Sans"/>
                <a:cs typeface="DejaVu Sans"/>
              </a:defRPr>
            </a:defPPr>
            <a:lvl1pPr>
              <a:defRPr sz="1575" b="0">
                <a:solidFill>
                  <a:srgbClr val="526975"/>
                </a:solidFill>
                <a:latin typeface="DejaVu Sans"/>
                <a:ea typeface="DejaVu Sans"/>
                <a:cs typeface="DejaVu Sans"/>
              </a:defRPr>
            </a:lvl1pPr>
            <a:lvl2pPr>
              <a:defRPr sz="1575" b="0">
                <a:solidFill>
                  <a:srgbClr val="526975"/>
                </a:solidFill>
                <a:latin typeface="DejaVu Sans"/>
                <a:ea typeface="DejaVu Sans"/>
                <a:cs typeface="DejaVu Sans"/>
              </a:defRPr>
            </a:lvl2pPr>
            <a:lvl3pPr>
              <a:defRPr sz="1575" b="0">
                <a:solidFill>
                  <a:srgbClr val="526975"/>
                </a:solidFill>
                <a:latin typeface="DejaVu Sans"/>
                <a:ea typeface="DejaVu Sans"/>
                <a:cs typeface="DejaVu Sans"/>
              </a:defRPr>
            </a:lvl3pPr>
            <a:lvl4pPr>
              <a:defRPr sz="1575" b="0">
                <a:solidFill>
                  <a:srgbClr val="526975"/>
                </a:solidFill>
                <a:latin typeface="DejaVu Sans"/>
                <a:ea typeface="DejaVu Sans"/>
                <a:cs typeface="DejaVu Sans"/>
              </a:defRPr>
            </a:lvl4pPr>
            <a:lvl5pPr>
              <a:defRPr sz="1575" b="0">
                <a:solidFill>
                  <a:srgbClr val="526975"/>
                </a:solidFill>
                <a:latin typeface="DejaVu Sans"/>
                <a:ea typeface="DejaVu Sans"/>
                <a:cs typeface="DejaVu Sans"/>
              </a:defRPr>
            </a:lvl5pPr>
            <a:lvl6pPr>
              <a:defRPr sz="1575" b="0">
                <a:solidFill>
                  <a:srgbClr val="526975"/>
                </a:solidFill>
                <a:latin typeface="DejaVu Sans"/>
                <a:ea typeface="DejaVu Sans"/>
                <a:cs typeface="DejaVu Sans"/>
              </a:defRPr>
            </a:lvl6pPr>
            <a:lvl7pPr>
              <a:defRPr sz="1575" b="0">
                <a:solidFill>
                  <a:srgbClr val="526975"/>
                </a:solidFill>
                <a:latin typeface="DejaVu Sans"/>
                <a:ea typeface="DejaVu Sans"/>
                <a:cs typeface="DejaVu Sans"/>
              </a:defRPr>
            </a:lvl7pPr>
            <a:lvl8pPr>
              <a:defRPr sz="1575" b="0">
                <a:solidFill>
                  <a:srgbClr val="526975"/>
                </a:solidFill>
                <a:latin typeface="DejaVu Sans"/>
                <a:ea typeface="DejaVu Sans"/>
                <a:cs typeface="DejaVu Sans"/>
              </a:defRPr>
            </a:lvl8pPr>
            <a:lvl9pPr>
              <a:defRPr sz="1575" b="0">
                <a:solidFill>
                  <a:srgbClr val="526975"/>
                </a:solidFill>
                <a:latin typeface="DejaVu Sans"/>
                <a:ea typeface="DejaVu Sans"/>
                <a:cs typeface="DejaVu Sans"/>
              </a:defRPr>
            </a:lvl9pPr>
          </a:lstStyle>
          <a:p xmlns:a="http://schemas.openxmlformats.org/drawingml/2006/main">
            <a:pPr>
              <a:defRPr sz="1575" b="0">
                <a:solidFill>
                  <a:srgbClr val="526975"/>
                </a:solidFill>
                <a:latin typeface="DejaVu Sans"/>
                <a:ea typeface="DejaVu Sans"/>
                <a:cs typeface="DejaVu Sans"/>
              </a:defRPr>
            </a:pPr>
            <a:r>
              <a:rPr sz="1575" b="0">
                <a:solidFill>
                  <a:srgbClr val="526975"/>
                </a:solidFill>
                <a:latin typeface="DejaVu Sans"/>
                <a:ea typeface="DejaVu Sans"/>
                <a:cs typeface="DejaVu Sans"/>
              </a:rPr>
              <a:t>Report counts with percentages. For the no-retrieval baseline, evidence support is N/A. Results remain to be measured.</a:t>
            </a:r>
          </a:p>
        </p:txBody>
      </p:sp>
    </p:spTree>
    <p:extLst>
      <p:ext uri="{BB962C8B-B14F-4D97-AF65-F5344CB8AC3E}">
        <p14:creationId xmlns:p14="http://schemas.microsoft.com/office/powerpoint/2010/main" val="432782978"/>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slide-title">
            <a:extLst xmlns:a="http://schemas.openxmlformats.org/drawingml/2006/main">
              <a:ext uri="{FF2B5EF4-FFF2-40B4-BE49-F238E27FC236}">
                <a16:creationId xmlns:a16="http://schemas.microsoft.com/office/drawing/2014/main" id="{CBDE1BBE-8272-4BA6-B9FD-D3EF931D5FE6}"/>
              </a:ext>
            </a:extLst>
          </p:cNvPr>
          <p:cNvSpPr>
            <a:spLocks xmlns:a="http://schemas.openxmlformats.org/drawingml/2006/main" noGrp="1"/>
          </p:cNvSpPr>
          <p:nvPr/>
        </p:nvSpPr>
        <p:spPr>
          <a:xfrm xmlns:a="http://schemas.openxmlformats.org/drawingml/2006/main">
            <a:off x="762000" y="571500"/>
            <a:ext cx="13620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450" b="1">
                <a:solidFill>
                  <a:srgbClr val="102B3A"/>
                </a:solidFill>
                <a:latin typeface="DejaVu Sans"/>
                <a:ea typeface="DejaVu Sans"/>
                <a:cs typeface="DejaVu Sans"/>
              </a:defRPr>
            </a:defPPr>
            <a:lvl1pPr>
              <a:buNone/>
              <a:defRPr sz="3450" b="1">
                <a:solidFill>
                  <a:srgbClr val="102B3A"/>
                </a:solidFill>
                <a:latin typeface="DejaVu Sans"/>
                <a:ea typeface="DejaVu Sans"/>
                <a:cs typeface="DejaVu Sans"/>
              </a:defRPr>
            </a:lvl1pPr>
            <a:lvl2pPr>
              <a:buNone/>
              <a:defRPr sz="3450" b="1">
                <a:solidFill>
                  <a:srgbClr val="102B3A"/>
                </a:solidFill>
                <a:latin typeface="DejaVu Sans"/>
                <a:ea typeface="DejaVu Sans"/>
                <a:cs typeface="DejaVu Sans"/>
              </a:defRPr>
            </a:lvl2pPr>
            <a:lvl3pPr>
              <a:buNone/>
              <a:defRPr sz="3450" b="1">
                <a:solidFill>
                  <a:srgbClr val="102B3A"/>
                </a:solidFill>
                <a:latin typeface="DejaVu Sans"/>
                <a:ea typeface="DejaVu Sans"/>
                <a:cs typeface="DejaVu Sans"/>
              </a:defRPr>
            </a:lvl3pPr>
            <a:lvl4pPr>
              <a:buNone/>
              <a:defRPr sz="3450" b="1">
                <a:solidFill>
                  <a:srgbClr val="102B3A"/>
                </a:solidFill>
                <a:latin typeface="DejaVu Sans"/>
                <a:ea typeface="DejaVu Sans"/>
                <a:cs typeface="DejaVu Sans"/>
              </a:defRPr>
            </a:lvl4pPr>
            <a:lvl5pPr>
              <a:buNone/>
              <a:defRPr sz="3450" b="1">
                <a:solidFill>
                  <a:srgbClr val="102B3A"/>
                </a:solidFill>
                <a:latin typeface="DejaVu Sans"/>
                <a:ea typeface="DejaVu Sans"/>
                <a:cs typeface="DejaVu Sans"/>
              </a:defRPr>
            </a:lvl5pPr>
            <a:lvl6pPr>
              <a:buNone/>
              <a:defRPr sz="3450" b="1">
                <a:solidFill>
                  <a:srgbClr val="102B3A"/>
                </a:solidFill>
                <a:latin typeface="DejaVu Sans"/>
                <a:ea typeface="DejaVu Sans"/>
                <a:cs typeface="DejaVu Sans"/>
              </a:defRPr>
            </a:lvl6pPr>
            <a:lvl7pPr>
              <a:buNone/>
              <a:defRPr sz="3450" b="1">
                <a:solidFill>
                  <a:srgbClr val="102B3A"/>
                </a:solidFill>
                <a:latin typeface="DejaVu Sans"/>
                <a:ea typeface="DejaVu Sans"/>
                <a:cs typeface="DejaVu Sans"/>
              </a:defRPr>
            </a:lvl7pPr>
            <a:lvl8pPr>
              <a:buNone/>
              <a:defRPr sz="3450" b="1">
                <a:solidFill>
                  <a:srgbClr val="102B3A"/>
                </a:solidFill>
                <a:latin typeface="DejaVu Sans"/>
                <a:ea typeface="DejaVu Sans"/>
                <a:cs typeface="DejaVu Sans"/>
              </a:defRPr>
            </a:lvl8pPr>
            <a:lvl9pPr>
              <a:buNone/>
              <a:defRPr sz="3450" b="1">
                <a:solidFill>
                  <a:srgbClr val="102B3A"/>
                </a:solidFill>
                <a:latin typeface="DejaVu Sans"/>
                <a:ea typeface="DejaVu Sans"/>
                <a:cs typeface="DejaVu Sans"/>
              </a:defRPr>
            </a:lvl9pPr>
          </a:lstStyle>
          <a:p xmlns:a="http://schemas.openxmlformats.org/drawingml/2006/main">
            <a:pPr>
              <a:buNone/>
              <a:defRPr sz="3450" b="1">
                <a:solidFill>
                  <a:srgbClr val="102B3A"/>
                </a:solidFill>
                <a:latin typeface="DejaVu Sans"/>
                <a:ea typeface="DejaVu Sans"/>
                <a:cs typeface="DejaVu Sans"/>
              </a:defRPr>
            </a:pPr>
            <a:r>
              <a:rPr sz="3450" b="1">
                <a:solidFill>
                  <a:srgbClr val="102B3A"/>
                </a:solidFill>
                <a:latin typeface="DejaVu Sans"/>
                <a:ea typeface="DejaVu Sans"/>
                <a:cs typeface="DejaVu Sans"/>
              </a:rPr>
              <a:t>A manageable implementation and final output</a:t>
            </a:r>
          </a:p>
        </p:txBody>
      </p:sp>
      <p:sp>
        <p:nvSpPr>
          <p:cNvPr id="2" name="slide-number">
            <a:extLst xmlns:a="http://schemas.openxmlformats.org/drawingml/2006/main">
              <a:ext uri="{FF2B5EF4-FFF2-40B4-BE49-F238E27FC236}">
                <a16:creationId xmlns:a16="http://schemas.microsoft.com/office/drawing/2014/main" id="{4DF5464E-2648-4956-B912-AA615ED748F1}"/>
              </a:ext>
            </a:extLst>
          </p:cNvPr>
          <p:cNvSpPr>
            <a:spLocks xmlns:a="http://schemas.openxmlformats.org/drawingml/2006/main" noGrp="1"/>
          </p:cNvSpPr>
          <p:nvPr/>
        </p:nvSpPr>
        <p:spPr>
          <a:xfrm xmlns:a="http://schemas.openxmlformats.org/drawingml/2006/main">
            <a:off x="13906500" y="795337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0">
                <a:solidFill>
                  <a:srgbClr val="526975"/>
                </a:solidFill>
                <a:latin typeface="DejaVu Sans"/>
                <a:ea typeface="DejaVu Sans"/>
                <a:cs typeface="DejaVu Sans"/>
              </a:defRPr>
            </a:defPPr>
            <a:lvl1pPr>
              <a:buNone/>
              <a:defRPr sz="1575" b="0">
                <a:solidFill>
                  <a:srgbClr val="526975"/>
                </a:solidFill>
                <a:latin typeface="DejaVu Sans"/>
                <a:ea typeface="DejaVu Sans"/>
                <a:cs typeface="DejaVu Sans"/>
              </a:defRPr>
            </a:lvl1pPr>
            <a:lvl2pPr>
              <a:buNone/>
              <a:defRPr sz="1575" b="0">
                <a:solidFill>
                  <a:srgbClr val="526975"/>
                </a:solidFill>
                <a:latin typeface="DejaVu Sans"/>
                <a:ea typeface="DejaVu Sans"/>
                <a:cs typeface="DejaVu Sans"/>
              </a:defRPr>
            </a:lvl2pPr>
            <a:lvl3pPr>
              <a:buNone/>
              <a:defRPr sz="1575" b="0">
                <a:solidFill>
                  <a:srgbClr val="526975"/>
                </a:solidFill>
                <a:latin typeface="DejaVu Sans"/>
                <a:ea typeface="DejaVu Sans"/>
                <a:cs typeface="DejaVu Sans"/>
              </a:defRPr>
            </a:lvl3pPr>
            <a:lvl4pPr>
              <a:buNone/>
              <a:defRPr sz="1575" b="0">
                <a:solidFill>
                  <a:srgbClr val="526975"/>
                </a:solidFill>
                <a:latin typeface="DejaVu Sans"/>
                <a:ea typeface="DejaVu Sans"/>
                <a:cs typeface="DejaVu Sans"/>
              </a:defRPr>
            </a:lvl4pPr>
            <a:lvl5pPr>
              <a:buNone/>
              <a:defRPr sz="1575" b="0">
                <a:solidFill>
                  <a:srgbClr val="526975"/>
                </a:solidFill>
                <a:latin typeface="DejaVu Sans"/>
                <a:ea typeface="DejaVu Sans"/>
                <a:cs typeface="DejaVu Sans"/>
              </a:defRPr>
            </a:lvl5pPr>
            <a:lvl6pPr>
              <a:buNone/>
              <a:defRPr sz="1575" b="0">
                <a:solidFill>
                  <a:srgbClr val="526975"/>
                </a:solidFill>
                <a:latin typeface="DejaVu Sans"/>
                <a:ea typeface="DejaVu Sans"/>
                <a:cs typeface="DejaVu Sans"/>
              </a:defRPr>
            </a:lvl6pPr>
            <a:lvl7pPr>
              <a:buNone/>
              <a:defRPr sz="1575" b="0">
                <a:solidFill>
                  <a:srgbClr val="526975"/>
                </a:solidFill>
                <a:latin typeface="DejaVu Sans"/>
                <a:ea typeface="DejaVu Sans"/>
                <a:cs typeface="DejaVu Sans"/>
              </a:defRPr>
            </a:lvl7pPr>
            <a:lvl8pPr>
              <a:buNone/>
              <a:defRPr sz="1575" b="0">
                <a:solidFill>
                  <a:srgbClr val="526975"/>
                </a:solidFill>
                <a:latin typeface="DejaVu Sans"/>
                <a:ea typeface="DejaVu Sans"/>
                <a:cs typeface="DejaVu Sans"/>
              </a:defRPr>
            </a:lvl8pPr>
            <a:lvl9pPr>
              <a:buNone/>
              <a:defRPr sz="1575" b="0">
                <a:solidFill>
                  <a:srgbClr val="526975"/>
                </a:solidFill>
                <a:latin typeface="DejaVu Sans"/>
                <a:ea typeface="DejaVu Sans"/>
                <a:cs typeface="DejaVu Sans"/>
              </a:defRPr>
            </a:lvl9pPr>
          </a:lstStyle>
          <a:p xmlns:a="http://schemas.openxmlformats.org/drawingml/2006/main">
            <a:pPr>
              <a:buNone/>
              <a:defRPr sz="1575" b="0">
                <a:solidFill>
                  <a:srgbClr val="526975"/>
                </a:solidFill>
                <a:latin typeface="DejaVu Sans"/>
                <a:ea typeface="DejaVu Sans"/>
                <a:cs typeface="DejaVu Sans"/>
              </a:defRPr>
            </a:pPr>
            <a:r>
              <a:rPr sz="1575" b="0">
                <a:solidFill>
                  <a:srgbClr val="526975"/>
                </a:solidFill>
                <a:latin typeface="DejaVu Sans"/>
                <a:ea typeface="DejaVu Sans"/>
                <a:cs typeface="DejaVu Sans"/>
              </a:rPr>
              <a:t>11</a:t>
            </a:r>
          </a:p>
        </p:txBody>
      </p:sp>
      <p:sp>
        <p:nvSpPr>
          <p:cNvPr id="3" name="deliverables-label">
            <a:extLst xmlns:a="http://schemas.openxmlformats.org/drawingml/2006/main">
              <a:ext uri="{FF2B5EF4-FFF2-40B4-BE49-F238E27FC236}">
                <a16:creationId xmlns:a16="http://schemas.microsoft.com/office/drawing/2014/main" id="{C03D8EC9-8F04-4114-AEAD-8E3E013D9997}"/>
              </a:ext>
            </a:extLst>
          </p:cNvPr>
          <p:cNvSpPr>
            <a:spLocks xmlns:a="http://schemas.openxmlformats.org/drawingml/2006/main" noGrp="1"/>
          </p:cNvSpPr>
          <p:nvPr/>
        </p:nvSpPr>
        <p:spPr>
          <a:xfrm xmlns:a="http://schemas.openxmlformats.org/drawingml/2006/main">
            <a:off x="762000" y="1733550"/>
            <a:ext cx="6381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1">
                <a:solidFill>
                  <a:srgbClr val="007D78"/>
                </a:solidFill>
                <a:latin typeface="DejaVu Sans"/>
                <a:ea typeface="DejaVu Sans"/>
                <a:cs typeface="DejaVu Sans"/>
              </a:defRPr>
            </a:defPPr>
            <a:lvl1pPr>
              <a:buNone/>
              <a:defRPr sz="2250" b="1">
                <a:solidFill>
                  <a:srgbClr val="007D78"/>
                </a:solidFill>
                <a:latin typeface="DejaVu Sans"/>
                <a:ea typeface="DejaVu Sans"/>
                <a:cs typeface="DejaVu Sans"/>
              </a:defRPr>
            </a:lvl1pPr>
            <a:lvl2pPr>
              <a:buNone/>
              <a:defRPr sz="2250" b="1">
                <a:solidFill>
                  <a:srgbClr val="007D78"/>
                </a:solidFill>
                <a:latin typeface="DejaVu Sans"/>
                <a:ea typeface="DejaVu Sans"/>
                <a:cs typeface="DejaVu Sans"/>
              </a:defRPr>
            </a:lvl2pPr>
            <a:lvl3pPr>
              <a:buNone/>
              <a:defRPr sz="2250" b="1">
                <a:solidFill>
                  <a:srgbClr val="007D78"/>
                </a:solidFill>
                <a:latin typeface="DejaVu Sans"/>
                <a:ea typeface="DejaVu Sans"/>
                <a:cs typeface="DejaVu Sans"/>
              </a:defRPr>
            </a:lvl3pPr>
            <a:lvl4pPr>
              <a:buNone/>
              <a:defRPr sz="2250" b="1">
                <a:solidFill>
                  <a:srgbClr val="007D78"/>
                </a:solidFill>
                <a:latin typeface="DejaVu Sans"/>
                <a:ea typeface="DejaVu Sans"/>
                <a:cs typeface="DejaVu Sans"/>
              </a:defRPr>
            </a:lvl4pPr>
            <a:lvl5pPr>
              <a:buNone/>
              <a:defRPr sz="2250" b="1">
                <a:solidFill>
                  <a:srgbClr val="007D78"/>
                </a:solidFill>
                <a:latin typeface="DejaVu Sans"/>
                <a:ea typeface="DejaVu Sans"/>
                <a:cs typeface="DejaVu Sans"/>
              </a:defRPr>
            </a:lvl5pPr>
            <a:lvl6pPr>
              <a:buNone/>
              <a:defRPr sz="2250" b="1">
                <a:solidFill>
                  <a:srgbClr val="007D78"/>
                </a:solidFill>
                <a:latin typeface="DejaVu Sans"/>
                <a:ea typeface="DejaVu Sans"/>
                <a:cs typeface="DejaVu Sans"/>
              </a:defRPr>
            </a:lvl6pPr>
            <a:lvl7pPr>
              <a:buNone/>
              <a:defRPr sz="2250" b="1">
                <a:solidFill>
                  <a:srgbClr val="007D78"/>
                </a:solidFill>
                <a:latin typeface="DejaVu Sans"/>
                <a:ea typeface="DejaVu Sans"/>
                <a:cs typeface="DejaVu Sans"/>
              </a:defRPr>
            </a:lvl7pPr>
            <a:lvl8pPr>
              <a:buNone/>
              <a:defRPr sz="2250" b="1">
                <a:solidFill>
                  <a:srgbClr val="007D78"/>
                </a:solidFill>
                <a:latin typeface="DejaVu Sans"/>
                <a:ea typeface="DejaVu Sans"/>
                <a:cs typeface="DejaVu Sans"/>
              </a:defRPr>
            </a:lvl8pPr>
            <a:lvl9pPr>
              <a:buNone/>
              <a:defRPr sz="2250" b="1">
                <a:solidFill>
                  <a:srgbClr val="007D78"/>
                </a:solidFill>
                <a:latin typeface="DejaVu Sans"/>
                <a:ea typeface="DejaVu Sans"/>
                <a:cs typeface="DejaVu Sans"/>
              </a:defRPr>
            </a:lvl9pPr>
          </a:lstStyle>
          <a:p xmlns:a="http://schemas.openxmlformats.org/drawingml/2006/main">
            <a:pPr>
              <a:buNone/>
              <a:defRPr sz="2250" b="1">
                <a:solidFill>
                  <a:srgbClr val="007D78"/>
                </a:solidFill>
                <a:latin typeface="DejaVu Sans"/>
                <a:ea typeface="DejaVu Sans"/>
                <a:cs typeface="DejaVu Sans"/>
              </a:defRPr>
            </a:pPr>
            <a:r>
              <a:rPr sz="2250" b="1">
                <a:solidFill>
                  <a:srgbClr val="007D78"/>
                </a:solidFill>
                <a:latin typeface="DejaVu Sans"/>
                <a:ea typeface="DejaVu Sans"/>
                <a:cs typeface="DejaVu Sans"/>
              </a:rPr>
              <a:t>What the group submits</a:t>
            </a:r>
          </a:p>
        </p:txBody>
      </p:sp>
      <p:sp>
        <p:nvSpPr>
          <p:cNvPr id="4" name="deliverables">
            <a:extLst xmlns:a="http://schemas.openxmlformats.org/drawingml/2006/main">
              <a:ext uri="{FF2B5EF4-FFF2-40B4-BE49-F238E27FC236}">
                <a16:creationId xmlns:a16="http://schemas.microsoft.com/office/drawing/2014/main" id="{479DE78C-99C3-41FB-AB32-E5A112BAAD6B}"/>
              </a:ext>
            </a:extLst>
          </p:cNvPr>
          <p:cNvSpPr>
            <a:spLocks xmlns:a="http://schemas.openxmlformats.org/drawingml/2006/main" noGrp="1"/>
          </p:cNvSpPr>
          <p:nvPr/>
        </p:nvSpPr>
        <p:spPr>
          <a:xfrm xmlns:a="http://schemas.openxmlformats.org/drawingml/2006/main">
            <a:off x="762000" y="2390775"/>
            <a:ext cx="6667500" cy="3238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0">
                <a:solidFill>
                  <a:srgbClr val="193646"/>
                </a:solidFill>
                <a:latin typeface="DejaVu Sans"/>
                <a:ea typeface="DejaVu Sans"/>
                <a:cs typeface="DejaVu Sans"/>
              </a:defRPr>
            </a:defPPr>
            <a:lvl1pPr>
              <a:buNone/>
              <a:defRPr sz="2250" b="0">
                <a:solidFill>
                  <a:srgbClr val="193646"/>
                </a:solidFill>
                <a:latin typeface="DejaVu Sans"/>
                <a:ea typeface="DejaVu Sans"/>
                <a:cs typeface="DejaVu Sans"/>
              </a:defRPr>
            </a:lvl1pPr>
            <a:lvl2pPr>
              <a:buNone/>
              <a:defRPr sz="2250" b="0">
                <a:solidFill>
                  <a:srgbClr val="193646"/>
                </a:solidFill>
                <a:latin typeface="DejaVu Sans"/>
                <a:ea typeface="DejaVu Sans"/>
                <a:cs typeface="DejaVu Sans"/>
              </a:defRPr>
            </a:lvl2pPr>
            <a:lvl3pPr>
              <a:buNone/>
              <a:defRPr sz="2250" b="0">
                <a:solidFill>
                  <a:srgbClr val="193646"/>
                </a:solidFill>
                <a:latin typeface="DejaVu Sans"/>
                <a:ea typeface="DejaVu Sans"/>
                <a:cs typeface="DejaVu Sans"/>
              </a:defRPr>
            </a:lvl3pPr>
            <a:lvl4pPr>
              <a:buNone/>
              <a:defRPr sz="2250" b="0">
                <a:solidFill>
                  <a:srgbClr val="193646"/>
                </a:solidFill>
                <a:latin typeface="DejaVu Sans"/>
                <a:ea typeface="DejaVu Sans"/>
                <a:cs typeface="DejaVu Sans"/>
              </a:defRPr>
            </a:lvl4pPr>
            <a:lvl5pPr>
              <a:buNone/>
              <a:defRPr sz="2250" b="0">
                <a:solidFill>
                  <a:srgbClr val="193646"/>
                </a:solidFill>
                <a:latin typeface="DejaVu Sans"/>
                <a:ea typeface="DejaVu Sans"/>
                <a:cs typeface="DejaVu Sans"/>
              </a:defRPr>
            </a:lvl5pPr>
            <a:lvl6pPr>
              <a:buNone/>
              <a:defRPr sz="2250" b="0">
                <a:solidFill>
                  <a:srgbClr val="193646"/>
                </a:solidFill>
                <a:latin typeface="DejaVu Sans"/>
                <a:ea typeface="DejaVu Sans"/>
                <a:cs typeface="DejaVu Sans"/>
              </a:defRPr>
            </a:lvl6pPr>
            <a:lvl7pPr>
              <a:buNone/>
              <a:defRPr sz="2250" b="0">
                <a:solidFill>
                  <a:srgbClr val="193646"/>
                </a:solidFill>
                <a:latin typeface="DejaVu Sans"/>
                <a:ea typeface="DejaVu Sans"/>
                <a:cs typeface="DejaVu Sans"/>
              </a:defRPr>
            </a:lvl7pPr>
            <a:lvl8pPr>
              <a:buNone/>
              <a:defRPr sz="2250" b="0">
                <a:solidFill>
                  <a:srgbClr val="193646"/>
                </a:solidFill>
                <a:latin typeface="DejaVu Sans"/>
                <a:ea typeface="DejaVu Sans"/>
                <a:cs typeface="DejaVu Sans"/>
              </a:defRPr>
            </a:lvl8pPr>
            <a:lvl9pPr>
              <a:buNone/>
              <a:defRPr sz="2250" b="0">
                <a:solidFill>
                  <a:srgbClr val="193646"/>
                </a:solidFill>
                <a:latin typeface="DejaVu Sans"/>
                <a:ea typeface="DejaVu Sans"/>
                <a:cs typeface="DejaVu Sans"/>
              </a:defRPr>
            </a:lvl9pPr>
          </a:lstStyle>
          <a:p xmlns:a="http://schemas.openxmlformats.org/drawingml/2006/main">
            <a:pPr>
              <a:buNone/>
              <a:defRPr sz="2250" b="0">
                <a:solidFill>
                  <a:srgbClr val="193646"/>
                </a:solidFill>
                <a:latin typeface="DejaVu Sans"/>
                <a:ea typeface="DejaVu Sans"/>
                <a:cs typeface="DejaVu Sans"/>
              </a:defRPr>
            </a:pPr>
            <a:r>
              <a:rPr sz="2250" b="0">
                <a:solidFill>
                  <a:srgbClr val="193646"/>
                </a:solidFill>
                <a:latin typeface="DejaVu Sans"/>
                <a:ea typeface="DejaVu Sans"/>
                <a:cs typeface="DejaVu Sans"/>
              </a:rPr>
              <a:t>A local question-answer demo</a:t>
            </a:r>
          </a:p>
          <a:p xmlns:a="http://schemas.openxmlformats.org/drawingml/2006/main">
            <a:pPr>
              <a:buNone/>
              <a:defRPr sz="2250" b="0">
                <a:solidFill>
                  <a:srgbClr val="193646"/>
                </a:solidFill>
                <a:latin typeface="DejaVu Sans"/>
                <a:ea typeface="DejaVu Sans"/>
                <a:cs typeface="DejaVu Sans"/>
              </a:defRPr>
            </a:pPr>
            <a:r>
              <a:rPr sz="2250" b="0">
                <a:solidFill>
                  <a:srgbClr val="193646"/>
                </a:solidFill>
                <a:latin typeface="DejaVu Sans"/>
                <a:ea typeface="DejaVu Sans"/>
                <a:cs typeface="DejaVu Sans"/>
              </a:rPr>
              <a:t>with answers and the supporting notes.</a:t>
            </a:r>
          </a:p>
          <a:p xmlns:a="http://schemas.openxmlformats.org/drawingml/2006/main">
            <a:r>
              <a:t/>
            </a:r>
          </a:p>
          <a:p xmlns:a="http://schemas.openxmlformats.org/drawingml/2006/main">
            <a:pPr>
              <a:buNone/>
              <a:defRPr sz="2250" b="0">
                <a:solidFill>
                  <a:srgbClr val="193646"/>
                </a:solidFill>
                <a:latin typeface="DejaVu Sans"/>
                <a:ea typeface="DejaVu Sans"/>
                <a:cs typeface="DejaVu Sans"/>
              </a:defRPr>
            </a:pPr>
            <a:r>
              <a:rPr sz="2250" b="0">
                <a:solidFill>
                  <a:srgbClr val="193646"/>
                </a:solidFill>
                <a:latin typeface="DejaVu Sans"/>
                <a:ea typeface="DejaVu Sans"/>
                <a:cs typeface="DejaVu Sans"/>
              </a:rPr>
              <a:t>A fixed source manifest and the</a:t>
            </a:r>
          </a:p>
          <a:p xmlns:a="http://schemas.openxmlformats.org/drawingml/2006/main">
            <a:pPr>
              <a:buNone/>
              <a:defRPr sz="2250" b="0">
                <a:solidFill>
                  <a:srgbClr val="193646"/>
                </a:solidFill>
                <a:latin typeface="DejaVu Sans"/>
                <a:ea typeface="DejaVu Sans"/>
                <a:cs typeface="DejaVu Sans"/>
              </a:defRPr>
            </a:pPr>
            <a:r>
              <a:rPr sz="2250" b="0">
                <a:solidFill>
                  <a:srgbClr val="193646"/>
                </a:solidFill>
                <a:latin typeface="DejaVu Sans"/>
                <a:ea typeface="DejaVu Sans"/>
                <a:cs typeface="DejaVu Sans"/>
              </a:rPr>
              <a:t>40-question reference set in JSON.</a:t>
            </a:r>
          </a:p>
          <a:p xmlns:a="http://schemas.openxmlformats.org/drawingml/2006/main">
            <a:r>
              <a:t/>
            </a:r>
          </a:p>
          <a:p xmlns:a="http://schemas.openxmlformats.org/drawingml/2006/main">
            <a:pPr>
              <a:buNone/>
              <a:defRPr sz="2250" b="0">
                <a:solidFill>
                  <a:srgbClr val="193646"/>
                </a:solidFill>
                <a:latin typeface="DejaVu Sans"/>
                <a:ea typeface="DejaVu Sans"/>
                <a:cs typeface="DejaVu Sans"/>
              </a:defRPr>
            </a:pPr>
            <a:r>
              <a:rPr sz="2250" b="0">
                <a:solidFill>
                  <a:srgbClr val="193646"/>
                </a:solidFill>
                <a:latin typeface="DejaVu Sans"/>
                <a:ea typeface="DejaVu Sans"/>
                <a:cs typeface="DejaVu Sans"/>
              </a:rPr>
              <a:t>A seven-setting comparison of accuracy,</a:t>
            </a:r>
          </a:p>
          <a:p xmlns:a="http://schemas.openxmlformats.org/drawingml/2006/main">
            <a:pPr>
              <a:buNone/>
              <a:defRPr sz="2250" b="0">
                <a:solidFill>
                  <a:srgbClr val="193646"/>
                </a:solidFill>
                <a:latin typeface="DejaVu Sans"/>
                <a:ea typeface="DejaVu Sans"/>
                <a:cs typeface="DejaVu Sans"/>
              </a:defRPr>
            </a:pPr>
            <a:r>
              <a:rPr sz="2250" b="0">
                <a:solidFill>
                  <a:srgbClr val="193646"/>
                </a:solidFill>
                <a:latin typeface="DejaVu Sans"/>
                <a:ea typeface="DejaVu Sans"/>
                <a:cs typeface="DejaVu Sans"/>
              </a:rPr>
              <a:t>source support and speed, with error cases.</a:t>
            </a:r>
          </a:p>
        </p:txBody>
      </p:sp>
      <p:sp>
        <p:nvSpPr>
          <p:cNvPr id="5" name="scope-boundary">
            <a:extLst xmlns:a="http://schemas.openxmlformats.org/drawingml/2006/main">
              <a:ext uri="{FF2B5EF4-FFF2-40B4-BE49-F238E27FC236}">
                <a16:creationId xmlns:a16="http://schemas.microsoft.com/office/drawing/2014/main" id="{698AA9DC-FDA9-4F88-83C2-58187483E917}"/>
              </a:ext>
            </a:extLst>
          </p:cNvPr>
          <p:cNvSpPr>
            <a:spLocks xmlns:a="http://schemas.openxmlformats.org/drawingml/2006/main" noGrp="1"/>
          </p:cNvSpPr>
          <p:nvPr/>
        </p:nvSpPr>
        <p:spPr>
          <a:xfrm xmlns:a="http://schemas.openxmlformats.org/drawingml/2006/main">
            <a:off x="762000" y="6153150"/>
            <a:ext cx="66675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325" b="1">
                <a:solidFill>
                  <a:srgbClr val="102B3A"/>
                </a:solidFill>
                <a:latin typeface="DejaVu Sans"/>
                <a:ea typeface="DejaVu Sans"/>
                <a:cs typeface="DejaVu Sans"/>
              </a:defRPr>
            </a:defPPr>
            <a:lvl1pPr>
              <a:buNone/>
              <a:defRPr sz="2325" b="1">
                <a:solidFill>
                  <a:srgbClr val="102B3A"/>
                </a:solidFill>
                <a:latin typeface="DejaVu Sans"/>
                <a:ea typeface="DejaVu Sans"/>
                <a:cs typeface="DejaVu Sans"/>
              </a:defRPr>
            </a:lvl1pPr>
            <a:lvl2pPr>
              <a:buNone/>
              <a:defRPr sz="2325" b="1">
                <a:solidFill>
                  <a:srgbClr val="102B3A"/>
                </a:solidFill>
                <a:latin typeface="DejaVu Sans"/>
                <a:ea typeface="DejaVu Sans"/>
                <a:cs typeface="DejaVu Sans"/>
              </a:defRPr>
            </a:lvl2pPr>
            <a:lvl3pPr>
              <a:buNone/>
              <a:defRPr sz="2325" b="1">
                <a:solidFill>
                  <a:srgbClr val="102B3A"/>
                </a:solidFill>
                <a:latin typeface="DejaVu Sans"/>
                <a:ea typeface="DejaVu Sans"/>
                <a:cs typeface="DejaVu Sans"/>
              </a:defRPr>
            </a:lvl3pPr>
            <a:lvl4pPr>
              <a:buNone/>
              <a:defRPr sz="2325" b="1">
                <a:solidFill>
                  <a:srgbClr val="102B3A"/>
                </a:solidFill>
                <a:latin typeface="DejaVu Sans"/>
                <a:ea typeface="DejaVu Sans"/>
                <a:cs typeface="DejaVu Sans"/>
              </a:defRPr>
            </a:lvl4pPr>
            <a:lvl5pPr>
              <a:buNone/>
              <a:defRPr sz="2325" b="1">
                <a:solidFill>
                  <a:srgbClr val="102B3A"/>
                </a:solidFill>
                <a:latin typeface="DejaVu Sans"/>
                <a:ea typeface="DejaVu Sans"/>
                <a:cs typeface="DejaVu Sans"/>
              </a:defRPr>
            </a:lvl5pPr>
            <a:lvl6pPr>
              <a:buNone/>
              <a:defRPr sz="2325" b="1">
                <a:solidFill>
                  <a:srgbClr val="102B3A"/>
                </a:solidFill>
                <a:latin typeface="DejaVu Sans"/>
                <a:ea typeface="DejaVu Sans"/>
                <a:cs typeface="DejaVu Sans"/>
              </a:defRPr>
            </a:lvl6pPr>
            <a:lvl7pPr>
              <a:buNone/>
              <a:defRPr sz="2325" b="1">
                <a:solidFill>
                  <a:srgbClr val="102B3A"/>
                </a:solidFill>
                <a:latin typeface="DejaVu Sans"/>
                <a:ea typeface="DejaVu Sans"/>
                <a:cs typeface="DejaVu Sans"/>
              </a:defRPr>
            </a:lvl7pPr>
            <a:lvl8pPr>
              <a:buNone/>
              <a:defRPr sz="2325" b="1">
                <a:solidFill>
                  <a:srgbClr val="102B3A"/>
                </a:solidFill>
                <a:latin typeface="DejaVu Sans"/>
                <a:ea typeface="DejaVu Sans"/>
                <a:cs typeface="DejaVu Sans"/>
              </a:defRPr>
            </a:lvl8pPr>
            <a:lvl9pPr>
              <a:buNone/>
              <a:defRPr sz="2325" b="1">
                <a:solidFill>
                  <a:srgbClr val="102B3A"/>
                </a:solidFill>
                <a:latin typeface="DejaVu Sans"/>
                <a:ea typeface="DejaVu Sans"/>
                <a:cs typeface="DejaVu Sans"/>
              </a:defRPr>
            </a:lvl9pPr>
          </a:lstStyle>
          <a:p xmlns:a="http://schemas.openxmlformats.org/drawingml/2006/main">
            <a:pPr>
              <a:buNone/>
              <a:defRPr sz="2325" b="1">
                <a:solidFill>
                  <a:srgbClr val="102B3A"/>
                </a:solidFill>
                <a:latin typeface="DejaVu Sans"/>
                <a:ea typeface="DejaVu Sans"/>
                <a:cs typeface="DejaVu Sans"/>
              </a:defRPr>
            </a:pPr>
            <a:r>
              <a:rPr sz="2325" b="1">
                <a:solidFill>
                  <a:srgbClr val="102B3A"/>
                </a:solidFill>
                <a:latin typeface="DejaVu Sans"/>
                <a:ea typeface="DejaVu Sans"/>
                <a:cs typeface="DejaVu Sans"/>
              </a:rPr>
              <a:t>Core work: a small RAG pipeline</a:t>
            </a:r>
          </a:p>
          <a:p xmlns:a="http://schemas.openxmlformats.org/drawingml/2006/main">
            <a:pPr>
              <a:buNone/>
              <a:defRPr sz="2325" b="1">
                <a:solidFill>
                  <a:srgbClr val="102B3A"/>
                </a:solidFill>
                <a:latin typeface="DejaVu Sans"/>
                <a:ea typeface="DejaVu Sans"/>
                <a:cs typeface="DejaVu Sans"/>
              </a:defRPr>
            </a:pPr>
            <a:r>
              <a:rPr sz="2325" b="1">
                <a:solidFill>
                  <a:srgbClr val="102B3A"/>
                </a:solidFill>
                <a:latin typeface="DejaVu Sans"/>
                <a:ea typeface="DejaVu Sans"/>
                <a:cs typeface="DejaVu Sans"/>
              </a:rPr>
              <a:t>and an honest evaluation.</a:t>
            </a:r>
          </a:p>
        </p:txBody>
      </p:sp>
      <p:sp>
        <p:nvSpPr>
          <p:cNvPr id="6" name="schedule-label">
            <a:extLst xmlns:a="http://schemas.openxmlformats.org/drawingml/2006/main">
              <a:ext uri="{FF2B5EF4-FFF2-40B4-BE49-F238E27FC236}">
                <a16:creationId xmlns:a16="http://schemas.microsoft.com/office/drawing/2014/main" id="{BD9064FD-B8E6-496A-BB50-2E5E887D0EE0}"/>
              </a:ext>
            </a:extLst>
          </p:cNvPr>
          <p:cNvSpPr>
            <a:spLocks xmlns:a="http://schemas.openxmlformats.org/drawingml/2006/main" noGrp="1"/>
          </p:cNvSpPr>
          <p:nvPr/>
        </p:nvSpPr>
        <p:spPr>
          <a:xfrm xmlns:a="http://schemas.openxmlformats.org/drawingml/2006/main">
            <a:off x="8286750" y="1733550"/>
            <a:ext cx="6191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1">
                <a:solidFill>
                  <a:srgbClr val="007D78"/>
                </a:solidFill>
                <a:latin typeface="DejaVu Sans"/>
                <a:ea typeface="DejaVu Sans"/>
                <a:cs typeface="DejaVu Sans"/>
              </a:defRPr>
            </a:defPPr>
            <a:lvl1pPr>
              <a:buNone/>
              <a:defRPr sz="2250" b="1">
                <a:solidFill>
                  <a:srgbClr val="007D78"/>
                </a:solidFill>
                <a:latin typeface="DejaVu Sans"/>
                <a:ea typeface="DejaVu Sans"/>
                <a:cs typeface="DejaVu Sans"/>
              </a:defRPr>
            </a:lvl1pPr>
            <a:lvl2pPr>
              <a:buNone/>
              <a:defRPr sz="2250" b="1">
                <a:solidFill>
                  <a:srgbClr val="007D78"/>
                </a:solidFill>
                <a:latin typeface="DejaVu Sans"/>
                <a:ea typeface="DejaVu Sans"/>
                <a:cs typeface="DejaVu Sans"/>
              </a:defRPr>
            </a:lvl2pPr>
            <a:lvl3pPr>
              <a:buNone/>
              <a:defRPr sz="2250" b="1">
                <a:solidFill>
                  <a:srgbClr val="007D78"/>
                </a:solidFill>
                <a:latin typeface="DejaVu Sans"/>
                <a:ea typeface="DejaVu Sans"/>
                <a:cs typeface="DejaVu Sans"/>
              </a:defRPr>
            </a:lvl3pPr>
            <a:lvl4pPr>
              <a:buNone/>
              <a:defRPr sz="2250" b="1">
                <a:solidFill>
                  <a:srgbClr val="007D78"/>
                </a:solidFill>
                <a:latin typeface="DejaVu Sans"/>
                <a:ea typeface="DejaVu Sans"/>
                <a:cs typeface="DejaVu Sans"/>
              </a:defRPr>
            </a:lvl4pPr>
            <a:lvl5pPr>
              <a:buNone/>
              <a:defRPr sz="2250" b="1">
                <a:solidFill>
                  <a:srgbClr val="007D78"/>
                </a:solidFill>
                <a:latin typeface="DejaVu Sans"/>
                <a:ea typeface="DejaVu Sans"/>
                <a:cs typeface="DejaVu Sans"/>
              </a:defRPr>
            </a:lvl5pPr>
            <a:lvl6pPr>
              <a:buNone/>
              <a:defRPr sz="2250" b="1">
                <a:solidFill>
                  <a:srgbClr val="007D78"/>
                </a:solidFill>
                <a:latin typeface="DejaVu Sans"/>
                <a:ea typeface="DejaVu Sans"/>
                <a:cs typeface="DejaVu Sans"/>
              </a:defRPr>
            </a:lvl6pPr>
            <a:lvl7pPr>
              <a:buNone/>
              <a:defRPr sz="2250" b="1">
                <a:solidFill>
                  <a:srgbClr val="007D78"/>
                </a:solidFill>
                <a:latin typeface="DejaVu Sans"/>
                <a:ea typeface="DejaVu Sans"/>
                <a:cs typeface="DejaVu Sans"/>
              </a:defRPr>
            </a:lvl7pPr>
            <a:lvl8pPr>
              <a:buNone/>
              <a:defRPr sz="2250" b="1">
                <a:solidFill>
                  <a:srgbClr val="007D78"/>
                </a:solidFill>
                <a:latin typeface="DejaVu Sans"/>
                <a:ea typeface="DejaVu Sans"/>
                <a:cs typeface="DejaVu Sans"/>
              </a:defRPr>
            </a:lvl8pPr>
            <a:lvl9pPr>
              <a:buNone/>
              <a:defRPr sz="2250" b="1">
                <a:solidFill>
                  <a:srgbClr val="007D78"/>
                </a:solidFill>
                <a:latin typeface="DejaVu Sans"/>
                <a:ea typeface="DejaVu Sans"/>
                <a:cs typeface="DejaVu Sans"/>
              </a:defRPr>
            </a:lvl9pPr>
          </a:lstStyle>
          <a:p xmlns:a="http://schemas.openxmlformats.org/drawingml/2006/main">
            <a:pPr>
              <a:buNone/>
              <a:defRPr sz="2250" b="1">
                <a:solidFill>
                  <a:srgbClr val="007D78"/>
                </a:solidFill>
                <a:latin typeface="DejaVu Sans"/>
                <a:ea typeface="DejaVu Sans"/>
                <a:cs typeface="DejaVu Sans"/>
              </a:defRPr>
            </a:pPr>
            <a:r>
              <a:rPr sz="2250" b="1">
                <a:solidFill>
                  <a:srgbClr val="007D78"/>
                </a:solidFill>
                <a:latin typeface="DejaVu Sans"/>
                <a:ea typeface="DejaVu Sans"/>
                <a:cs typeface="DejaVu Sans"/>
              </a:rPr>
              <a:t>A four-step work plan</a:t>
            </a:r>
          </a:p>
        </p:txBody>
      </p:sp>
      <p:sp>
        <p:nvSpPr>
          <p:cNvPr id="7" name="plan-0">
            <a:extLst xmlns:a="http://schemas.openxmlformats.org/drawingml/2006/main">
              <a:ext uri="{FF2B5EF4-FFF2-40B4-BE49-F238E27FC236}">
                <a16:creationId xmlns:a16="http://schemas.microsoft.com/office/drawing/2014/main" id="{D6FA4F94-EBB9-47C1-BFAB-DF41947E4C7C}"/>
              </a:ext>
            </a:extLst>
          </p:cNvPr>
          <p:cNvSpPr>
            <a:spLocks xmlns:a="http://schemas.openxmlformats.org/drawingml/2006/main" noGrp="1"/>
          </p:cNvSpPr>
          <p:nvPr/>
        </p:nvSpPr>
        <p:spPr>
          <a:xfrm xmlns:a="http://schemas.openxmlformats.org/drawingml/2006/main">
            <a:off x="8286750" y="2390775"/>
            <a:ext cx="6191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1">
                <a:solidFill>
                  <a:srgbClr val="007D78"/>
                </a:solidFill>
                <a:latin typeface="DejaVu Sans"/>
                <a:ea typeface="DejaVu Sans"/>
                <a:cs typeface="DejaVu Sans"/>
              </a:defRPr>
            </a:defPPr>
            <a:lvl1pPr>
              <a:buNone/>
              <a:defRPr sz="2250" b="1">
                <a:solidFill>
                  <a:srgbClr val="007D78"/>
                </a:solidFill>
                <a:latin typeface="DejaVu Sans"/>
                <a:ea typeface="DejaVu Sans"/>
                <a:cs typeface="DejaVu Sans"/>
              </a:defRPr>
            </a:lvl1pPr>
            <a:lvl2pPr>
              <a:buNone/>
              <a:defRPr sz="2250" b="1">
                <a:solidFill>
                  <a:srgbClr val="007D78"/>
                </a:solidFill>
                <a:latin typeface="DejaVu Sans"/>
                <a:ea typeface="DejaVu Sans"/>
                <a:cs typeface="DejaVu Sans"/>
              </a:defRPr>
            </a:lvl2pPr>
            <a:lvl3pPr>
              <a:buNone/>
              <a:defRPr sz="2250" b="1">
                <a:solidFill>
                  <a:srgbClr val="007D78"/>
                </a:solidFill>
                <a:latin typeface="DejaVu Sans"/>
                <a:ea typeface="DejaVu Sans"/>
                <a:cs typeface="DejaVu Sans"/>
              </a:defRPr>
            </a:lvl3pPr>
            <a:lvl4pPr>
              <a:buNone/>
              <a:defRPr sz="2250" b="1">
                <a:solidFill>
                  <a:srgbClr val="007D78"/>
                </a:solidFill>
                <a:latin typeface="DejaVu Sans"/>
                <a:ea typeface="DejaVu Sans"/>
                <a:cs typeface="DejaVu Sans"/>
              </a:defRPr>
            </a:lvl4pPr>
            <a:lvl5pPr>
              <a:buNone/>
              <a:defRPr sz="2250" b="1">
                <a:solidFill>
                  <a:srgbClr val="007D78"/>
                </a:solidFill>
                <a:latin typeface="DejaVu Sans"/>
                <a:ea typeface="DejaVu Sans"/>
                <a:cs typeface="DejaVu Sans"/>
              </a:defRPr>
            </a:lvl5pPr>
            <a:lvl6pPr>
              <a:buNone/>
              <a:defRPr sz="2250" b="1">
                <a:solidFill>
                  <a:srgbClr val="007D78"/>
                </a:solidFill>
                <a:latin typeface="DejaVu Sans"/>
                <a:ea typeface="DejaVu Sans"/>
                <a:cs typeface="DejaVu Sans"/>
              </a:defRPr>
            </a:lvl6pPr>
            <a:lvl7pPr>
              <a:buNone/>
              <a:defRPr sz="2250" b="1">
                <a:solidFill>
                  <a:srgbClr val="007D78"/>
                </a:solidFill>
                <a:latin typeface="DejaVu Sans"/>
                <a:ea typeface="DejaVu Sans"/>
                <a:cs typeface="DejaVu Sans"/>
              </a:defRPr>
            </a:lvl7pPr>
            <a:lvl8pPr>
              <a:buNone/>
              <a:defRPr sz="2250" b="1">
                <a:solidFill>
                  <a:srgbClr val="007D78"/>
                </a:solidFill>
                <a:latin typeface="DejaVu Sans"/>
                <a:ea typeface="DejaVu Sans"/>
                <a:cs typeface="DejaVu Sans"/>
              </a:defRPr>
            </a:lvl8pPr>
            <a:lvl9pPr>
              <a:buNone/>
              <a:defRPr sz="2250" b="1">
                <a:solidFill>
                  <a:srgbClr val="007D78"/>
                </a:solidFill>
                <a:latin typeface="DejaVu Sans"/>
                <a:ea typeface="DejaVu Sans"/>
                <a:cs typeface="DejaVu Sans"/>
              </a:defRPr>
            </a:lvl9pPr>
          </a:lstStyle>
          <a:p xmlns:a="http://schemas.openxmlformats.org/drawingml/2006/main">
            <a:pPr>
              <a:buNone/>
              <a:defRPr sz="2250" b="1">
                <a:solidFill>
                  <a:srgbClr val="007D78"/>
                </a:solidFill>
                <a:latin typeface="DejaVu Sans"/>
                <a:ea typeface="DejaVu Sans"/>
                <a:cs typeface="DejaVu Sans"/>
              </a:defRPr>
            </a:pPr>
            <a:r>
              <a:rPr sz="2250" b="1">
                <a:solidFill>
                  <a:srgbClr val="007D78"/>
                </a:solidFill>
                <a:latin typeface="DejaVu Sans"/>
                <a:ea typeface="DejaVu Sans"/>
                <a:cs typeface="DejaVu Sans"/>
              </a:rPr>
              <a:t>1  Prepare</a:t>
            </a:r>
          </a:p>
        </p:txBody>
      </p:sp>
      <p:sp>
        <p:nvSpPr>
          <p:cNvPr id="8" name="plan-body-0">
            <a:extLst xmlns:a="http://schemas.openxmlformats.org/drawingml/2006/main">
              <a:ext uri="{FF2B5EF4-FFF2-40B4-BE49-F238E27FC236}">
                <a16:creationId xmlns:a16="http://schemas.microsoft.com/office/drawing/2014/main" id="{A6A7C723-ADE8-4EEE-8804-60B995DFEDDF}"/>
              </a:ext>
            </a:extLst>
          </p:cNvPr>
          <p:cNvSpPr>
            <a:spLocks xmlns:a="http://schemas.openxmlformats.org/drawingml/2006/main" noGrp="1"/>
          </p:cNvSpPr>
          <p:nvPr/>
        </p:nvSpPr>
        <p:spPr>
          <a:xfrm xmlns:a="http://schemas.openxmlformats.org/drawingml/2006/main">
            <a:off x="8286750" y="2847975"/>
            <a:ext cx="61912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193646"/>
                </a:solidFill>
                <a:latin typeface="DejaVu Sans"/>
                <a:ea typeface="DejaVu Sans"/>
                <a:cs typeface="DejaVu Sans"/>
              </a:defRPr>
            </a:defPPr>
            <a:lvl1pPr>
              <a:buNone/>
              <a:defRPr sz="2025" b="0">
                <a:solidFill>
                  <a:srgbClr val="193646"/>
                </a:solidFill>
                <a:latin typeface="DejaVu Sans"/>
                <a:ea typeface="DejaVu Sans"/>
                <a:cs typeface="DejaVu Sans"/>
              </a:defRPr>
            </a:lvl1pPr>
            <a:lvl2pPr>
              <a:buNone/>
              <a:defRPr sz="2025" b="0">
                <a:solidFill>
                  <a:srgbClr val="193646"/>
                </a:solidFill>
                <a:latin typeface="DejaVu Sans"/>
                <a:ea typeface="DejaVu Sans"/>
                <a:cs typeface="DejaVu Sans"/>
              </a:defRPr>
            </a:lvl2pPr>
            <a:lvl3pPr>
              <a:buNone/>
              <a:defRPr sz="2025" b="0">
                <a:solidFill>
                  <a:srgbClr val="193646"/>
                </a:solidFill>
                <a:latin typeface="DejaVu Sans"/>
                <a:ea typeface="DejaVu Sans"/>
                <a:cs typeface="DejaVu Sans"/>
              </a:defRPr>
            </a:lvl3pPr>
            <a:lvl4pPr>
              <a:buNone/>
              <a:defRPr sz="2025" b="0">
                <a:solidFill>
                  <a:srgbClr val="193646"/>
                </a:solidFill>
                <a:latin typeface="DejaVu Sans"/>
                <a:ea typeface="DejaVu Sans"/>
                <a:cs typeface="DejaVu Sans"/>
              </a:defRPr>
            </a:lvl4pPr>
            <a:lvl5pPr>
              <a:buNone/>
              <a:defRPr sz="2025" b="0">
                <a:solidFill>
                  <a:srgbClr val="193646"/>
                </a:solidFill>
                <a:latin typeface="DejaVu Sans"/>
                <a:ea typeface="DejaVu Sans"/>
                <a:cs typeface="DejaVu Sans"/>
              </a:defRPr>
            </a:lvl5pPr>
            <a:lvl6pPr>
              <a:buNone/>
              <a:defRPr sz="2025" b="0">
                <a:solidFill>
                  <a:srgbClr val="193646"/>
                </a:solidFill>
                <a:latin typeface="DejaVu Sans"/>
                <a:ea typeface="DejaVu Sans"/>
                <a:cs typeface="DejaVu Sans"/>
              </a:defRPr>
            </a:lvl6pPr>
            <a:lvl7pPr>
              <a:buNone/>
              <a:defRPr sz="2025" b="0">
                <a:solidFill>
                  <a:srgbClr val="193646"/>
                </a:solidFill>
                <a:latin typeface="DejaVu Sans"/>
                <a:ea typeface="DejaVu Sans"/>
                <a:cs typeface="DejaVu Sans"/>
              </a:defRPr>
            </a:lvl7pPr>
            <a:lvl8pPr>
              <a:buNone/>
              <a:defRPr sz="2025" b="0">
                <a:solidFill>
                  <a:srgbClr val="193646"/>
                </a:solidFill>
                <a:latin typeface="DejaVu Sans"/>
                <a:ea typeface="DejaVu Sans"/>
                <a:cs typeface="DejaVu Sans"/>
              </a:defRPr>
            </a:lvl8pPr>
            <a:lvl9pPr>
              <a:buNone/>
              <a:defRPr sz="2025" b="0">
                <a:solidFill>
                  <a:srgbClr val="193646"/>
                </a:solidFill>
                <a:latin typeface="DejaVu Sans"/>
                <a:ea typeface="DejaVu Sans"/>
                <a:cs typeface="DejaVu Sans"/>
              </a:defRPr>
            </a:lvl9pPr>
          </a:lstStyle>
          <a:p xmlns:a="http://schemas.openxmlformats.org/drawingml/2006/main">
            <a:pPr>
              <a:buNone/>
              <a:defRPr sz="2025" b="0">
                <a:solidFill>
                  <a:srgbClr val="193646"/>
                </a:solidFill>
                <a:latin typeface="DejaVu Sans"/>
                <a:ea typeface="DejaVu Sans"/>
                <a:cs typeface="DejaVu Sans"/>
              </a:defRPr>
            </a:pPr>
            <a:r>
              <a:rPr sz="2025" b="0">
                <a:solidFill>
                  <a:srgbClr val="193646"/>
                </a:solidFill>
                <a:latin typeface="DejaVu Sans"/>
                <a:ea typeface="DejaVu Sans"/>
                <a:cs typeface="DejaVu Sans"/>
              </a:rPr>
              <a:t>Review notes and sign off the gold set.</a:t>
            </a:r>
          </a:p>
        </p:txBody>
      </p:sp>
      <p:sp>
        <p:nvSpPr>
          <p:cNvPr id="9" name="plan-1">
            <a:extLst xmlns:a="http://schemas.openxmlformats.org/drawingml/2006/main">
              <a:ext uri="{FF2B5EF4-FFF2-40B4-BE49-F238E27FC236}">
                <a16:creationId xmlns:a16="http://schemas.microsoft.com/office/drawing/2014/main" id="{0AFD2F12-6487-4D01-B361-43C3B920E359}"/>
              </a:ext>
            </a:extLst>
          </p:cNvPr>
          <p:cNvSpPr>
            <a:spLocks xmlns:a="http://schemas.openxmlformats.org/drawingml/2006/main" noGrp="1"/>
          </p:cNvSpPr>
          <p:nvPr/>
        </p:nvSpPr>
        <p:spPr>
          <a:xfrm xmlns:a="http://schemas.openxmlformats.org/drawingml/2006/main">
            <a:off x="8286750" y="3571875"/>
            <a:ext cx="6191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1">
                <a:solidFill>
                  <a:srgbClr val="007D78"/>
                </a:solidFill>
                <a:latin typeface="DejaVu Sans"/>
                <a:ea typeface="DejaVu Sans"/>
                <a:cs typeface="DejaVu Sans"/>
              </a:defRPr>
            </a:defPPr>
            <a:lvl1pPr>
              <a:buNone/>
              <a:defRPr sz="2250" b="1">
                <a:solidFill>
                  <a:srgbClr val="007D78"/>
                </a:solidFill>
                <a:latin typeface="DejaVu Sans"/>
                <a:ea typeface="DejaVu Sans"/>
                <a:cs typeface="DejaVu Sans"/>
              </a:defRPr>
            </a:lvl1pPr>
            <a:lvl2pPr>
              <a:buNone/>
              <a:defRPr sz="2250" b="1">
                <a:solidFill>
                  <a:srgbClr val="007D78"/>
                </a:solidFill>
                <a:latin typeface="DejaVu Sans"/>
                <a:ea typeface="DejaVu Sans"/>
                <a:cs typeface="DejaVu Sans"/>
              </a:defRPr>
            </a:lvl2pPr>
            <a:lvl3pPr>
              <a:buNone/>
              <a:defRPr sz="2250" b="1">
                <a:solidFill>
                  <a:srgbClr val="007D78"/>
                </a:solidFill>
                <a:latin typeface="DejaVu Sans"/>
                <a:ea typeface="DejaVu Sans"/>
                <a:cs typeface="DejaVu Sans"/>
              </a:defRPr>
            </a:lvl3pPr>
            <a:lvl4pPr>
              <a:buNone/>
              <a:defRPr sz="2250" b="1">
                <a:solidFill>
                  <a:srgbClr val="007D78"/>
                </a:solidFill>
                <a:latin typeface="DejaVu Sans"/>
                <a:ea typeface="DejaVu Sans"/>
                <a:cs typeface="DejaVu Sans"/>
              </a:defRPr>
            </a:lvl4pPr>
            <a:lvl5pPr>
              <a:buNone/>
              <a:defRPr sz="2250" b="1">
                <a:solidFill>
                  <a:srgbClr val="007D78"/>
                </a:solidFill>
                <a:latin typeface="DejaVu Sans"/>
                <a:ea typeface="DejaVu Sans"/>
                <a:cs typeface="DejaVu Sans"/>
              </a:defRPr>
            </a:lvl5pPr>
            <a:lvl6pPr>
              <a:buNone/>
              <a:defRPr sz="2250" b="1">
                <a:solidFill>
                  <a:srgbClr val="007D78"/>
                </a:solidFill>
                <a:latin typeface="DejaVu Sans"/>
                <a:ea typeface="DejaVu Sans"/>
                <a:cs typeface="DejaVu Sans"/>
              </a:defRPr>
            </a:lvl6pPr>
            <a:lvl7pPr>
              <a:buNone/>
              <a:defRPr sz="2250" b="1">
                <a:solidFill>
                  <a:srgbClr val="007D78"/>
                </a:solidFill>
                <a:latin typeface="DejaVu Sans"/>
                <a:ea typeface="DejaVu Sans"/>
                <a:cs typeface="DejaVu Sans"/>
              </a:defRPr>
            </a:lvl7pPr>
            <a:lvl8pPr>
              <a:buNone/>
              <a:defRPr sz="2250" b="1">
                <a:solidFill>
                  <a:srgbClr val="007D78"/>
                </a:solidFill>
                <a:latin typeface="DejaVu Sans"/>
                <a:ea typeface="DejaVu Sans"/>
                <a:cs typeface="DejaVu Sans"/>
              </a:defRPr>
            </a:lvl8pPr>
            <a:lvl9pPr>
              <a:buNone/>
              <a:defRPr sz="2250" b="1">
                <a:solidFill>
                  <a:srgbClr val="007D78"/>
                </a:solidFill>
                <a:latin typeface="DejaVu Sans"/>
                <a:ea typeface="DejaVu Sans"/>
                <a:cs typeface="DejaVu Sans"/>
              </a:defRPr>
            </a:lvl9pPr>
          </a:lstStyle>
          <a:p xmlns:a="http://schemas.openxmlformats.org/drawingml/2006/main">
            <a:pPr>
              <a:buNone/>
              <a:defRPr sz="2250" b="1">
                <a:solidFill>
                  <a:srgbClr val="007D78"/>
                </a:solidFill>
                <a:latin typeface="DejaVu Sans"/>
                <a:ea typeface="DejaVu Sans"/>
                <a:cs typeface="DejaVu Sans"/>
              </a:defRPr>
            </a:pPr>
            <a:r>
              <a:rPr sz="2250" b="1">
                <a:solidFill>
                  <a:srgbClr val="007D78"/>
                </a:solidFill>
                <a:latin typeface="DejaVu Sans"/>
                <a:ea typeface="DejaVu Sans"/>
                <a:cs typeface="DejaVu Sans"/>
              </a:rPr>
              <a:t>2  Retrieve</a:t>
            </a:r>
          </a:p>
        </p:txBody>
      </p:sp>
      <p:sp>
        <p:nvSpPr>
          <p:cNvPr id="10" name="plan-body-1">
            <a:extLst xmlns:a="http://schemas.openxmlformats.org/drawingml/2006/main">
              <a:ext uri="{FF2B5EF4-FFF2-40B4-BE49-F238E27FC236}">
                <a16:creationId xmlns:a16="http://schemas.microsoft.com/office/drawing/2014/main" id="{40CAAF96-255B-4D64-8BDE-4A59E2C3E176}"/>
              </a:ext>
            </a:extLst>
          </p:cNvPr>
          <p:cNvSpPr>
            <a:spLocks xmlns:a="http://schemas.openxmlformats.org/drawingml/2006/main" noGrp="1"/>
          </p:cNvSpPr>
          <p:nvPr/>
        </p:nvSpPr>
        <p:spPr>
          <a:xfrm xmlns:a="http://schemas.openxmlformats.org/drawingml/2006/main">
            <a:off x="8286750" y="4029075"/>
            <a:ext cx="61912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193646"/>
                </a:solidFill>
                <a:latin typeface="DejaVu Sans"/>
                <a:ea typeface="DejaVu Sans"/>
                <a:cs typeface="DejaVu Sans"/>
              </a:defRPr>
            </a:defPPr>
            <a:lvl1pPr>
              <a:buNone/>
              <a:defRPr sz="2025" b="0">
                <a:solidFill>
                  <a:srgbClr val="193646"/>
                </a:solidFill>
                <a:latin typeface="DejaVu Sans"/>
                <a:ea typeface="DejaVu Sans"/>
                <a:cs typeface="DejaVu Sans"/>
              </a:defRPr>
            </a:lvl1pPr>
            <a:lvl2pPr>
              <a:buNone/>
              <a:defRPr sz="2025" b="0">
                <a:solidFill>
                  <a:srgbClr val="193646"/>
                </a:solidFill>
                <a:latin typeface="DejaVu Sans"/>
                <a:ea typeface="DejaVu Sans"/>
                <a:cs typeface="DejaVu Sans"/>
              </a:defRPr>
            </a:lvl2pPr>
            <a:lvl3pPr>
              <a:buNone/>
              <a:defRPr sz="2025" b="0">
                <a:solidFill>
                  <a:srgbClr val="193646"/>
                </a:solidFill>
                <a:latin typeface="DejaVu Sans"/>
                <a:ea typeface="DejaVu Sans"/>
                <a:cs typeface="DejaVu Sans"/>
              </a:defRPr>
            </a:lvl3pPr>
            <a:lvl4pPr>
              <a:buNone/>
              <a:defRPr sz="2025" b="0">
                <a:solidFill>
                  <a:srgbClr val="193646"/>
                </a:solidFill>
                <a:latin typeface="DejaVu Sans"/>
                <a:ea typeface="DejaVu Sans"/>
                <a:cs typeface="DejaVu Sans"/>
              </a:defRPr>
            </a:lvl4pPr>
            <a:lvl5pPr>
              <a:buNone/>
              <a:defRPr sz="2025" b="0">
                <a:solidFill>
                  <a:srgbClr val="193646"/>
                </a:solidFill>
                <a:latin typeface="DejaVu Sans"/>
                <a:ea typeface="DejaVu Sans"/>
                <a:cs typeface="DejaVu Sans"/>
              </a:defRPr>
            </a:lvl5pPr>
            <a:lvl6pPr>
              <a:buNone/>
              <a:defRPr sz="2025" b="0">
                <a:solidFill>
                  <a:srgbClr val="193646"/>
                </a:solidFill>
                <a:latin typeface="DejaVu Sans"/>
                <a:ea typeface="DejaVu Sans"/>
                <a:cs typeface="DejaVu Sans"/>
              </a:defRPr>
            </a:lvl6pPr>
            <a:lvl7pPr>
              <a:buNone/>
              <a:defRPr sz="2025" b="0">
                <a:solidFill>
                  <a:srgbClr val="193646"/>
                </a:solidFill>
                <a:latin typeface="DejaVu Sans"/>
                <a:ea typeface="DejaVu Sans"/>
                <a:cs typeface="DejaVu Sans"/>
              </a:defRPr>
            </a:lvl7pPr>
            <a:lvl8pPr>
              <a:buNone/>
              <a:defRPr sz="2025" b="0">
                <a:solidFill>
                  <a:srgbClr val="193646"/>
                </a:solidFill>
                <a:latin typeface="DejaVu Sans"/>
                <a:ea typeface="DejaVu Sans"/>
                <a:cs typeface="DejaVu Sans"/>
              </a:defRPr>
            </a:lvl8pPr>
            <a:lvl9pPr>
              <a:buNone/>
              <a:defRPr sz="2025" b="0">
                <a:solidFill>
                  <a:srgbClr val="193646"/>
                </a:solidFill>
                <a:latin typeface="DejaVu Sans"/>
                <a:ea typeface="DejaVu Sans"/>
                <a:cs typeface="DejaVu Sans"/>
              </a:defRPr>
            </a:lvl9pPr>
          </a:lstStyle>
          <a:p xmlns:a="http://schemas.openxmlformats.org/drawingml/2006/main">
            <a:pPr>
              <a:buNone/>
              <a:defRPr sz="2025" b="0">
                <a:solidFill>
                  <a:srgbClr val="193646"/>
                </a:solidFill>
                <a:latin typeface="DejaVu Sans"/>
                <a:ea typeface="DejaVu Sans"/>
                <a:cs typeface="DejaVu Sans"/>
              </a:defRPr>
            </a:pPr>
            <a:r>
              <a:rPr sz="2025" b="0">
                <a:solidFill>
                  <a:srgbClr val="193646"/>
                </a:solidFill>
                <a:latin typeface="DejaVu Sans"/>
                <a:ea typeface="DejaVu Sans"/>
                <a:cs typeface="DejaVu Sans"/>
              </a:rPr>
              <a:t>Create chunks, embeddings and search.</a:t>
            </a:r>
          </a:p>
        </p:txBody>
      </p:sp>
      <p:sp>
        <p:nvSpPr>
          <p:cNvPr id="11" name="plan-2">
            <a:extLst xmlns:a="http://schemas.openxmlformats.org/drawingml/2006/main">
              <a:ext uri="{FF2B5EF4-FFF2-40B4-BE49-F238E27FC236}">
                <a16:creationId xmlns:a16="http://schemas.microsoft.com/office/drawing/2014/main" id="{47DCE4AD-DEA3-4FB2-B77E-302E45AF8139}"/>
              </a:ext>
            </a:extLst>
          </p:cNvPr>
          <p:cNvSpPr>
            <a:spLocks xmlns:a="http://schemas.openxmlformats.org/drawingml/2006/main" noGrp="1"/>
          </p:cNvSpPr>
          <p:nvPr/>
        </p:nvSpPr>
        <p:spPr>
          <a:xfrm xmlns:a="http://schemas.openxmlformats.org/drawingml/2006/main">
            <a:off x="8286750" y="4752975"/>
            <a:ext cx="6191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1">
                <a:solidFill>
                  <a:srgbClr val="007D78"/>
                </a:solidFill>
                <a:latin typeface="DejaVu Sans"/>
                <a:ea typeface="DejaVu Sans"/>
                <a:cs typeface="DejaVu Sans"/>
              </a:defRPr>
            </a:defPPr>
            <a:lvl1pPr>
              <a:buNone/>
              <a:defRPr sz="2250" b="1">
                <a:solidFill>
                  <a:srgbClr val="007D78"/>
                </a:solidFill>
                <a:latin typeface="DejaVu Sans"/>
                <a:ea typeface="DejaVu Sans"/>
                <a:cs typeface="DejaVu Sans"/>
              </a:defRPr>
            </a:lvl1pPr>
            <a:lvl2pPr>
              <a:buNone/>
              <a:defRPr sz="2250" b="1">
                <a:solidFill>
                  <a:srgbClr val="007D78"/>
                </a:solidFill>
                <a:latin typeface="DejaVu Sans"/>
                <a:ea typeface="DejaVu Sans"/>
                <a:cs typeface="DejaVu Sans"/>
              </a:defRPr>
            </a:lvl2pPr>
            <a:lvl3pPr>
              <a:buNone/>
              <a:defRPr sz="2250" b="1">
                <a:solidFill>
                  <a:srgbClr val="007D78"/>
                </a:solidFill>
                <a:latin typeface="DejaVu Sans"/>
                <a:ea typeface="DejaVu Sans"/>
                <a:cs typeface="DejaVu Sans"/>
              </a:defRPr>
            </a:lvl3pPr>
            <a:lvl4pPr>
              <a:buNone/>
              <a:defRPr sz="2250" b="1">
                <a:solidFill>
                  <a:srgbClr val="007D78"/>
                </a:solidFill>
                <a:latin typeface="DejaVu Sans"/>
                <a:ea typeface="DejaVu Sans"/>
                <a:cs typeface="DejaVu Sans"/>
              </a:defRPr>
            </a:lvl4pPr>
            <a:lvl5pPr>
              <a:buNone/>
              <a:defRPr sz="2250" b="1">
                <a:solidFill>
                  <a:srgbClr val="007D78"/>
                </a:solidFill>
                <a:latin typeface="DejaVu Sans"/>
                <a:ea typeface="DejaVu Sans"/>
                <a:cs typeface="DejaVu Sans"/>
              </a:defRPr>
            </a:lvl5pPr>
            <a:lvl6pPr>
              <a:buNone/>
              <a:defRPr sz="2250" b="1">
                <a:solidFill>
                  <a:srgbClr val="007D78"/>
                </a:solidFill>
                <a:latin typeface="DejaVu Sans"/>
                <a:ea typeface="DejaVu Sans"/>
                <a:cs typeface="DejaVu Sans"/>
              </a:defRPr>
            </a:lvl6pPr>
            <a:lvl7pPr>
              <a:buNone/>
              <a:defRPr sz="2250" b="1">
                <a:solidFill>
                  <a:srgbClr val="007D78"/>
                </a:solidFill>
                <a:latin typeface="DejaVu Sans"/>
                <a:ea typeface="DejaVu Sans"/>
                <a:cs typeface="DejaVu Sans"/>
              </a:defRPr>
            </a:lvl7pPr>
            <a:lvl8pPr>
              <a:buNone/>
              <a:defRPr sz="2250" b="1">
                <a:solidFill>
                  <a:srgbClr val="007D78"/>
                </a:solidFill>
                <a:latin typeface="DejaVu Sans"/>
                <a:ea typeface="DejaVu Sans"/>
                <a:cs typeface="DejaVu Sans"/>
              </a:defRPr>
            </a:lvl8pPr>
            <a:lvl9pPr>
              <a:buNone/>
              <a:defRPr sz="2250" b="1">
                <a:solidFill>
                  <a:srgbClr val="007D78"/>
                </a:solidFill>
                <a:latin typeface="DejaVu Sans"/>
                <a:ea typeface="DejaVu Sans"/>
                <a:cs typeface="DejaVu Sans"/>
              </a:defRPr>
            </a:lvl9pPr>
          </a:lstStyle>
          <a:p xmlns:a="http://schemas.openxmlformats.org/drawingml/2006/main">
            <a:pPr>
              <a:buNone/>
              <a:defRPr sz="2250" b="1">
                <a:solidFill>
                  <a:srgbClr val="007D78"/>
                </a:solidFill>
                <a:latin typeface="DejaVu Sans"/>
                <a:ea typeface="DejaVu Sans"/>
                <a:cs typeface="DejaVu Sans"/>
              </a:defRPr>
            </a:pPr>
            <a:r>
              <a:rPr sz="2250" b="1">
                <a:solidFill>
                  <a:srgbClr val="007D78"/>
                </a:solidFill>
                <a:latin typeface="DejaVu Sans"/>
                <a:ea typeface="DejaVu Sans"/>
                <a:cs typeface="DejaVu Sans"/>
              </a:rPr>
              <a:t>3  Answer</a:t>
            </a:r>
          </a:p>
        </p:txBody>
      </p:sp>
      <p:sp>
        <p:nvSpPr>
          <p:cNvPr id="12" name="plan-body-2">
            <a:extLst xmlns:a="http://schemas.openxmlformats.org/drawingml/2006/main">
              <a:ext uri="{FF2B5EF4-FFF2-40B4-BE49-F238E27FC236}">
                <a16:creationId xmlns:a16="http://schemas.microsoft.com/office/drawing/2014/main" id="{F68215F6-3F87-48E3-9C3E-6B0AE5F3DDCF}"/>
              </a:ext>
            </a:extLst>
          </p:cNvPr>
          <p:cNvSpPr>
            <a:spLocks xmlns:a="http://schemas.openxmlformats.org/drawingml/2006/main" noGrp="1"/>
          </p:cNvSpPr>
          <p:nvPr/>
        </p:nvSpPr>
        <p:spPr>
          <a:xfrm xmlns:a="http://schemas.openxmlformats.org/drawingml/2006/main">
            <a:off x="8286750" y="5210175"/>
            <a:ext cx="61912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193646"/>
                </a:solidFill>
                <a:latin typeface="DejaVu Sans"/>
                <a:ea typeface="DejaVu Sans"/>
                <a:cs typeface="DejaVu Sans"/>
              </a:defRPr>
            </a:defPPr>
            <a:lvl1pPr>
              <a:buNone/>
              <a:defRPr sz="2025" b="0">
                <a:solidFill>
                  <a:srgbClr val="193646"/>
                </a:solidFill>
                <a:latin typeface="DejaVu Sans"/>
                <a:ea typeface="DejaVu Sans"/>
                <a:cs typeface="DejaVu Sans"/>
              </a:defRPr>
            </a:lvl1pPr>
            <a:lvl2pPr>
              <a:buNone/>
              <a:defRPr sz="2025" b="0">
                <a:solidFill>
                  <a:srgbClr val="193646"/>
                </a:solidFill>
                <a:latin typeface="DejaVu Sans"/>
                <a:ea typeface="DejaVu Sans"/>
                <a:cs typeface="DejaVu Sans"/>
              </a:defRPr>
            </a:lvl2pPr>
            <a:lvl3pPr>
              <a:buNone/>
              <a:defRPr sz="2025" b="0">
                <a:solidFill>
                  <a:srgbClr val="193646"/>
                </a:solidFill>
                <a:latin typeface="DejaVu Sans"/>
                <a:ea typeface="DejaVu Sans"/>
                <a:cs typeface="DejaVu Sans"/>
              </a:defRPr>
            </a:lvl3pPr>
            <a:lvl4pPr>
              <a:buNone/>
              <a:defRPr sz="2025" b="0">
                <a:solidFill>
                  <a:srgbClr val="193646"/>
                </a:solidFill>
                <a:latin typeface="DejaVu Sans"/>
                <a:ea typeface="DejaVu Sans"/>
                <a:cs typeface="DejaVu Sans"/>
              </a:defRPr>
            </a:lvl4pPr>
            <a:lvl5pPr>
              <a:buNone/>
              <a:defRPr sz="2025" b="0">
                <a:solidFill>
                  <a:srgbClr val="193646"/>
                </a:solidFill>
                <a:latin typeface="DejaVu Sans"/>
                <a:ea typeface="DejaVu Sans"/>
                <a:cs typeface="DejaVu Sans"/>
              </a:defRPr>
            </a:lvl5pPr>
            <a:lvl6pPr>
              <a:buNone/>
              <a:defRPr sz="2025" b="0">
                <a:solidFill>
                  <a:srgbClr val="193646"/>
                </a:solidFill>
                <a:latin typeface="DejaVu Sans"/>
                <a:ea typeface="DejaVu Sans"/>
                <a:cs typeface="DejaVu Sans"/>
              </a:defRPr>
            </a:lvl6pPr>
            <a:lvl7pPr>
              <a:buNone/>
              <a:defRPr sz="2025" b="0">
                <a:solidFill>
                  <a:srgbClr val="193646"/>
                </a:solidFill>
                <a:latin typeface="DejaVu Sans"/>
                <a:ea typeface="DejaVu Sans"/>
                <a:cs typeface="DejaVu Sans"/>
              </a:defRPr>
            </a:lvl7pPr>
            <a:lvl8pPr>
              <a:buNone/>
              <a:defRPr sz="2025" b="0">
                <a:solidFill>
                  <a:srgbClr val="193646"/>
                </a:solidFill>
                <a:latin typeface="DejaVu Sans"/>
                <a:ea typeface="DejaVu Sans"/>
                <a:cs typeface="DejaVu Sans"/>
              </a:defRPr>
            </a:lvl8pPr>
            <a:lvl9pPr>
              <a:buNone/>
              <a:defRPr sz="2025" b="0">
                <a:solidFill>
                  <a:srgbClr val="193646"/>
                </a:solidFill>
                <a:latin typeface="DejaVu Sans"/>
                <a:ea typeface="DejaVu Sans"/>
                <a:cs typeface="DejaVu Sans"/>
              </a:defRPr>
            </a:lvl9pPr>
          </a:lstStyle>
          <a:p xmlns:a="http://schemas.openxmlformats.org/drawingml/2006/main">
            <a:pPr>
              <a:buNone/>
              <a:defRPr sz="2025" b="0">
                <a:solidFill>
                  <a:srgbClr val="193646"/>
                </a:solidFill>
                <a:latin typeface="DejaVu Sans"/>
                <a:ea typeface="DejaVu Sans"/>
                <a:cs typeface="DejaVu Sans"/>
              </a:defRPr>
            </a:pPr>
            <a:r>
              <a:rPr sz="2025" b="0">
                <a:solidFill>
                  <a:srgbClr val="193646"/>
                </a:solidFill>
                <a:latin typeface="DejaVu Sans"/>
                <a:ea typeface="DejaVu Sans"/>
                <a:cs typeface="DejaVu Sans"/>
              </a:rPr>
              <a:t>Connect Flan-T5 and a simple local UI.</a:t>
            </a:r>
          </a:p>
        </p:txBody>
      </p:sp>
      <p:sp>
        <p:nvSpPr>
          <p:cNvPr id="13" name="plan-3">
            <a:extLst xmlns:a="http://schemas.openxmlformats.org/drawingml/2006/main">
              <a:ext uri="{FF2B5EF4-FFF2-40B4-BE49-F238E27FC236}">
                <a16:creationId xmlns:a16="http://schemas.microsoft.com/office/drawing/2014/main" id="{40CCE3EF-C23B-4699-BD24-7013B188651C}"/>
              </a:ext>
            </a:extLst>
          </p:cNvPr>
          <p:cNvSpPr>
            <a:spLocks xmlns:a="http://schemas.openxmlformats.org/drawingml/2006/main" noGrp="1"/>
          </p:cNvSpPr>
          <p:nvPr/>
        </p:nvSpPr>
        <p:spPr>
          <a:xfrm xmlns:a="http://schemas.openxmlformats.org/drawingml/2006/main">
            <a:off x="8286750" y="5934075"/>
            <a:ext cx="6191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1">
                <a:solidFill>
                  <a:srgbClr val="007D78"/>
                </a:solidFill>
                <a:latin typeface="DejaVu Sans"/>
                <a:ea typeface="DejaVu Sans"/>
                <a:cs typeface="DejaVu Sans"/>
              </a:defRPr>
            </a:defPPr>
            <a:lvl1pPr>
              <a:buNone/>
              <a:defRPr sz="2250" b="1">
                <a:solidFill>
                  <a:srgbClr val="007D78"/>
                </a:solidFill>
                <a:latin typeface="DejaVu Sans"/>
                <a:ea typeface="DejaVu Sans"/>
                <a:cs typeface="DejaVu Sans"/>
              </a:defRPr>
            </a:lvl1pPr>
            <a:lvl2pPr>
              <a:buNone/>
              <a:defRPr sz="2250" b="1">
                <a:solidFill>
                  <a:srgbClr val="007D78"/>
                </a:solidFill>
                <a:latin typeface="DejaVu Sans"/>
                <a:ea typeface="DejaVu Sans"/>
                <a:cs typeface="DejaVu Sans"/>
              </a:defRPr>
            </a:lvl2pPr>
            <a:lvl3pPr>
              <a:buNone/>
              <a:defRPr sz="2250" b="1">
                <a:solidFill>
                  <a:srgbClr val="007D78"/>
                </a:solidFill>
                <a:latin typeface="DejaVu Sans"/>
                <a:ea typeface="DejaVu Sans"/>
                <a:cs typeface="DejaVu Sans"/>
              </a:defRPr>
            </a:lvl3pPr>
            <a:lvl4pPr>
              <a:buNone/>
              <a:defRPr sz="2250" b="1">
                <a:solidFill>
                  <a:srgbClr val="007D78"/>
                </a:solidFill>
                <a:latin typeface="DejaVu Sans"/>
                <a:ea typeface="DejaVu Sans"/>
                <a:cs typeface="DejaVu Sans"/>
              </a:defRPr>
            </a:lvl4pPr>
            <a:lvl5pPr>
              <a:buNone/>
              <a:defRPr sz="2250" b="1">
                <a:solidFill>
                  <a:srgbClr val="007D78"/>
                </a:solidFill>
                <a:latin typeface="DejaVu Sans"/>
                <a:ea typeface="DejaVu Sans"/>
                <a:cs typeface="DejaVu Sans"/>
              </a:defRPr>
            </a:lvl5pPr>
            <a:lvl6pPr>
              <a:buNone/>
              <a:defRPr sz="2250" b="1">
                <a:solidFill>
                  <a:srgbClr val="007D78"/>
                </a:solidFill>
                <a:latin typeface="DejaVu Sans"/>
                <a:ea typeface="DejaVu Sans"/>
                <a:cs typeface="DejaVu Sans"/>
              </a:defRPr>
            </a:lvl6pPr>
            <a:lvl7pPr>
              <a:buNone/>
              <a:defRPr sz="2250" b="1">
                <a:solidFill>
                  <a:srgbClr val="007D78"/>
                </a:solidFill>
                <a:latin typeface="DejaVu Sans"/>
                <a:ea typeface="DejaVu Sans"/>
                <a:cs typeface="DejaVu Sans"/>
              </a:defRPr>
            </a:lvl7pPr>
            <a:lvl8pPr>
              <a:buNone/>
              <a:defRPr sz="2250" b="1">
                <a:solidFill>
                  <a:srgbClr val="007D78"/>
                </a:solidFill>
                <a:latin typeface="DejaVu Sans"/>
                <a:ea typeface="DejaVu Sans"/>
                <a:cs typeface="DejaVu Sans"/>
              </a:defRPr>
            </a:lvl8pPr>
            <a:lvl9pPr>
              <a:buNone/>
              <a:defRPr sz="2250" b="1">
                <a:solidFill>
                  <a:srgbClr val="007D78"/>
                </a:solidFill>
                <a:latin typeface="DejaVu Sans"/>
                <a:ea typeface="DejaVu Sans"/>
                <a:cs typeface="DejaVu Sans"/>
              </a:defRPr>
            </a:lvl9pPr>
          </a:lstStyle>
          <a:p xmlns:a="http://schemas.openxmlformats.org/drawingml/2006/main">
            <a:pPr>
              <a:buNone/>
              <a:defRPr sz="2250" b="1">
                <a:solidFill>
                  <a:srgbClr val="007D78"/>
                </a:solidFill>
                <a:latin typeface="DejaVu Sans"/>
                <a:ea typeface="DejaVu Sans"/>
                <a:cs typeface="DejaVu Sans"/>
              </a:defRPr>
            </a:pPr>
            <a:r>
              <a:rPr sz="2250" b="1">
                <a:solidFill>
                  <a:srgbClr val="007D78"/>
                </a:solidFill>
                <a:latin typeface="DejaVu Sans"/>
                <a:ea typeface="DejaVu Sans"/>
                <a:cs typeface="DejaVu Sans"/>
              </a:rPr>
              <a:t>4  Evaluate</a:t>
            </a:r>
          </a:p>
        </p:txBody>
      </p:sp>
      <p:sp>
        <p:nvSpPr>
          <p:cNvPr id="14" name="plan-body-3">
            <a:extLst xmlns:a="http://schemas.openxmlformats.org/drawingml/2006/main">
              <a:ext uri="{FF2B5EF4-FFF2-40B4-BE49-F238E27FC236}">
                <a16:creationId xmlns:a16="http://schemas.microsoft.com/office/drawing/2014/main" id="{00DD19ED-9A0B-41D2-9BC1-899F2CDF5C1A}"/>
              </a:ext>
            </a:extLst>
          </p:cNvPr>
          <p:cNvSpPr>
            <a:spLocks xmlns:a="http://schemas.openxmlformats.org/drawingml/2006/main" noGrp="1"/>
          </p:cNvSpPr>
          <p:nvPr/>
        </p:nvSpPr>
        <p:spPr>
          <a:xfrm xmlns:a="http://schemas.openxmlformats.org/drawingml/2006/main">
            <a:off x="8286750" y="6391275"/>
            <a:ext cx="61912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193646"/>
                </a:solidFill>
                <a:latin typeface="DejaVu Sans"/>
                <a:ea typeface="DejaVu Sans"/>
                <a:cs typeface="DejaVu Sans"/>
              </a:defRPr>
            </a:defPPr>
            <a:lvl1pPr>
              <a:buNone/>
              <a:defRPr sz="2025" b="0">
                <a:solidFill>
                  <a:srgbClr val="193646"/>
                </a:solidFill>
                <a:latin typeface="DejaVu Sans"/>
                <a:ea typeface="DejaVu Sans"/>
                <a:cs typeface="DejaVu Sans"/>
              </a:defRPr>
            </a:lvl1pPr>
            <a:lvl2pPr>
              <a:buNone/>
              <a:defRPr sz="2025" b="0">
                <a:solidFill>
                  <a:srgbClr val="193646"/>
                </a:solidFill>
                <a:latin typeface="DejaVu Sans"/>
                <a:ea typeface="DejaVu Sans"/>
                <a:cs typeface="DejaVu Sans"/>
              </a:defRPr>
            </a:lvl2pPr>
            <a:lvl3pPr>
              <a:buNone/>
              <a:defRPr sz="2025" b="0">
                <a:solidFill>
                  <a:srgbClr val="193646"/>
                </a:solidFill>
                <a:latin typeface="DejaVu Sans"/>
                <a:ea typeface="DejaVu Sans"/>
                <a:cs typeface="DejaVu Sans"/>
              </a:defRPr>
            </a:lvl3pPr>
            <a:lvl4pPr>
              <a:buNone/>
              <a:defRPr sz="2025" b="0">
                <a:solidFill>
                  <a:srgbClr val="193646"/>
                </a:solidFill>
                <a:latin typeface="DejaVu Sans"/>
                <a:ea typeface="DejaVu Sans"/>
                <a:cs typeface="DejaVu Sans"/>
              </a:defRPr>
            </a:lvl4pPr>
            <a:lvl5pPr>
              <a:buNone/>
              <a:defRPr sz="2025" b="0">
                <a:solidFill>
                  <a:srgbClr val="193646"/>
                </a:solidFill>
                <a:latin typeface="DejaVu Sans"/>
                <a:ea typeface="DejaVu Sans"/>
                <a:cs typeface="DejaVu Sans"/>
              </a:defRPr>
            </a:lvl5pPr>
            <a:lvl6pPr>
              <a:buNone/>
              <a:defRPr sz="2025" b="0">
                <a:solidFill>
                  <a:srgbClr val="193646"/>
                </a:solidFill>
                <a:latin typeface="DejaVu Sans"/>
                <a:ea typeface="DejaVu Sans"/>
                <a:cs typeface="DejaVu Sans"/>
              </a:defRPr>
            </a:lvl6pPr>
            <a:lvl7pPr>
              <a:buNone/>
              <a:defRPr sz="2025" b="0">
                <a:solidFill>
                  <a:srgbClr val="193646"/>
                </a:solidFill>
                <a:latin typeface="DejaVu Sans"/>
                <a:ea typeface="DejaVu Sans"/>
                <a:cs typeface="DejaVu Sans"/>
              </a:defRPr>
            </a:lvl7pPr>
            <a:lvl8pPr>
              <a:buNone/>
              <a:defRPr sz="2025" b="0">
                <a:solidFill>
                  <a:srgbClr val="193646"/>
                </a:solidFill>
                <a:latin typeface="DejaVu Sans"/>
                <a:ea typeface="DejaVu Sans"/>
                <a:cs typeface="DejaVu Sans"/>
              </a:defRPr>
            </a:lvl8pPr>
            <a:lvl9pPr>
              <a:buNone/>
              <a:defRPr sz="2025" b="0">
                <a:solidFill>
                  <a:srgbClr val="193646"/>
                </a:solidFill>
                <a:latin typeface="DejaVu Sans"/>
                <a:ea typeface="DejaVu Sans"/>
                <a:cs typeface="DejaVu Sans"/>
              </a:defRPr>
            </a:lvl9pPr>
          </a:lstStyle>
          <a:p xmlns:a="http://schemas.openxmlformats.org/drawingml/2006/main">
            <a:pPr>
              <a:buNone/>
              <a:defRPr sz="2025" b="0">
                <a:solidFill>
                  <a:srgbClr val="193646"/>
                </a:solidFill>
                <a:latin typeface="DejaVu Sans"/>
                <a:ea typeface="DejaVu Sans"/>
                <a:cs typeface="DejaVu Sans"/>
              </a:defRPr>
            </a:pPr>
            <a:r>
              <a:rPr sz="2025" b="0">
                <a:solidFill>
                  <a:srgbClr val="193646"/>
                </a:solidFill>
                <a:latin typeface="DejaVu Sans"/>
                <a:ea typeface="DejaVu Sans"/>
                <a:cs typeface="DejaVu Sans"/>
              </a:rPr>
              <a:t>Compare answers, grounding and speed.</a:t>
            </a:r>
          </a:p>
        </p:txBody>
      </p:sp>
      <p:sp>
        <p:nvSpPr>
          <p:cNvPr id="15" name="context-note">
            <a:extLst xmlns:a="http://schemas.openxmlformats.org/drawingml/2006/main">
              <a:ext uri="{FF2B5EF4-FFF2-40B4-BE49-F238E27FC236}">
                <a16:creationId xmlns:a16="http://schemas.microsoft.com/office/drawing/2014/main" id="{45D6620A-B0F9-467D-8A5E-DD690A152BAF}"/>
              </a:ext>
            </a:extLst>
          </p:cNvPr>
          <p:cNvSpPr>
            <a:spLocks xmlns:a="http://schemas.openxmlformats.org/drawingml/2006/main" noGrp="1"/>
          </p:cNvSpPr>
          <p:nvPr/>
        </p:nvSpPr>
        <p:spPr>
          <a:xfrm xmlns:a="http://schemas.openxmlformats.org/drawingml/2006/main">
            <a:off x="762000" y="7458075"/>
            <a:ext cx="13049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0">
                <a:solidFill>
                  <a:srgbClr val="526975"/>
                </a:solidFill>
                <a:latin typeface="DejaVu Sans"/>
                <a:ea typeface="DejaVu Sans"/>
                <a:cs typeface="DejaVu Sans"/>
              </a:defRPr>
            </a:defPPr>
            <a:lvl1pPr>
              <a:buNone/>
              <a:defRPr sz="1575" b="0">
                <a:solidFill>
                  <a:srgbClr val="526975"/>
                </a:solidFill>
                <a:latin typeface="DejaVu Sans"/>
                <a:ea typeface="DejaVu Sans"/>
                <a:cs typeface="DejaVu Sans"/>
              </a:defRPr>
            </a:lvl1pPr>
            <a:lvl2pPr>
              <a:buNone/>
              <a:defRPr sz="1575" b="0">
                <a:solidFill>
                  <a:srgbClr val="526975"/>
                </a:solidFill>
                <a:latin typeface="DejaVu Sans"/>
                <a:ea typeface="DejaVu Sans"/>
                <a:cs typeface="DejaVu Sans"/>
              </a:defRPr>
            </a:lvl2pPr>
            <a:lvl3pPr>
              <a:buNone/>
              <a:defRPr sz="1575" b="0">
                <a:solidFill>
                  <a:srgbClr val="526975"/>
                </a:solidFill>
                <a:latin typeface="DejaVu Sans"/>
                <a:ea typeface="DejaVu Sans"/>
                <a:cs typeface="DejaVu Sans"/>
              </a:defRPr>
            </a:lvl3pPr>
            <a:lvl4pPr>
              <a:buNone/>
              <a:defRPr sz="1575" b="0">
                <a:solidFill>
                  <a:srgbClr val="526975"/>
                </a:solidFill>
                <a:latin typeface="DejaVu Sans"/>
                <a:ea typeface="DejaVu Sans"/>
                <a:cs typeface="DejaVu Sans"/>
              </a:defRPr>
            </a:lvl4pPr>
            <a:lvl5pPr>
              <a:buNone/>
              <a:defRPr sz="1575" b="0">
                <a:solidFill>
                  <a:srgbClr val="526975"/>
                </a:solidFill>
                <a:latin typeface="DejaVu Sans"/>
                <a:ea typeface="DejaVu Sans"/>
                <a:cs typeface="DejaVu Sans"/>
              </a:defRPr>
            </a:lvl5pPr>
            <a:lvl6pPr>
              <a:buNone/>
              <a:defRPr sz="1575" b="0">
                <a:solidFill>
                  <a:srgbClr val="526975"/>
                </a:solidFill>
                <a:latin typeface="DejaVu Sans"/>
                <a:ea typeface="DejaVu Sans"/>
                <a:cs typeface="DejaVu Sans"/>
              </a:defRPr>
            </a:lvl6pPr>
            <a:lvl7pPr>
              <a:buNone/>
              <a:defRPr sz="1575" b="0">
                <a:solidFill>
                  <a:srgbClr val="526975"/>
                </a:solidFill>
                <a:latin typeface="DejaVu Sans"/>
                <a:ea typeface="DejaVu Sans"/>
                <a:cs typeface="DejaVu Sans"/>
              </a:defRPr>
            </a:lvl7pPr>
            <a:lvl8pPr>
              <a:buNone/>
              <a:defRPr sz="1575" b="0">
                <a:solidFill>
                  <a:srgbClr val="526975"/>
                </a:solidFill>
                <a:latin typeface="DejaVu Sans"/>
                <a:ea typeface="DejaVu Sans"/>
                <a:cs typeface="DejaVu Sans"/>
              </a:defRPr>
            </a:lvl8pPr>
            <a:lvl9pPr>
              <a:buNone/>
              <a:defRPr sz="1575" b="0">
                <a:solidFill>
                  <a:srgbClr val="526975"/>
                </a:solidFill>
                <a:latin typeface="DejaVu Sans"/>
                <a:ea typeface="DejaVu Sans"/>
                <a:cs typeface="DejaVu Sans"/>
              </a:defRPr>
            </a:lvl9pPr>
          </a:lstStyle>
          <a:p xmlns:a="http://schemas.openxmlformats.org/drawingml/2006/main">
            <a:pPr>
              <a:buNone/>
              <a:defRPr sz="1575" b="0">
                <a:solidFill>
                  <a:srgbClr val="526975"/>
                </a:solidFill>
                <a:latin typeface="DejaVu Sans"/>
                <a:ea typeface="DejaVu Sans"/>
                <a:cs typeface="DejaVu Sans"/>
              </a:defRPr>
            </a:pPr>
            <a:r>
              <a:rPr sz="1575" b="0">
                <a:solidFill>
                  <a:srgbClr val="526975"/>
                </a:solidFill>
                <a:latin typeface="DejaVu Sans"/>
                <a:ea typeface="DejaVu Sans"/>
                <a:cs typeface="DejaVu Sans"/>
              </a:rPr>
              <a:t>A small prototype with frozen models. The added gold set and metrics strengthen verification without adding training.</a:t>
            </a:r>
          </a:p>
        </p:txBody>
      </p:sp>
    </p:spTree>
    <p:extLst>
      <p:ext uri="{BB962C8B-B14F-4D97-AF65-F5344CB8AC3E}">
        <p14:creationId xmlns:p14="http://schemas.microsoft.com/office/powerpoint/2010/main" val="6298970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2026-10-25T10:42:25.2330000Z</dcterms:created>
  <dcterms:modified xsi:type="dcterms:W3CDTF">2026-10-25T10:42:25.2330000Z</dcterms:modified>
</coreProperties>
</file>